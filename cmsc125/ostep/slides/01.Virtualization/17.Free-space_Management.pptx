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1"/>
  </p:notesMasterIdLst>
  <p:sldIdLst>
    <p:sldId id="298" r:id="rId2"/>
    <p:sldId id="297" r:id="rId3"/>
    <p:sldId id="299" r:id="rId4"/>
    <p:sldId id="270" r:id="rId5"/>
    <p:sldId id="300" r:id="rId6"/>
    <p:sldId id="301" r:id="rId7"/>
    <p:sldId id="302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841" autoAdjust="0"/>
  </p:normalViewPr>
  <p:slideViewPr>
    <p:cSldViewPr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85751" y="880070"/>
            <a:ext cx="11715749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189326" y="2906713"/>
            <a:ext cx="10763325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OSwald" pitchFamily="2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dirty="0"/>
              <a:t>Chapter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55564"/>
            <a:ext cx="11715749" cy="5857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1" y="1000125"/>
            <a:ext cx="11715749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effectLst/>
          <a:latin typeface="Oswald" pitchFamily="2" charset="0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Oswald" pitchFamily="2" charset="0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Oswald" pitchFamily="2" charset="0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Oswald" pitchFamily="2" charset="0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chermocilla.org/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jchermocilla@up.edu.ph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OSTEP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ges.cs.wisc.edu/~remzi/OSTEP/Educators-Slides/Youjip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CA9A-319F-4C46-A9C0-D84A8DA9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CMSC 125: Operating Systems</a:t>
            </a:r>
            <a:endParaRPr lang="en-P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64F4-F3D4-4117-A3DF-16362E57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Instructor: </a:t>
            </a:r>
            <a:r>
              <a:rPr lang="en-US" sz="2800" b="1" dirty="0"/>
              <a:t>Joseph Anthony C. Hermocilla </a:t>
            </a:r>
          </a:p>
          <a:p>
            <a:r>
              <a:rPr lang="en-US" sz="2800" dirty="0"/>
              <a:t>Email: </a:t>
            </a:r>
            <a:r>
              <a:rPr lang="en-US" sz="2800" dirty="0">
                <a:hlinkClick r:id="rId2"/>
              </a:rPr>
              <a:t>jchermocilla@up.edu.ph</a:t>
            </a:r>
            <a:r>
              <a:rPr lang="en-US" sz="2800" dirty="0"/>
              <a:t> </a:t>
            </a:r>
          </a:p>
          <a:p>
            <a:r>
              <a:rPr lang="en-US" sz="2800" dirty="0"/>
              <a:t>Web: </a:t>
            </a:r>
            <a:r>
              <a:rPr lang="en-US" sz="2800" dirty="0">
                <a:hlinkClick r:id="rId3"/>
              </a:rPr>
              <a:t>https://jachermocilla.org</a:t>
            </a:r>
            <a:r>
              <a:rPr lang="en-US" sz="2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AAA8C-FD26-46BA-8AAE-E0C0ACBC6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254" y="5577621"/>
            <a:ext cx="1461313" cy="1256729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938BB10-89AB-4993-BA48-F6DB29DA81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t="7505" r="6677" b="7505"/>
          <a:stretch/>
        </p:blipFill>
        <p:spPr>
          <a:xfrm>
            <a:off x="8210912" y="5592848"/>
            <a:ext cx="1325513" cy="1284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DE5F5-BDB3-4730-89D0-6BE9FEAA38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627" y="5577621"/>
            <a:ext cx="1284734" cy="1284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6C3E08-E0B2-48DF-AB25-861C963E92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735" y="5500355"/>
            <a:ext cx="1377227" cy="13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4408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F3D9-6ADE-4AFF-A511-57621CDA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P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79F75-8F26-4C11-A534-9A1255EB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648922"/>
            <a:ext cx="2523744" cy="39502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7945D-1D61-49F3-AC44-2F69D0840525}"/>
              </a:ext>
            </a:extLst>
          </p:cNvPr>
          <p:cNvSpPr txBox="1"/>
          <p:nvPr/>
        </p:nvSpPr>
        <p:spPr>
          <a:xfrm>
            <a:off x="190501" y="2708920"/>
            <a:ext cx="85697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>
                <a:latin typeface="Oswald" pitchFamily="2" charset="0"/>
              </a:rPr>
              <a:t>Book: </a:t>
            </a:r>
            <a:r>
              <a:rPr lang="en-PH" sz="2400" dirty="0">
                <a:latin typeface="Oswald" pitchFamily="2" charset="0"/>
                <a:hlinkClick r:id="rId3"/>
              </a:rPr>
              <a:t>https://pages.cs.wisc.edu/~remzi/OSTEP/</a:t>
            </a:r>
            <a:endParaRPr lang="en-PH" sz="2400" dirty="0">
              <a:latin typeface="Oswald" pitchFamily="2" charset="0"/>
            </a:endParaRPr>
          </a:p>
          <a:p>
            <a:endParaRPr lang="en-PH" sz="2400" dirty="0">
              <a:latin typeface="Oswald" pitchFamily="2" charset="0"/>
            </a:endParaRPr>
          </a:p>
          <a:p>
            <a:r>
              <a:rPr lang="en-PH" sz="2400" dirty="0">
                <a:latin typeface="Oswald" pitchFamily="2" charset="0"/>
              </a:rPr>
              <a:t>Slides Template: </a:t>
            </a:r>
          </a:p>
          <a:p>
            <a:r>
              <a:rPr lang="en-PH" sz="2400" dirty="0">
                <a:latin typeface="Oswald" pitchFamily="2" charset="0"/>
                <a:hlinkClick r:id="rId4"/>
              </a:rPr>
              <a:t>https://pages.cs.wisc.edu/~remzi/OSTEP/Educators-Slides/Youjip/</a:t>
            </a:r>
            <a:r>
              <a:rPr lang="en-PH" sz="2400" b="1" dirty="0">
                <a:latin typeface="Oswald" pitchFamily="2" charset="0"/>
              </a:rPr>
              <a:t> </a:t>
            </a:r>
            <a:endParaRPr lang="en-PH" sz="2400" dirty="0"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93843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Acknowledgement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2636912"/>
            <a:ext cx="8786812" cy="1368152"/>
          </a:xfrm>
        </p:spPr>
        <p:txBody>
          <a:bodyPr/>
          <a:lstStyle/>
          <a:p>
            <a:r>
              <a:rPr lang="en-US" altLang="ko-KR" sz="1600" dirty="0"/>
              <a:t>This lecture slide set was initially developed for Operating System course in Computer Science Dept. at </a:t>
            </a:r>
            <a:r>
              <a:rPr lang="en-US" altLang="ko-KR" sz="1600" dirty="0" err="1"/>
              <a:t>Hanyang</a:t>
            </a:r>
            <a:r>
              <a:rPr lang="en-US" altLang="ko-KR" sz="1600" dirty="0"/>
              <a:t> University. This lecture slide set is for OSTEP book written by </a:t>
            </a:r>
            <a:r>
              <a:rPr lang="en-US" altLang="ko-KR" sz="1600" dirty="0" err="1"/>
              <a:t>Remzi</a:t>
            </a:r>
            <a:r>
              <a:rPr lang="en-US" altLang="ko-KR" sz="1600" dirty="0"/>
              <a:t> and Andrea at University of Wisconsin.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5867895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17. Free-Space Management</a:t>
            </a:r>
          </a:p>
          <a:p>
            <a:pPr lvl="0"/>
            <a:r>
              <a:rPr lang="en-US" altLang="ko-KR" sz="1600" dirty="0">
                <a:solidFill>
                  <a:srgbClr val="1F497D">
                    <a:lumMod val="50000"/>
                  </a:srgbClr>
                </a:solidFill>
              </a:rPr>
              <a:t>Operating System: Three Easy Pieces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60404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31C4CA-54F3-40DB-9E33-9140B83C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Free-Space Management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09010-98FD-4E23-9A30-ACCE6700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space must be managed to avoid fragmentation</a:t>
            </a:r>
          </a:p>
          <a:p>
            <a:r>
              <a:rPr lang="en-US" dirty="0"/>
              <a:t>Easy if free space are in fixed-sizes (if using Paging)</a:t>
            </a:r>
          </a:p>
          <a:p>
            <a:r>
              <a:rPr lang="en-US" dirty="0"/>
              <a:t>Hard when free space are in variable sizes (if using Segmentation for example)</a:t>
            </a:r>
          </a:p>
          <a:p>
            <a:pPr lvl="1"/>
            <a:r>
              <a:rPr lang="en-US" dirty="0"/>
              <a:t>Segmentation suffers from external fragmentation</a:t>
            </a:r>
          </a:p>
          <a:p>
            <a:pPr lvl="1"/>
            <a:r>
              <a:rPr lang="en-US" dirty="0"/>
              <a:t>Consider requesting 15 bytes given the configuration below. Can this request be satisfied?</a:t>
            </a:r>
            <a:endParaRPr lang="en-PH" dirty="0"/>
          </a:p>
        </p:txBody>
      </p:sp>
      <p:grpSp>
        <p:nvGrpSpPr>
          <p:cNvPr id="7" name="그룹 41">
            <a:extLst>
              <a:ext uri="{FF2B5EF4-FFF2-40B4-BE49-F238E27FC236}">
                <a16:creationId xmlns:a16="http://schemas.microsoft.com/office/drawing/2014/main" id="{450C2C81-BBDD-431E-8AE1-671D46733E28}"/>
              </a:ext>
            </a:extLst>
          </p:cNvPr>
          <p:cNvGrpSpPr/>
          <p:nvPr/>
        </p:nvGrpSpPr>
        <p:grpSpPr>
          <a:xfrm>
            <a:off x="4079776" y="3861048"/>
            <a:ext cx="3168352" cy="529317"/>
            <a:chOff x="2375756" y="3043699"/>
            <a:chExt cx="3168352" cy="529317"/>
          </a:xfrm>
        </p:grpSpPr>
        <p:sp>
          <p:nvSpPr>
            <p:cNvPr id="8" name="직사각형 5">
              <a:extLst>
                <a:ext uri="{FF2B5EF4-FFF2-40B4-BE49-F238E27FC236}">
                  <a16:creationId xmlns:a16="http://schemas.microsoft.com/office/drawing/2014/main" id="{901DB1FD-6ED6-4B79-B855-F47FDB952871}"/>
                </a:ext>
              </a:extLst>
            </p:cNvPr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6">
              <a:extLst>
                <a:ext uri="{FF2B5EF4-FFF2-40B4-BE49-F238E27FC236}">
                  <a16:creationId xmlns:a16="http://schemas.microsoft.com/office/drawing/2014/main" id="{AD4EC8B4-2251-41DD-984A-E67D55DBC34A}"/>
                </a:ext>
              </a:extLst>
            </p:cNvPr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7">
              <a:extLst>
                <a:ext uri="{FF2B5EF4-FFF2-40B4-BE49-F238E27FC236}">
                  <a16:creationId xmlns:a16="http://schemas.microsoft.com/office/drawing/2014/main" id="{30846BCE-4BAE-4245-BE62-CB2AF309459A}"/>
                </a:ext>
              </a:extLst>
            </p:cNvPr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E92496-6DA8-4016-9B55-E11C8546A726}"/>
                </a:ext>
              </a:extLst>
            </p:cNvPr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3019F7-329F-4F38-8447-34BF16B481B6}"/>
                </a:ext>
              </a:extLst>
            </p:cNvPr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546944-1DA4-4A9C-8D3E-20DA81512FAC}"/>
                </a:ext>
              </a:extLst>
            </p:cNvPr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A8A2C7-1A01-4AAE-A882-B83E0419BB6B}"/>
                </a:ext>
              </a:extLst>
            </p:cNvPr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226240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D72541-6B50-47F5-8F37-89154F4F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5060E-A666-4171-9799-4F0AB0F58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Focus is on user-level memory-allocation libraries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Interface follows malloc() and free()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*malloc(size t size)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free(void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We focus on solving external fragmentation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Once memory from free list is allocated to a requester/client, it cannot be relocated to another location</a:t>
            </a:r>
          </a:p>
          <a:p>
            <a:pPr marL="857250" lvl="1" indent="-457200"/>
            <a:r>
              <a:rPr lang="en-US" dirty="0">
                <a:cs typeface="Courier New" panose="02070309020205020404" pitchFamily="49" charset="0"/>
              </a:rPr>
              <a:t>No compaction of memory in free space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The memory being managed by the allocator is of fixed size and contiguous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2440072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B5E3D0-42A0-4778-9A00-92AC3D63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Low-level Mechanisms</a:t>
            </a:r>
            <a:endParaRPr lang="en-PH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24085B-FE9C-4AAD-9425-EA4B4A1DA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Splitting and Coalescing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Tracking the size of allocated regions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Building a simple list inside the free space to keep track free space</a:t>
            </a:r>
          </a:p>
        </p:txBody>
      </p:sp>
    </p:spTree>
    <p:extLst>
      <p:ext uri="{BB962C8B-B14F-4D97-AF65-F5344CB8AC3E}">
        <p14:creationId xmlns:p14="http://schemas.microsoft.com/office/powerpoint/2010/main" val="143461321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Splitting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Finding a free chunk of memory that can satisfy the request and splitting it into two</a:t>
            </a:r>
          </a:p>
          <a:p>
            <a:pPr lvl="1"/>
            <a:r>
              <a:rPr lang="en-US" altLang="ko-KR" dirty="0"/>
              <a:t>When request for memory allocation is </a:t>
            </a:r>
            <a:r>
              <a:rPr lang="en-US" altLang="ko-KR" b="1" dirty="0"/>
              <a:t>smaller</a:t>
            </a:r>
            <a:r>
              <a:rPr lang="en-US" altLang="ko-KR" dirty="0"/>
              <a:t> than the size of free chunks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4563213" y="3454296"/>
            <a:ext cx="3168352" cy="529317"/>
            <a:chOff x="2375756" y="3043699"/>
            <a:chExt cx="3168352" cy="529317"/>
          </a:xfrm>
        </p:grpSpPr>
        <p:sp>
          <p:nvSpPr>
            <p:cNvPr id="6" name="직사각형 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3983680" y="4293096"/>
            <a:ext cx="4992640" cy="1008113"/>
            <a:chOff x="1811608" y="3645023"/>
            <a:chExt cx="4992640" cy="1008113"/>
          </a:xfrm>
        </p:grpSpPr>
        <p:sp>
          <p:nvSpPr>
            <p:cNvPr id="15" name="TextBox 1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4" name="직선 화살표 연결선 23"/>
            <p:cNvCxnSpPr>
              <a:stCxn id="18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3044107" y="3421049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106" y="4639948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157261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Splitting(Cont.)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10-bytes free segment with </a:t>
            </a:r>
            <a:r>
              <a:rPr lang="en-US" altLang="ko-KR" b="1" dirty="0"/>
              <a:t>1-byte request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42" name="그룹 41"/>
          <p:cNvGrpSpPr/>
          <p:nvPr/>
        </p:nvGrpSpPr>
        <p:grpSpPr>
          <a:xfrm>
            <a:off x="4348024" y="1590040"/>
            <a:ext cx="3168352" cy="529317"/>
            <a:chOff x="2375756" y="3043699"/>
            <a:chExt cx="3168352" cy="529317"/>
          </a:xfrm>
        </p:grpSpPr>
        <p:sp>
          <p:nvSpPr>
            <p:cNvPr id="6" name="직사각형 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3768491" y="2204864"/>
            <a:ext cx="4992640" cy="1008113"/>
            <a:chOff x="1811608" y="3645023"/>
            <a:chExt cx="4992640" cy="1008113"/>
          </a:xfrm>
        </p:grpSpPr>
        <p:sp>
          <p:nvSpPr>
            <p:cNvPr id="15" name="TextBox 1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4" name="직선 화살표 연결선 23"/>
            <p:cNvCxnSpPr>
              <a:stCxn id="18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2828918" y="1556793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28917" y="2551716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419841" y="4470360"/>
            <a:ext cx="3168352" cy="529317"/>
            <a:chOff x="2375756" y="3043699"/>
            <a:chExt cx="3168352" cy="529317"/>
          </a:xfrm>
        </p:grpSpPr>
        <p:sp>
          <p:nvSpPr>
            <p:cNvPr id="26" name="직사각형 2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680012" y="3043699"/>
              <a:ext cx="684076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178198" y="3265239"/>
              <a:ext cx="71109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20  21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3840308" y="5085184"/>
            <a:ext cx="4992640" cy="1008113"/>
            <a:chOff x="1811608" y="3645023"/>
            <a:chExt cx="4992640" cy="1008113"/>
          </a:xfrm>
        </p:grpSpPr>
        <p:sp>
          <p:nvSpPr>
            <p:cNvPr id="34" name="TextBox 33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spc="-100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addr:21</a:t>
              </a:r>
            </a:p>
            <a:p>
              <a:pPr algn="ctr"/>
              <a:r>
                <a:rPr lang="en-US" altLang="ko-KR" sz="140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len:9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3" name="직선 화살표 연결선 42"/>
            <p:cNvCxnSpPr>
              <a:stCxn id="37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2900735" y="4437113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00734" y="5432036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472069" y="4470358"/>
            <a:ext cx="252028" cy="2412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모서리가 둥근 직사각형 50"/>
              <p:cNvSpPr/>
              <p:nvPr/>
            </p:nvSpPr>
            <p:spPr>
              <a:xfrm>
                <a:off x="4480417" y="3507716"/>
                <a:ext cx="3677093" cy="45986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𝒔𝒑𝒍𝒊𝒕𝒕𝒊𝒏𝒈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𝟏𝟎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−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𝒃𝒚𝒕𝒆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𝒇𝒓𝒆𝒆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𝒔𝒆𝒈𝒎𝒆𝒏𝒕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6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51" name="모서리가 둥근 직사각형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417" y="3507716"/>
                <a:ext cx="3677093" cy="459862"/>
              </a:xfrm>
              <a:prstGeom prst="roundRect">
                <a:avLst>
                  <a:gd name="adj" fmla="val 1458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 13"/>
          <p:cNvCxnSpPr>
            <a:stCxn id="51" idx="3"/>
          </p:cNvCxnSpPr>
          <p:nvPr/>
        </p:nvCxnSpPr>
        <p:spPr>
          <a:xfrm>
            <a:off x="8157510" y="3737647"/>
            <a:ext cx="1538891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endCxn id="51" idx="1"/>
          </p:cNvCxnSpPr>
          <p:nvPr/>
        </p:nvCxnSpPr>
        <p:spPr>
          <a:xfrm>
            <a:off x="2916022" y="3737647"/>
            <a:ext cx="156439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58668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Coalescing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 user requests memory that is </a:t>
            </a:r>
            <a:r>
              <a:rPr lang="en-US" altLang="ko-KR" b="1" dirty="0"/>
              <a:t>bigger than free chunk size</a:t>
            </a:r>
            <a:r>
              <a:rPr lang="en-US" altLang="ko-KR" dirty="0"/>
              <a:t>, the list will </a:t>
            </a:r>
            <a:r>
              <a:rPr lang="en-US" altLang="ko-KR" b="1" dirty="0"/>
              <a:t>not find </a:t>
            </a:r>
            <a:r>
              <a:rPr lang="en-US" altLang="ko-KR" dirty="0"/>
              <a:t>such a free chunk</a:t>
            </a:r>
          </a:p>
          <a:p>
            <a:r>
              <a:rPr lang="en-US" altLang="ko-KR" dirty="0"/>
              <a:t>Coalescing: Merging a free chunk with existing chunks into a large single free chunk if </a:t>
            </a:r>
            <a:r>
              <a:rPr lang="en-US" altLang="ko-KR" b="1" dirty="0"/>
              <a:t>addresses</a:t>
            </a:r>
            <a:r>
              <a:rPr lang="en-US" altLang="ko-KR" dirty="0"/>
              <a:t> of them are </a:t>
            </a:r>
            <a:r>
              <a:rPr lang="en-US" altLang="ko-KR" b="1" dirty="0"/>
              <a:t>nearby</a:t>
            </a:r>
            <a:endParaRPr lang="ko-KR" altLang="en-US" dirty="0"/>
          </a:p>
        </p:txBody>
      </p:sp>
      <p:grpSp>
        <p:nvGrpSpPr>
          <p:cNvPr id="53" name="그룹 52"/>
          <p:cNvGrpSpPr/>
          <p:nvPr/>
        </p:nvGrpSpPr>
        <p:grpSpPr>
          <a:xfrm>
            <a:off x="2719929" y="3067078"/>
            <a:ext cx="6498722" cy="1009994"/>
            <a:chOff x="1961710" y="4725144"/>
            <a:chExt cx="6498722" cy="1009994"/>
          </a:xfrm>
        </p:grpSpPr>
        <p:sp>
          <p:nvSpPr>
            <p:cNvPr id="43" name="TextBox 42"/>
            <p:cNvSpPr txBox="1"/>
            <p:nvPr/>
          </p:nvSpPr>
          <p:spPr>
            <a:xfrm>
              <a:off x="1961710" y="508250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40352" y="5075312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4680012" y="472514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6210182" y="4725145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7" name="직선 화살표 연결선 46"/>
            <p:cNvCxnSpPr>
              <a:stCxn id="46" idx="6"/>
            </p:cNvCxnSpPr>
            <p:nvPr/>
          </p:nvCxnSpPr>
          <p:spPr>
            <a:xfrm>
              <a:off x="7249798" y="522920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5719628" y="522920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/>
            <p:nvPr/>
          </p:nvCxnSpPr>
          <p:spPr>
            <a:xfrm>
              <a:off x="2681790" y="523639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타원 50"/>
            <p:cNvSpPr/>
            <p:nvPr/>
          </p:nvSpPr>
          <p:spPr>
            <a:xfrm>
              <a:off x="3172344" y="4727026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5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addr:10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2" name="직선 화살표 연결선 51"/>
            <p:cNvCxnSpPr/>
            <p:nvPr/>
          </p:nvCxnSpPr>
          <p:spPr>
            <a:xfrm>
              <a:off x="4200709" y="5231082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/>
          <p:cNvGrpSpPr/>
          <p:nvPr/>
        </p:nvGrpSpPr>
        <p:grpSpPr>
          <a:xfrm>
            <a:off x="2720420" y="5013177"/>
            <a:ext cx="3462470" cy="1008112"/>
            <a:chOff x="1811608" y="3645023"/>
            <a:chExt cx="3462470" cy="1008112"/>
          </a:xfrm>
        </p:grpSpPr>
        <p:sp>
          <p:nvSpPr>
            <p:cNvPr id="55" name="TextBox 5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553998" y="3995190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len:30</a:t>
              </a:r>
              <a:endParaRPr lang="ko-KR" altLang="en-US" sz="1400" b="1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9" name="직선 화살표 연결선 58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모서리가 둥근 직사각형 23"/>
              <p:cNvSpPr/>
              <p:nvPr/>
            </p:nvSpPr>
            <p:spPr>
              <a:xfrm>
                <a:off x="4004208" y="4293096"/>
                <a:ext cx="3677093" cy="45986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𝒄𝒐𝒂𝒍𝒆𝒔𝒄𝒊𝒏𝒈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𝒇𝒓𝒆𝒆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𝒄𝒉𝒖𝒏𝒌𝒔</m:t>
                      </m:r>
                    </m:oMath>
                  </m:oMathPara>
                </a14:m>
                <a:endParaRPr lang="en-US" altLang="ko-KR" sz="16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4" name="모서리가 둥근 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208" y="4293096"/>
                <a:ext cx="3677093" cy="459862"/>
              </a:xfrm>
              <a:prstGeom prst="roundRect">
                <a:avLst>
                  <a:gd name="adj" fmla="val 1458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연결선 24"/>
          <p:cNvCxnSpPr>
            <a:stCxn id="24" idx="3"/>
          </p:cNvCxnSpPr>
          <p:nvPr/>
        </p:nvCxnSpPr>
        <p:spPr>
          <a:xfrm>
            <a:off x="7681301" y="4523027"/>
            <a:ext cx="1538891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endCxn id="24" idx="1"/>
          </p:cNvCxnSpPr>
          <p:nvPr/>
        </p:nvCxnSpPr>
        <p:spPr>
          <a:xfrm>
            <a:off x="2439813" y="4523027"/>
            <a:ext cx="156439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74603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Tracking The Size of Allocated Regions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 w="19050"/>
        </p:spPr>
        <p:txBody>
          <a:bodyPr/>
          <a:lstStyle/>
          <a:p>
            <a:r>
              <a:rPr lang="en-US" altLang="ko-KR" dirty="0"/>
              <a:t>The interface to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free(void *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ko-KR" dirty="0"/>
              <a:t> does </a:t>
            </a:r>
            <a:r>
              <a:rPr lang="en-US" altLang="ko-KR" b="1" dirty="0"/>
              <a:t>not take</a:t>
            </a:r>
            <a:r>
              <a:rPr lang="en-US" altLang="ko-KR" dirty="0"/>
              <a:t> a </a:t>
            </a:r>
            <a:r>
              <a:rPr lang="en-US" altLang="ko-KR" b="1" dirty="0"/>
              <a:t>size parameter</a:t>
            </a:r>
            <a:endParaRPr lang="en-US" altLang="ko-KR" dirty="0"/>
          </a:p>
          <a:p>
            <a:pPr lvl="1"/>
            <a:r>
              <a:rPr lang="en-US" altLang="ko-KR" dirty="0"/>
              <a:t>How does the library </a:t>
            </a:r>
            <a:r>
              <a:rPr lang="en-US" altLang="ko-KR" b="1" dirty="0"/>
              <a:t>know</a:t>
            </a:r>
            <a:r>
              <a:rPr lang="en-US" altLang="ko-KR" dirty="0"/>
              <a:t> </a:t>
            </a:r>
            <a:r>
              <a:rPr lang="en-US" altLang="ko-KR" b="1" dirty="0"/>
              <a:t>the size</a:t>
            </a:r>
            <a:r>
              <a:rPr lang="en-US" altLang="ko-KR" dirty="0"/>
              <a:t> of memory region that will be back </a:t>
            </a:r>
            <a:r>
              <a:rPr lang="en-US" altLang="ko-KR" b="1" dirty="0"/>
              <a:t>into free list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Most allocators store </a:t>
            </a:r>
            <a:r>
              <a:rPr lang="en-US" altLang="ko-KR" b="1" dirty="0"/>
              <a:t>extra information</a:t>
            </a:r>
            <a:r>
              <a:rPr lang="en-US" altLang="ko-KR" dirty="0"/>
              <a:t> in a </a:t>
            </a:r>
            <a:r>
              <a:rPr lang="en-US" altLang="ko-KR" b="1" dirty="0"/>
              <a:t>header</a:t>
            </a:r>
            <a:r>
              <a:rPr lang="en-US" altLang="ko-KR" dirty="0"/>
              <a:t> </a:t>
            </a:r>
            <a:r>
              <a:rPr lang="en-US" altLang="ko-KR" b="1" dirty="0"/>
              <a:t>block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42" name="그룹 41"/>
          <p:cNvGrpSpPr/>
          <p:nvPr/>
        </p:nvGrpSpPr>
        <p:grpSpPr>
          <a:xfrm>
            <a:off x="2855642" y="4141311"/>
            <a:ext cx="6408711" cy="1721957"/>
            <a:chOff x="971600" y="1268761"/>
            <a:chExt cx="6408711" cy="1721957"/>
          </a:xfrm>
        </p:grpSpPr>
        <p:sp>
          <p:nvSpPr>
            <p:cNvPr id="6" name="직사각형 5"/>
            <p:cNvSpPr/>
            <p:nvPr/>
          </p:nvSpPr>
          <p:spPr>
            <a:xfrm>
              <a:off x="2281247" y="1268761"/>
              <a:ext cx="1498666" cy="7259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281247" y="1994699"/>
              <a:ext cx="1498666" cy="9960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856442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ptr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>
              <a:off x="1691680" y="201033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3860475" y="1284579"/>
              <a:ext cx="200417" cy="656259"/>
              <a:chOff x="3860475" y="1284579"/>
              <a:chExt cx="200417" cy="656259"/>
            </a:xfrm>
          </p:grpSpPr>
          <p:sp>
            <p:nvSpPr>
              <p:cNvPr id="10" name="왼쪽 대괄호 9"/>
              <p:cNvSpPr/>
              <p:nvPr/>
            </p:nvSpPr>
            <p:spPr>
              <a:xfrm flipH="1">
                <a:off x="3860475" y="1284579"/>
                <a:ext cx="96242" cy="656259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>
                <a:stCxn id="10" idx="1"/>
              </p:cNvCxnSpPr>
              <p:nvPr/>
            </p:nvCxnSpPr>
            <p:spPr>
              <a:xfrm flipV="1">
                <a:off x="3956717" y="1612707"/>
                <a:ext cx="104175" cy="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>
              <a:off x="4165738" y="1458819"/>
              <a:ext cx="3214573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header used by </a:t>
              </a:r>
              <a:r>
                <a:rPr lang="en-US" altLang="ko-KR" sz="1400" dirty="0" err="1">
                  <a:latin typeface="Courier New" pitchFamily="49" charset="0"/>
                  <a:ea typeface="맑은 고딕" panose="020B0503020000020004" pitchFamily="50" charset="-127"/>
                  <a:cs typeface="Courier New" pitchFamily="49" charset="0"/>
                </a:rPr>
                <a:t>malloc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library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739" y="2338819"/>
              <a:ext cx="274579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20 bytes returned to caller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3860475" y="2009559"/>
              <a:ext cx="200417" cy="966298"/>
              <a:chOff x="3860475" y="2009559"/>
              <a:chExt cx="200417" cy="966298"/>
            </a:xfrm>
          </p:grpSpPr>
          <p:sp>
            <p:nvSpPr>
              <p:cNvPr id="11" name="왼쪽 대괄호 10"/>
              <p:cNvSpPr/>
              <p:nvPr/>
            </p:nvSpPr>
            <p:spPr>
              <a:xfrm flipH="1">
                <a:off x="3860475" y="2009559"/>
                <a:ext cx="96242" cy="966298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" name="직선 연결선 38"/>
              <p:cNvCxnSpPr>
                <a:stCxn id="11" idx="1"/>
              </p:cNvCxnSpPr>
              <p:nvPr/>
            </p:nvCxnSpPr>
            <p:spPr>
              <a:xfrm flipV="1">
                <a:off x="3956717" y="2492707"/>
                <a:ext cx="104175" cy="1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3534262" y="5929536"/>
            <a:ext cx="318516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An Allocated Region Plus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55641" y="3429001"/>
            <a:ext cx="2510422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ctr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(20);</a:t>
            </a:r>
          </a:p>
          <a:p>
            <a:pPr algn="ctr"/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790804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The Header of Allocated Memory Chunk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 w="19050"/>
        </p:spPr>
        <p:txBody>
          <a:bodyPr/>
          <a:lstStyle/>
          <a:p>
            <a:r>
              <a:rPr lang="en-US" altLang="ko-KR" dirty="0"/>
              <a:t>The header minimally </a:t>
            </a:r>
            <a:r>
              <a:rPr lang="en-US" altLang="ko-KR" b="1" dirty="0"/>
              <a:t>contains</a:t>
            </a:r>
            <a:r>
              <a:rPr lang="en-US" altLang="ko-KR" dirty="0"/>
              <a:t> </a:t>
            </a:r>
            <a:r>
              <a:rPr lang="en-US" altLang="ko-KR" b="1" dirty="0"/>
              <a:t>the size</a:t>
            </a:r>
            <a:r>
              <a:rPr lang="en-US" altLang="ko-KR" dirty="0"/>
              <a:t> of the allocated memory region</a:t>
            </a:r>
          </a:p>
          <a:p>
            <a:r>
              <a:rPr lang="en-US" altLang="ko-KR" dirty="0"/>
              <a:t>The header may also contain</a:t>
            </a:r>
          </a:p>
          <a:p>
            <a:pPr lvl="1"/>
            <a:r>
              <a:rPr lang="en-US" altLang="ko-KR" dirty="0"/>
              <a:t>Additional pointers to speed up de-allocation</a:t>
            </a:r>
          </a:p>
          <a:p>
            <a:pPr lvl="1"/>
            <a:r>
              <a:rPr lang="en-US" altLang="ko-KR" dirty="0"/>
              <a:t>A magic number for integrity checking</a:t>
            </a:r>
          </a:p>
          <a:p>
            <a:pPr lvl="2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041849" y="4489043"/>
            <a:ext cx="1439040" cy="987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921841" y="4315479"/>
            <a:ext cx="720080" cy="3515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>
            <a:off x="2641922" y="4489043"/>
            <a:ext cx="300917" cy="222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792125" y="4731013"/>
            <a:ext cx="1672958" cy="504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20 bytes </a:t>
            </a:r>
          </a:p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returned to caller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4583629" y="4489043"/>
            <a:ext cx="208496" cy="987997"/>
            <a:chOff x="4067944" y="2180822"/>
            <a:chExt cx="208496" cy="1166297"/>
          </a:xfrm>
        </p:grpSpPr>
        <p:sp>
          <p:nvSpPr>
            <p:cNvPr id="52" name="왼쪽 대괄호 51"/>
            <p:cNvSpPr/>
            <p:nvPr/>
          </p:nvSpPr>
          <p:spPr>
            <a:xfrm flipH="1">
              <a:off x="4067944" y="2180822"/>
              <a:ext cx="108012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/>
            <p:cNvCxnSpPr>
              <a:stCxn id="52" idx="1"/>
            </p:cNvCxnSpPr>
            <p:nvPr/>
          </p:nvCxnSpPr>
          <p:spPr>
            <a:xfrm>
              <a:off x="4175956" y="2763971"/>
              <a:ext cx="100484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직사각형 57"/>
          <p:cNvSpPr/>
          <p:nvPr/>
        </p:nvSpPr>
        <p:spPr>
          <a:xfrm>
            <a:off x="3041851" y="3776327"/>
            <a:ext cx="1439039" cy="360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   20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041851" y="4128998"/>
            <a:ext cx="1439039" cy="360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1234567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921841" y="3645024"/>
            <a:ext cx="720080" cy="3473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2656093" y="3801349"/>
            <a:ext cx="300917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6996100" y="4017373"/>
            <a:ext cx="3276364" cy="108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size;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magic;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1882" y="5533492"/>
            <a:ext cx="297975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Specific Contents Of The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38880" y="5385526"/>
            <a:ext cx="297975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Simple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8279188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The Header of Allocated Memory Chunk(Cont.)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880070"/>
            <a:ext cx="8786812" cy="5213226"/>
          </a:xfrm>
          <a:ln w="19050"/>
        </p:spPr>
        <p:txBody>
          <a:bodyPr/>
          <a:lstStyle/>
          <a:p>
            <a:pPr marL="342900" lvl="1" indent="-342900">
              <a:buSzPct val="65000"/>
              <a:buFont typeface="Wingdings" pitchFamily="2" charset="2"/>
              <a:buChar char=""/>
            </a:pPr>
            <a:r>
              <a:rPr lang="en-US" altLang="ko-KR" dirty="0"/>
              <a:t>The </a:t>
            </a:r>
            <a:r>
              <a:rPr lang="en-US" altLang="ko-KR" b="1" dirty="0"/>
              <a:t>size</a:t>
            </a:r>
            <a:r>
              <a:rPr lang="en-US" altLang="ko-KR" dirty="0"/>
              <a:t> for free region is the </a:t>
            </a:r>
            <a:r>
              <a:rPr lang="en-US" altLang="ko-KR" b="1" dirty="0"/>
              <a:t>size of the header plus the size of the space </a:t>
            </a:r>
            <a:r>
              <a:rPr lang="en-US" altLang="ko-KR" dirty="0"/>
              <a:t>allocated to the user</a:t>
            </a:r>
          </a:p>
          <a:p>
            <a:pPr lvl="1"/>
            <a:r>
              <a:rPr lang="en-US" altLang="ko-KR" dirty="0"/>
              <a:t>If a user </a:t>
            </a:r>
            <a:r>
              <a:rPr lang="en-US" altLang="ko-KR" b="1" dirty="0"/>
              <a:t>request </a:t>
            </a:r>
            <a:r>
              <a:rPr lang="en-US" altLang="ko-KR" b="1" dirty="0">
                <a:latin typeface="Courier New" pitchFamily="49" charset="0"/>
                <a:cs typeface="Courier New" pitchFamily="49" charset="0"/>
              </a:rPr>
              <a:t>N </a:t>
            </a:r>
            <a:r>
              <a:rPr lang="en-US" altLang="ko-KR" b="1" dirty="0">
                <a:cs typeface="Courier New" pitchFamily="49" charset="0"/>
              </a:rPr>
              <a:t>bytes</a:t>
            </a:r>
            <a:r>
              <a:rPr lang="en-US" altLang="ko-KR" dirty="0">
                <a:cs typeface="Courier New" pitchFamily="49" charset="0"/>
              </a:rPr>
              <a:t>, the library searches for a free chunk of </a:t>
            </a:r>
            <a:r>
              <a:rPr lang="en-US" altLang="ko-KR" b="1" dirty="0">
                <a:cs typeface="Courier New" pitchFamily="49" charset="0"/>
              </a:rPr>
              <a:t>size </a:t>
            </a:r>
            <a:r>
              <a:rPr lang="en-US" altLang="ko-KR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altLang="ko-KR" b="1" dirty="0">
                <a:cs typeface="Courier New" pitchFamily="49" charset="0"/>
              </a:rPr>
              <a:t> plus the size of the header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Simple pointer arithmetic to find the header pointer.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2279576" y="3834262"/>
            <a:ext cx="6552728" cy="10348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free(void *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hptr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502057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Embedding A Free List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memory allocation library </a:t>
            </a:r>
            <a:r>
              <a:rPr lang="en-US" altLang="ko-KR" b="1" dirty="0"/>
              <a:t>initializes</a:t>
            </a:r>
            <a:r>
              <a:rPr lang="en-US" altLang="ko-KR" dirty="0"/>
              <a:t> the heap and </a:t>
            </a:r>
            <a:r>
              <a:rPr lang="en-US" altLang="ko-KR" b="1" dirty="0"/>
              <a:t>puts</a:t>
            </a:r>
            <a:r>
              <a:rPr lang="en-US" altLang="ko-KR" dirty="0"/>
              <a:t> the first element of </a:t>
            </a:r>
            <a:r>
              <a:rPr lang="en-US" altLang="ko-KR" b="1" dirty="0"/>
              <a:t>the free list</a:t>
            </a:r>
            <a:r>
              <a:rPr lang="en-US" altLang="ko-KR" dirty="0"/>
              <a:t> in the </a:t>
            </a:r>
            <a:r>
              <a:rPr lang="en-US" altLang="ko-KR" b="1" dirty="0"/>
              <a:t>free space</a:t>
            </a:r>
            <a:endParaRPr lang="en-US" altLang="ko-KR" dirty="0"/>
          </a:p>
          <a:p>
            <a:pPr lvl="1"/>
            <a:r>
              <a:rPr lang="en-US" altLang="ko-KR" dirty="0"/>
              <a:t>The library </a:t>
            </a:r>
            <a:r>
              <a:rPr lang="en-US" altLang="ko-KR" b="1" dirty="0"/>
              <a:t>can’t use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malloc()</a:t>
            </a:r>
            <a:r>
              <a:rPr lang="en-US" altLang="ko-KR" dirty="0"/>
              <a:t> to build a list </a:t>
            </a:r>
            <a:r>
              <a:rPr lang="en-US" altLang="ko-KR" b="1" dirty="0"/>
              <a:t>within itself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78158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Embedding A Free List(Cont.)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Description of a node of the list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Building the heap and putting a free list </a:t>
            </a:r>
          </a:p>
          <a:p>
            <a:pPr lvl="1"/>
            <a:r>
              <a:rPr lang="en-US" altLang="ko-KR" dirty="0"/>
              <a:t>Assume that the heap is built with the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mmap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 system call.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206849" y="4048901"/>
            <a:ext cx="6552728" cy="11730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returns a pointer to a chunk of free space</a:t>
            </a:r>
          </a:p>
          <a:p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*head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PROT_READ|PROT_WRITE, 			   MAP_ANON|MAP_PRIVATE,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head-&gt;size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head-&gt;next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1605" y="1393032"/>
            <a:ext cx="2808312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07568" y="1608760"/>
            <a:ext cx="6552728" cy="95410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size;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*next;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nodet_t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67374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Heap With One Free Chunk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3143672" y="2996952"/>
            <a:ext cx="5839220" cy="2681376"/>
            <a:chOff x="290934" y="315097"/>
            <a:chExt cx="5839220" cy="2681376"/>
          </a:xfrm>
        </p:grpSpPr>
        <p:sp>
          <p:nvSpPr>
            <p:cNvPr id="14" name="TextBox 13"/>
            <p:cNvSpPr txBox="1"/>
            <p:nvPr/>
          </p:nvSpPr>
          <p:spPr>
            <a:xfrm>
              <a:off x="290934" y="1229964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>
              <a:off x="994593" y="1411172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483107" y="2131202"/>
              <a:ext cx="236965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rest of the 4KB chunk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3357355" y="1573709"/>
              <a:ext cx="125752" cy="1422764"/>
              <a:chOff x="3573379" y="1926334"/>
              <a:chExt cx="125752" cy="1289793"/>
            </a:xfrm>
          </p:grpSpPr>
          <p:sp>
            <p:nvSpPr>
              <p:cNvPr id="25" name="왼쪽 대괄호 24"/>
              <p:cNvSpPr/>
              <p:nvPr/>
            </p:nvSpPr>
            <p:spPr>
              <a:xfrm flipH="1">
                <a:off x="3573379" y="1926334"/>
                <a:ext cx="54006" cy="1289793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6" name="직선 연결선 25"/>
              <p:cNvCxnSpPr>
                <a:stCxn id="25" idx="1"/>
              </p:cNvCxnSpPr>
              <p:nvPr/>
            </p:nvCxnSpPr>
            <p:spPr>
              <a:xfrm>
                <a:off x="3627385" y="2571231"/>
                <a:ext cx="7174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직사각형 17"/>
            <p:cNvSpPr/>
            <p:nvPr/>
          </p:nvSpPr>
          <p:spPr>
            <a:xfrm>
              <a:off x="1484426" y="596558"/>
              <a:ext cx="1799644" cy="51010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4088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484426" y="1092930"/>
              <a:ext cx="1800365" cy="51010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next:            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78966" y="315097"/>
              <a:ext cx="2745796" cy="5299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[virtual address: 16KB]</a:t>
              </a:r>
            </a:p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header: size field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84358" y="1185444"/>
              <a:ext cx="2745796" cy="3250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header: next field(NULL is 0)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484426" y="1565591"/>
              <a:ext cx="1800365" cy="5101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484426" y="2486371"/>
              <a:ext cx="1800365" cy="5101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493561" y="1988473"/>
              <a:ext cx="1801135" cy="51010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5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2206849" y="1285707"/>
            <a:ext cx="6552728" cy="11730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108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returns a pointer to a chunk of free space</a:t>
            </a:r>
          </a:p>
          <a:p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*head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PROT_READ|PROT_WRITE, 			   MAP_ANON|MAP_PRIVATE,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head-&gt;size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head-&gt;next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60426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Embedding A Free List: Allocation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 chunk of memory is requested, the library </a:t>
            </a:r>
            <a:r>
              <a:rPr lang="en-US" altLang="ko-KR" b="1" dirty="0"/>
              <a:t>will first find</a:t>
            </a:r>
            <a:r>
              <a:rPr lang="en-US" altLang="ko-KR" dirty="0"/>
              <a:t> a chunk that is </a:t>
            </a:r>
            <a:r>
              <a:rPr lang="en-US" altLang="ko-KR" b="1" dirty="0"/>
              <a:t>large enough </a:t>
            </a:r>
            <a:r>
              <a:rPr lang="en-US" altLang="ko-KR" dirty="0"/>
              <a:t>to accommodate the request</a:t>
            </a:r>
          </a:p>
          <a:p>
            <a:r>
              <a:rPr lang="en-US" altLang="ko-KR" dirty="0"/>
              <a:t>The library will </a:t>
            </a:r>
          </a:p>
          <a:p>
            <a:pPr lvl="1"/>
            <a:r>
              <a:rPr lang="en-US" altLang="ko-KR" b="1" dirty="0"/>
              <a:t>Split</a:t>
            </a:r>
            <a:r>
              <a:rPr lang="en-US" altLang="ko-KR" dirty="0"/>
              <a:t> the large free chunk into two</a:t>
            </a:r>
          </a:p>
          <a:p>
            <a:pPr lvl="2"/>
            <a:r>
              <a:rPr lang="en-US" altLang="ko-KR" b="1" dirty="0"/>
              <a:t>One</a:t>
            </a:r>
            <a:r>
              <a:rPr lang="en-US" altLang="ko-KR" dirty="0"/>
              <a:t> for the </a:t>
            </a:r>
            <a:r>
              <a:rPr lang="en-US" altLang="ko-KR" b="1" dirty="0"/>
              <a:t>request</a:t>
            </a:r>
            <a:r>
              <a:rPr lang="en-US" altLang="ko-KR" dirty="0"/>
              <a:t> and the </a:t>
            </a:r>
            <a:r>
              <a:rPr lang="en-US" altLang="ko-KR" b="1" dirty="0"/>
              <a:t>remaining</a:t>
            </a:r>
            <a:r>
              <a:rPr lang="en-US" altLang="ko-KR" dirty="0"/>
              <a:t> free chunk</a:t>
            </a:r>
          </a:p>
          <a:p>
            <a:pPr lvl="1"/>
            <a:r>
              <a:rPr lang="en-US" altLang="ko-KR" b="1" dirty="0"/>
              <a:t>Shrink</a:t>
            </a:r>
            <a:r>
              <a:rPr lang="en-US" altLang="ko-KR" dirty="0"/>
              <a:t> the size of free chunk in the list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472931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Embedding A Free List: Allocation(Cont.)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 a request for 100 bytes by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= malloc(100);</a:t>
            </a:r>
          </a:p>
          <a:p>
            <a:pPr lvl="1"/>
            <a:r>
              <a:rPr lang="en-US" altLang="ko-KR" dirty="0"/>
              <a:t>Allocating 108 bytes out of the existing one free chunk (note 8 bytes for the header)</a:t>
            </a:r>
          </a:p>
          <a:p>
            <a:pPr lvl="1"/>
            <a:r>
              <a:rPr lang="en-US" altLang="ko-KR" dirty="0"/>
              <a:t>Shrinking the one free chunk to 3980 bytes (4088 minus 108)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5303913" y="3359366"/>
            <a:ext cx="5270411" cy="2877947"/>
            <a:chOff x="1139883" y="1335798"/>
            <a:chExt cx="5270411" cy="2877947"/>
          </a:xfrm>
        </p:grpSpPr>
        <p:sp>
          <p:nvSpPr>
            <p:cNvPr id="20" name="TextBox 19"/>
            <p:cNvSpPr txBox="1"/>
            <p:nvPr/>
          </p:nvSpPr>
          <p:spPr>
            <a:xfrm>
              <a:off x="1347752" y="1797691"/>
              <a:ext cx="457600" cy="2905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ptr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1" name="직선 화살표 연결선 20"/>
            <p:cNvCxnSpPr/>
            <p:nvPr/>
          </p:nvCxnSpPr>
          <p:spPr>
            <a:xfrm>
              <a:off x="1821666" y="1923302"/>
              <a:ext cx="263426" cy="21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851920" y="2191772"/>
              <a:ext cx="255837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100 bytes now allocated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3707904" y="1920931"/>
              <a:ext cx="95577" cy="849460"/>
              <a:chOff x="4067944" y="2180822"/>
              <a:chExt cx="308981" cy="1166297"/>
            </a:xfrm>
          </p:grpSpPr>
          <p:sp>
            <p:nvSpPr>
              <p:cNvPr id="24" name="왼쪽 대괄호 23"/>
              <p:cNvSpPr/>
              <p:nvPr/>
            </p:nvSpPr>
            <p:spPr>
              <a:xfrm flipH="1">
                <a:off x="4067944" y="2180822"/>
                <a:ext cx="216024" cy="1166297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4288356" y="2746034"/>
                <a:ext cx="88569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직사각형 25"/>
            <p:cNvSpPr/>
            <p:nvPr/>
          </p:nvSpPr>
          <p:spPr>
            <a:xfrm>
              <a:off x="2122568" y="1335798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    100</a:t>
              </a:r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122568" y="1626853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magic:  1234567</a:t>
              </a:r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122568" y="1920931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125456" y="2476640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122568" y="2198818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39883" y="2603623"/>
              <a:ext cx="661705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125456" y="2770391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   </a:t>
              </a:r>
              <a:r>
                <a:rPr lang="en-US" altLang="ko-KR" sz="14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3980</a:t>
              </a:r>
              <a:endPara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125457" y="3064469"/>
              <a:ext cx="1513328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next:             0</a:t>
              </a:r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2125456" y="3358547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125456" y="3919667"/>
              <a:ext cx="1513329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2125456" y="3637917"/>
              <a:ext cx="1513329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51310" y="3607676"/>
              <a:ext cx="226085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free 3980 byte chunk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4" name="그룹 33"/>
            <p:cNvGrpSpPr/>
            <p:nvPr/>
          </p:nvGrpSpPr>
          <p:grpSpPr>
            <a:xfrm>
              <a:off x="3707904" y="3358547"/>
              <a:ext cx="95577" cy="849460"/>
              <a:chOff x="4067944" y="2180822"/>
              <a:chExt cx="308981" cy="1166297"/>
            </a:xfrm>
          </p:grpSpPr>
          <p:sp>
            <p:nvSpPr>
              <p:cNvPr id="36" name="왼쪽 대괄호 35"/>
              <p:cNvSpPr/>
              <p:nvPr/>
            </p:nvSpPr>
            <p:spPr>
              <a:xfrm flipH="1">
                <a:off x="4067944" y="2180822"/>
                <a:ext cx="216024" cy="1166297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7" name="직선 연결선 36"/>
              <p:cNvCxnSpPr/>
              <p:nvPr/>
            </p:nvCxnSpPr>
            <p:spPr>
              <a:xfrm>
                <a:off x="4288356" y="2746034"/>
                <a:ext cx="88569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그룹 30"/>
          <p:cNvGrpSpPr/>
          <p:nvPr/>
        </p:nvGrpSpPr>
        <p:grpSpPr>
          <a:xfrm>
            <a:off x="1565494" y="3301260"/>
            <a:ext cx="3183304" cy="1567900"/>
            <a:chOff x="455503" y="812374"/>
            <a:chExt cx="3183304" cy="1567900"/>
          </a:xfrm>
        </p:grpSpPr>
        <p:sp>
          <p:nvSpPr>
            <p:cNvPr id="38" name="TextBox 37"/>
            <p:cNvSpPr txBox="1"/>
            <p:nvPr/>
          </p:nvSpPr>
          <p:spPr>
            <a:xfrm>
              <a:off x="865304" y="812374"/>
              <a:ext cx="613038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1" name="직선 화살표 연결선 40"/>
            <p:cNvCxnSpPr/>
            <p:nvPr/>
          </p:nvCxnSpPr>
          <p:spPr>
            <a:xfrm>
              <a:off x="1498649" y="968223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455503" y="1652725"/>
              <a:ext cx="1366674" cy="5967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rest of 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4KB chunk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1820700" y="1562836"/>
              <a:ext cx="171835" cy="776511"/>
              <a:chOff x="2036724" y="1916478"/>
              <a:chExt cx="171835" cy="703939"/>
            </a:xfrm>
          </p:grpSpPr>
          <p:sp>
            <p:nvSpPr>
              <p:cNvPr id="57" name="왼쪽 대괄호 56"/>
              <p:cNvSpPr/>
              <p:nvPr/>
            </p:nvSpPr>
            <p:spPr>
              <a:xfrm>
                <a:off x="2139926" y="1916478"/>
                <a:ext cx="68633" cy="703939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8" name="직선 연결선 57"/>
              <p:cNvCxnSpPr>
                <a:stCxn id="57" idx="1"/>
              </p:cNvCxnSpPr>
              <p:nvPr/>
            </p:nvCxnSpPr>
            <p:spPr>
              <a:xfrm flipH="1" flipV="1">
                <a:off x="2036724" y="2268447"/>
                <a:ext cx="103202" cy="1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직사각형 43"/>
            <p:cNvSpPr/>
            <p:nvPr/>
          </p:nvSpPr>
          <p:spPr>
            <a:xfrm>
              <a:off x="2065222" y="978243"/>
              <a:ext cx="1572955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4088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065222" y="1268760"/>
              <a:ext cx="1573585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next:            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065222" y="1556792"/>
              <a:ext cx="1572955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061014" y="2086196"/>
              <a:ext cx="1572955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064549" y="1810946"/>
              <a:ext cx="1573585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670060" y="2976186"/>
            <a:ext cx="2745796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Heap : After One Allocation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2252" y="2954940"/>
            <a:ext cx="3097684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4KB Heap With One Free Chunk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5969381" y="4779987"/>
            <a:ext cx="263426" cy="218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334115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Chunks Allocated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844113" y="136505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844113" y="1583566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844113" y="180207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844113" y="221860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844113" y="201312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844113" y="243711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844113" y="265562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844113" y="287413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849803" y="329066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852969" y="308239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848325" y="350917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848325" y="372768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848325" y="394618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4848325" y="436271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848325" y="415724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848325" y="4581228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848325" y="479973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848325" y="501824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852969" y="543391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848325" y="522930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78765" y="2713977"/>
            <a:ext cx="50405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4482821" y="2874131"/>
            <a:ext cx="346538" cy="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856616" y="4421073"/>
            <a:ext cx="612068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4482821" y="4581227"/>
            <a:ext cx="346538" cy="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6192796" y="1822702"/>
            <a:ext cx="106157" cy="577309"/>
            <a:chOff x="4067944" y="2180822"/>
            <a:chExt cx="308981" cy="1166297"/>
          </a:xfrm>
        </p:grpSpPr>
        <p:sp>
          <p:nvSpPr>
            <p:cNvPr id="97" name="왼쪽 대괄호 96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그룹 98"/>
          <p:cNvGrpSpPr/>
          <p:nvPr/>
        </p:nvGrpSpPr>
        <p:grpSpPr>
          <a:xfrm>
            <a:off x="6192796" y="2902997"/>
            <a:ext cx="98979" cy="577309"/>
            <a:chOff x="4067944" y="2180822"/>
            <a:chExt cx="308981" cy="1166297"/>
          </a:xfrm>
        </p:grpSpPr>
        <p:sp>
          <p:nvSpPr>
            <p:cNvPr id="100" name="왼쪽 대괄호 99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1" name="직선 연결선 100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/>
          <p:cNvGrpSpPr/>
          <p:nvPr/>
        </p:nvGrpSpPr>
        <p:grpSpPr>
          <a:xfrm>
            <a:off x="6216478" y="3975053"/>
            <a:ext cx="106365" cy="577309"/>
            <a:chOff x="4067944" y="2180822"/>
            <a:chExt cx="308981" cy="1166297"/>
          </a:xfrm>
        </p:grpSpPr>
        <p:sp>
          <p:nvSpPr>
            <p:cNvPr id="103" name="왼쪽 대괄호 102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" name="직선 연결선 103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6186885" y="1268761"/>
            <a:ext cx="22618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342424" y="1948588"/>
            <a:ext cx="2106301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343950" y="2957340"/>
            <a:ext cx="2106301" cy="468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</a:p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(but about to be freed)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498036" y="4084407"/>
            <a:ext cx="2106301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19211" y="5127499"/>
            <a:ext cx="2310730" cy="2855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19736" y="5661248"/>
            <a:ext cx="3544898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Space With Three Chunks Allocated</a:t>
            </a:r>
          </a:p>
        </p:txBody>
      </p:sp>
      <p:grpSp>
        <p:nvGrpSpPr>
          <p:cNvPr id="49" name="그룹 48"/>
          <p:cNvGrpSpPr/>
          <p:nvPr/>
        </p:nvGrpSpPr>
        <p:grpSpPr>
          <a:xfrm flipH="1">
            <a:off x="4609829" y="1356178"/>
            <a:ext cx="152443" cy="445897"/>
            <a:chOff x="4067944" y="2180822"/>
            <a:chExt cx="308981" cy="1166297"/>
          </a:xfrm>
        </p:grpSpPr>
        <p:sp>
          <p:nvSpPr>
            <p:cNvPr id="50" name="왼쪽 대괄호 49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3127087" y="1425237"/>
            <a:ext cx="143659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bytes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612585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53962" y="1537809"/>
            <a:ext cx="4464496" cy="4047732"/>
          </a:xfrm>
        </p:spPr>
        <p:txBody>
          <a:bodyPr/>
          <a:lstStyle/>
          <a:p>
            <a:pPr lvl="1"/>
            <a:r>
              <a:rPr lang="en-US" altLang="ko-KR" dirty="0"/>
              <a:t>Equivalent to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free(16500)</a:t>
            </a:r>
          </a:p>
          <a:p>
            <a:pPr lvl="2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16384+108+8</a:t>
            </a:r>
          </a:p>
          <a:p>
            <a:pPr lvl="1"/>
            <a:r>
              <a:rPr lang="en-US" altLang="ko-KR" dirty="0"/>
              <a:t>The 100 bytes chunks is </a:t>
            </a:r>
            <a:r>
              <a:rPr lang="en-US" altLang="ko-KR" b="1" dirty="0"/>
              <a:t>back into</a:t>
            </a:r>
            <a:r>
              <a:rPr lang="en-US" altLang="ko-KR" dirty="0"/>
              <a:t> the free list</a:t>
            </a:r>
          </a:p>
          <a:p>
            <a:pPr lvl="1"/>
            <a:r>
              <a:rPr lang="en-US" altLang="ko-KR" dirty="0"/>
              <a:t>The free list will </a:t>
            </a:r>
            <a:r>
              <a:rPr lang="en-US" altLang="ko-KR" b="1" dirty="0"/>
              <a:t>start</a:t>
            </a:r>
            <a:r>
              <a:rPr lang="en-US" altLang="ko-KR" dirty="0"/>
              <a:t> with </a:t>
            </a:r>
            <a:r>
              <a:rPr lang="en-US" altLang="ko-KR" b="1" dirty="0"/>
              <a:t>a small chunk</a:t>
            </a:r>
            <a:endParaRPr lang="en-US" altLang="ko-KR" dirty="0"/>
          </a:p>
          <a:p>
            <a:pPr lvl="2"/>
            <a:r>
              <a:rPr lang="en-US" altLang="ko-KR" dirty="0"/>
              <a:t>The list header will point the small chunk</a:t>
            </a:r>
          </a:p>
          <a:p>
            <a:pPr lvl="1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758920" y="1674385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758920" y="189289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758920" y="211140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758920" y="252793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758920" y="2322457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6758920" y="2746442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758920" y="296495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758920" y="318346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764610" y="359999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758920" y="3394514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6764610" y="3818499"/>
            <a:ext cx="1296626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764610" y="4037008"/>
            <a:ext cx="1296626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764610" y="4255517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764610" y="4672047"/>
            <a:ext cx="1296626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753573" y="4447719"/>
            <a:ext cx="1302343" cy="2310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6764610" y="4890556"/>
            <a:ext cx="1300858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764610" y="5109065"/>
            <a:ext cx="1300858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764610" y="5327574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6764610" y="5744104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6764610" y="5538628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57568" y="3025776"/>
            <a:ext cx="540060" cy="272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6397628" y="3183459"/>
            <a:ext cx="34653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6397628" y="2746441"/>
            <a:ext cx="346538" cy="1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8131284" y="2111401"/>
            <a:ext cx="100492" cy="635040"/>
            <a:chOff x="4067944" y="2180822"/>
            <a:chExt cx="308981" cy="1166297"/>
          </a:xfrm>
        </p:grpSpPr>
        <p:sp>
          <p:nvSpPr>
            <p:cNvPr id="97" name="왼쪽 대괄호 96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/>
          <p:cNvGrpSpPr/>
          <p:nvPr/>
        </p:nvGrpSpPr>
        <p:grpSpPr>
          <a:xfrm>
            <a:off x="8127072" y="4255514"/>
            <a:ext cx="104704" cy="635040"/>
            <a:chOff x="4067944" y="2180822"/>
            <a:chExt cx="308981" cy="1166297"/>
          </a:xfrm>
        </p:grpSpPr>
        <p:sp>
          <p:nvSpPr>
            <p:cNvPr id="103" name="왼쪽 대괄호 102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" name="직선 연결선 103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8126574" y="1484785"/>
            <a:ext cx="2047776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245914" y="2275033"/>
            <a:ext cx="2106301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131284" y="3240875"/>
            <a:ext cx="2702542" cy="5257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a free 100-byte chunk of </a:t>
            </a:r>
          </a:p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memory)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56149" y="4420726"/>
            <a:ext cx="2106301" cy="2850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27072" y="5442339"/>
            <a:ext cx="2310730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cxnSp>
        <p:nvCxnSpPr>
          <p:cNvPr id="8" name="꺾인 연결선 7"/>
          <p:cNvCxnSpPr/>
          <p:nvPr/>
        </p:nvCxnSpPr>
        <p:spPr>
          <a:xfrm>
            <a:off x="8127072" y="3074206"/>
            <a:ext cx="4212" cy="1925605"/>
          </a:xfrm>
          <a:prstGeom prst="bentConnector3">
            <a:avLst>
              <a:gd name="adj1" fmla="val 54031268"/>
            </a:avLst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2"/>
          <p:cNvSpPr txBox="1">
            <a:spLocks/>
          </p:cNvSpPr>
          <p:nvPr/>
        </p:nvSpPr>
        <p:spPr bwMode="auto">
          <a:xfrm>
            <a:off x="1691129" y="908720"/>
            <a:ext cx="6120680" cy="57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/>
              <a:t>Example: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free(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sptr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);</a:t>
            </a:r>
            <a:endParaRPr lang="en-US" altLang="ko-KR" dirty="0"/>
          </a:p>
        </p:txBody>
      </p:sp>
      <p:sp>
        <p:nvSpPr>
          <p:cNvPr id="44" name="TextBox 43"/>
          <p:cNvSpPr txBox="1"/>
          <p:nvPr/>
        </p:nvSpPr>
        <p:spPr>
          <a:xfrm>
            <a:off x="5807968" y="2611737"/>
            <a:ext cx="589660" cy="2694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064029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F</a:t>
            </a:r>
            <a:r>
              <a:rPr lang="en-US" altLang="ko-KR" b="1" dirty="0">
                <a:ea typeface="맑은 고딕" panose="020B0503020000020004" pitchFamily="50" charset="-127"/>
                <a:cs typeface="Courier New" panose="02070309020205020404" pitchFamily="49" charset="0"/>
              </a:rPr>
              <a:t>reed Chunks</a:t>
            </a:r>
            <a:endParaRPr lang="ko-KR" altLang="en-US" b="1" dirty="0"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assume that the last two in-use chunks are freed</a:t>
            </a:r>
          </a:p>
          <a:p>
            <a:pPr lvl="2"/>
            <a:endParaRPr lang="en-US" altLang="ko-KR" dirty="0"/>
          </a:p>
          <a:p>
            <a:r>
              <a:rPr lang="en-US" altLang="ko-KR" b="1" dirty="0"/>
              <a:t>External Fragmentation</a:t>
            </a:r>
            <a:r>
              <a:rPr lang="en-US" altLang="ko-KR" dirty="0"/>
              <a:t> occurs</a:t>
            </a:r>
          </a:p>
          <a:p>
            <a:pPr lvl="1"/>
            <a:r>
              <a:rPr lang="en-US" altLang="ko-KR" b="1" dirty="0"/>
              <a:t>Coalescing</a:t>
            </a:r>
            <a:r>
              <a:rPr lang="en-US" altLang="ko-KR" dirty="0"/>
              <a:t> is needed in the list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834986" y="202109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834986" y="223960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16492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834986" y="245811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834986" y="287464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825168" y="2665173"/>
            <a:ext cx="1296144" cy="229871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6834986" y="309315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834986" y="331166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834986" y="353016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840676" y="394669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834986" y="374122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6840676" y="416520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840676" y="438371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16384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840676" y="460222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839559" y="501875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836429" y="481328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6839559" y="523726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839559" y="545577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839559" y="567428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6839559" y="609081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6839559" y="588533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07968" y="4005053"/>
            <a:ext cx="720080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6528048" y="4165207"/>
            <a:ext cx="2921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158444" y="1713317"/>
            <a:ext cx="22618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177758" y="5815290"/>
            <a:ext cx="2310730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cxnSp>
        <p:nvCxnSpPr>
          <p:cNvPr id="8" name="꺾인 연결선 7"/>
          <p:cNvCxnSpPr/>
          <p:nvPr/>
        </p:nvCxnSpPr>
        <p:spPr>
          <a:xfrm>
            <a:off x="8203138" y="3420915"/>
            <a:ext cx="4212" cy="1925605"/>
          </a:xfrm>
          <a:prstGeom prst="bentConnector3">
            <a:avLst>
              <a:gd name="adj1" fmla="val 43319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>
            <a:off x="8194650" y="2348857"/>
            <a:ext cx="12700" cy="853548"/>
          </a:xfrm>
          <a:prstGeom prst="bentConnector3">
            <a:avLst>
              <a:gd name="adj1" fmla="val 115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53405" y="2621743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꺾인 연결선 47"/>
          <p:cNvCxnSpPr/>
          <p:nvPr/>
        </p:nvCxnSpPr>
        <p:spPr>
          <a:xfrm flipH="1" flipV="1">
            <a:off x="8203138" y="2130349"/>
            <a:ext cx="4212" cy="2362623"/>
          </a:xfrm>
          <a:prstGeom prst="bentConnector3">
            <a:avLst>
              <a:gd name="adj1" fmla="val -3814629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53404" y="3696588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53405" y="4768645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4865478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Growing The Heap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Most allocators </a:t>
            </a:r>
            <a:r>
              <a:rPr lang="en-US" altLang="ko-KR" b="1" dirty="0"/>
              <a:t>start </a:t>
            </a:r>
            <a:r>
              <a:rPr lang="en-US" altLang="ko-KR" dirty="0"/>
              <a:t>with</a:t>
            </a:r>
            <a:r>
              <a:rPr lang="en-US" altLang="ko-KR" b="1" dirty="0"/>
              <a:t> a small-sized</a:t>
            </a:r>
            <a:r>
              <a:rPr lang="en-US" altLang="ko-KR" dirty="0"/>
              <a:t> </a:t>
            </a:r>
            <a:r>
              <a:rPr lang="en-US" altLang="ko-KR" b="1" dirty="0"/>
              <a:t>heap</a:t>
            </a:r>
            <a:r>
              <a:rPr lang="en-US" altLang="ko-KR" dirty="0"/>
              <a:t> and then </a:t>
            </a:r>
            <a:r>
              <a:rPr lang="en-US" altLang="ko-KR" b="1" dirty="0"/>
              <a:t>request more </a:t>
            </a:r>
            <a:r>
              <a:rPr lang="en-US" altLang="ko-KR" dirty="0"/>
              <a:t>memory from the OS when they run out</a:t>
            </a:r>
          </a:p>
          <a:p>
            <a:pPr lvl="1"/>
            <a:r>
              <a:rPr lang="en-US" altLang="ko-KR" dirty="0"/>
              <a:t>e.g.,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sbrk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,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brk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 system calls in</a:t>
            </a:r>
            <a:r>
              <a:rPr lang="ko-KR" altLang="en-US" dirty="0"/>
              <a:t> </a:t>
            </a:r>
            <a:r>
              <a:rPr lang="en-US" altLang="ko-KR" dirty="0"/>
              <a:t>most UNIX systems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4067822" y="3233358"/>
            <a:ext cx="1164083" cy="1718590"/>
            <a:chOff x="881175" y="3935826"/>
            <a:chExt cx="1537602" cy="1718590"/>
          </a:xfrm>
        </p:grpSpPr>
        <p:sp>
          <p:nvSpPr>
            <p:cNvPr id="8" name="직사각형 7"/>
            <p:cNvSpPr/>
            <p:nvPr/>
          </p:nvSpPr>
          <p:spPr>
            <a:xfrm>
              <a:off x="881177" y="4511890"/>
              <a:ext cx="1537600" cy="3794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881176" y="4093351"/>
              <a:ext cx="1537601" cy="4185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881175" y="4891336"/>
              <a:ext cx="1537601" cy="619065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4" name="직선 화살표 연결선 13"/>
            <p:cNvCxnSpPr>
              <a:stCxn id="13" idx="0"/>
            </p:cNvCxnSpPr>
            <p:nvPr/>
          </p:nvCxnSpPr>
          <p:spPr>
            <a:xfrm>
              <a:off x="1649976" y="4891336"/>
              <a:ext cx="1" cy="3842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3871860" y="4989040"/>
            <a:ext cx="1504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8680183" y="2509838"/>
            <a:ext cx="1331371" cy="3010366"/>
            <a:chOff x="6480989" y="2466024"/>
            <a:chExt cx="1331371" cy="3010366"/>
          </a:xfrm>
        </p:grpSpPr>
        <p:sp>
          <p:nvSpPr>
            <p:cNvPr id="21" name="직사각형 20"/>
            <p:cNvSpPr/>
            <p:nvPr/>
          </p:nvSpPr>
          <p:spPr>
            <a:xfrm>
              <a:off x="6480989" y="3765171"/>
              <a:ext cx="1331371" cy="3839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480989" y="2780673"/>
              <a:ext cx="1331371" cy="98449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480989" y="4149080"/>
              <a:ext cx="1331371" cy="765340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6480989" y="2466024"/>
              <a:ext cx="0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7811605" y="2467444"/>
              <a:ext cx="755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6480989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>
              <a:off x="7811605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8456564" y="5506899"/>
            <a:ext cx="177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6878060" y="3237750"/>
            <a:ext cx="1164083" cy="1718590"/>
            <a:chOff x="881175" y="3935826"/>
            <a:chExt cx="1537602" cy="1718590"/>
          </a:xfrm>
        </p:grpSpPr>
        <p:sp>
          <p:nvSpPr>
            <p:cNvPr id="48" name="직사각형 47"/>
            <p:cNvSpPr/>
            <p:nvPr/>
          </p:nvSpPr>
          <p:spPr>
            <a:xfrm>
              <a:off x="881177" y="4511890"/>
              <a:ext cx="1537600" cy="6889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/>
            <p:cNvSpPr/>
            <p:nvPr/>
          </p:nvSpPr>
          <p:spPr>
            <a:xfrm>
              <a:off x="881176" y="4093351"/>
              <a:ext cx="1537601" cy="4185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/>
            <p:cNvSpPr/>
            <p:nvPr/>
          </p:nvSpPr>
          <p:spPr>
            <a:xfrm>
              <a:off x="881175" y="5200868"/>
              <a:ext cx="1537601" cy="30953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3" name="직선 화살표 연결선 52"/>
            <p:cNvCxnSpPr>
              <a:stCxn id="52" idx="0"/>
            </p:cNvCxnSpPr>
            <p:nvPr/>
          </p:nvCxnSpPr>
          <p:spPr>
            <a:xfrm flipH="1">
              <a:off x="1649975" y="5200868"/>
              <a:ext cx="1" cy="21602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/>
          <p:cNvSpPr txBox="1"/>
          <p:nvPr/>
        </p:nvSpPr>
        <p:spPr>
          <a:xfrm>
            <a:off x="6672066" y="4986495"/>
            <a:ext cx="1576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6878062" y="4193461"/>
            <a:ext cx="1164083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H="1">
            <a:off x="5231904" y="4188503"/>
            <a:ext cx="216024" cy="1147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374958" y="4052783"/>
            <a:ext cx="649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break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 flipV="1">
            <a:off x="6654893" y="4500055"/>
            <a:ext cx="223168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096001" y="4361555"/>
            <a:ext cx="649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break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원호 68"/>
          <p:cNvSpPr/>
          <p:nvPr/>
        </p:nvSpPr>
        <p:spPr>
          <a:xfrm rot="2645926" flipH="1" flipV="1">
            <a:off x="6777323" y="4172136"/>
            <a:ext cx="408992" cy="348838"/>
          </a:xfrm>
          <a:prstGeom prst="arc">
            <a:avLst/>
          </a:prstGeom>
          <a:ln w="12700">
            <a:solidFill>
              <a:schemeClr val="tx1"/>
            </a:solidFill>
            <a:prstDash val="sysDash"/>
            <a:headEnd type="stealt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6168972" y="4088106"/>
            <a:ext cx="649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sbrk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2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79" name="직선 연결선 78"/>
          <p:cNvCxnSpPr/>
          <p:nvPr/>
        </p:nvCxnSpPr>
        <p:spPr>
          <a:xfrm>
            <a:off x="8042141" y="3813814"/>
            <a:ext cx="63803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8042141" y="4192893"/>
            <a:ext cx="63803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8680183" y="4958235"/>
            <a:ext cx="1331371" cy="3839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94" name="직선 연결선 93"/>
          <p:cNvCxnSpPr/>
          <p:nvPr/>
        </p:nvCxnSpPr>
        <p:spPr>
          <a:xfrm>
            <a:off x="8042141" y="4502792"/>
            <a:ext cx="629618" cy="823588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8050561" y="4198456"/>
            <a:ext cx="629618" cy="759779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/>
          <p:cNvGrpSpPr/>
          <p:nvPr/>
        </p:nvGrpSpPr>
        <p:grpSpPr>
          <a:xfrm>
            <a:off x="2135561" y="2506866"/>
            <a:ext cx="1331371" cy="3010366"/>
            <a:chOff x="6480989" y="2466024"/>
            <a:chExt cx="1331371" cy="3010366"/>
          </a:xfrm>
        </p:grpSpPr>
        <p:sp>
          <p:nvSpPr>
            <p:cNvPr id="108" name="직사각형 107"/>
            <p:cNvSpPr/>
            <p:nvPr/>
          </p:nvSpPr>
          <p:spPr>
            <a:xfrm>
              <a:off x="6480989" y="3765171"/>
              <a:ext cx="1331371" cy="3839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6480989" y="2780673"/>
              <a:ext cx="1331371" cy="98449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6480989" y="4149080"/>
              <a:ext cx="1331371" cy="113946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cxnSp>
          <p:nvCxnSpPr>
            <p:cNvPr id="111" name="직선 연결선 110"/>
            <p:cNvCxnSpPr/>
            <p:nvPr/>
          </p:nvCxnSpPr>
          <p:spPr>
            <a:xfrm>
              <a:off x="6480989" y="2466024"/>
              <a:ext cx="0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>
              <a:off x="7811605" y="2467444"/>
              <a:ext cx="755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>
              <a:off x="6480989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/>
            <p:cNvCxnSpPr/>
            <p:nvPr/>
          </p:nvCxnSpPr>
          <p:spPr>
            <a:xfrm>
              <a:off x="7811605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직선 연결선 115"/>
          <p:cNvCxnSpPr/>
          <p:nvPr/>
        </p:nvCxnSpPr>
        <p:spPr>
          <a:xfrm>
            <a:off x="3466177" y="3814984"/>
            <a:ext cx="601645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V="1">
            <a:off x="3466177" y="4188501"/>
            <a:ext cx="601645" cy="5562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390422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Managing Free Space: Basic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Ideal allocator is both </a:t>
            </a:r>
            <a:r>
              <a:rPr lang="en-US" altLang="ko-KR" u="sng" dirty="0"/>
              <a:t>fast</a:t>
            </a:r>
            <a:r>
              <a:rPr lang="en-US" altLang="ko-KR" dirty="0"/>
              <a:t> and </a:t>
            </a:r>
            <a:r>
              <a:rPr lang="en-US" altLang="ko-KR" u="sng" dirty="0"/>
              <a:t>minimizes fragmentation</a:t>
            </a:r>
          </a:p>
          <a:p>
            <a:r>
              <a:rPr lang="en-US" altLang="ko-KR" b="1" dirty="0"/>
              <a:t>Best Fit</a:t>
            </a:r>
          </a:p>
          <a:p>
            <a:pPr lvl="1"/>
            <a:r>
              <a:rPr lang="en-US" altLang="ko-KR" dirty="0"/>
              <a:t>Finding free chunks that are </a:t>
            </a:r>
            <a:r>
              <a:rPr lang="en-US" altLang="ko-KR" b="1" dirty="0"/>
              <a:t>big or bigger than the request</a:t>
            </a:r>
          </a:p>
          <a:p>
            <a:pPr lvl="1"/>
            <a:r>
              <a:rPr lang="en-US" altLang="ko-KR" dirty="0"/>
              <a:t>Returning the </a:t>
            </a:r>
            <a:r>
              <a:rPr lang="en-US" altLang="ko-KR" b="1" dirty="0"/>
              <a:t>one that is the smallest</a:t>
            </a:r>
            <a:r>
              <a:rPr lang="en-US" altLang="ko-KR" dirty="0"/>
              <a:t> chunk </a:t>
            </a:r>
            <a:r>
              <a:rPr lang="en-US" altLang="ko-KR" b="1" dirty="0"/>
              <a:t>in the group</a:t>
            </a:r>
            <a:r>
              <a:rPr lang="en-US" altLang="ko-KR" dirty="0"/>
              <a:t> of candidates </a:t>
            </a:r>
          </a:p>
          <a:p>
            <a:r>
              <a:rPr lang="en-US" altLang="ko-KR" b="1" dirty="0"/>
              <a:t>Worst Fit</a:t>
            </a:r>
          </a:p>
          <a:p>
            <a:pPr lvl="1"/>
            <a:r>
              <a:rPr lang="en-US" altLang="ko-KR" dirty="0"/>
              <a:t>Finding the </a:t>
            </a:r>
            <a:r>
              <a:rPr lang="en-US" altLang="ko-KR" b="1" dirty="0"/>
              <a:t>largest free chunks</a:t>
            </a:r>
            <a:r>
              <a:rPr lang="en-US" altLang="ko-KR" dirty="0"/>
              <a:t> and allocate the requested amount</a:t>
            </a:r>
          </a:p>
          <a:p>
            <a:pPr lvl="1"/>
            <a:r>
              <a:rPr lang="en-US" altLang="ko-KR" b="1" dirty="0"/>
              <a:t>Keeping the remaining chunk</a:t>
            </a:r>
            <a:r>
              <a:rPr lang="en-US" altLang="ko-KR" dirty="0"/>
              <a:t> on the free list</a:t>
            </a:r>
          </a:p>
        </p:txBody>
      </p:sp>
    </p:spTree>
    <p:extLst>
      <p:ext uri="{BB962C8B-B14F-4D97-AF65-F5344CB8AC3E}">
        <p14:creationId xmlns:p14="http://schemas.microsoft.com/office/powerpoint/2010/main" val="245581748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Managing Free Space: Basic Strategies(Cont.)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First Fit</a:t>
            </a:r>
          </a:p>
          <a:p>
            <a:pPr lvl="1"/>
            <a:r>
              <a:rPr lang="en-US" altLang="ko-KR" dirty="0"/>
              <a:t>Finding the </a:t>
            </a:r>
            <a:r>
              <a:rPr lang="en-US" altLang="ko-KR" b="1" dirty="0"/>
              <a:t>first chunk</a:t>
            </a:r>
            <a:r>
              <a:rPr lang="en-US" altLang="ko-KR" dirty="0"/>
              <a:t> that is </a:t>
            </a:r>
            <a:r>
              <a:rPr lang="en-US" altLang="ko-KR" b="1" dirty="0"/>
              <a:t>big enough</a:t>
            </a:r>
            <a:r>
              <a:rPr lang="en-US" altLang="ko-KR" dirty="0"/>
              <a:t> for the request</a:t>
            </a:r>
          </a:p>
          <a:p>
            <a:pPr lvl="1"/>
            <a:r>
              <a:rPr lang="en-US" altLang="ko-KR" dirty="0"/>
              <a:t>Returning the requested amount and the remaining free space is kept free for other requests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Next Fit</a:t>
            </a:r>
          </a:p>
          <a:p>
            <a:pPr lvl="1"/>
            <a:r>
              <a:rPr lang="en-US" altLang="ko-KR" dirty="0"/>
              <a:t>Finding the first chunk that is big enough for the request</a:t>
            </a:r>
          </a:p>
          <a:p>
            <a:pPr lvl="1"/>
            <a:r>
              <a:rPr lang="en-US" altLang="ko-KR" dirty="0"/>
              <a:t>Searching at </a:t>
            </a:r>
            <a:r>
              <a:rPr lang="en-US" altLang="ko-KR" b="1" dirty="0"/>
              <a:t>where one was looking</a:t>
            </a:r>
            <a:r>
              <a:rPr lang="en-US" altLang="ko-KR" dirty="0"/>
              <a:t> at instead of the beginning of the list</a:t>
            </a:r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43448518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Examples of Basic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Allocation request size is 15 bytes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Result of Best Fit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Result of Worst Fit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What about First Fit and Next Fit?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43672" y="1803885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81009" y="1800803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373829" y="1628801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7390455" y="1957772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5052335" y="1957773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865338" y="1957773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5542889" y="1630980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6221395" y="1959951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/>
          <p:cNvSpPr/>
          <p:nvPr/>
        </p:nvSpPr>
        <p:spPr>
          <a:xfrm>
            <a:off x="6711949" y="1630980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71664" y="3316053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09001" y="3312971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4301821" y="3140969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7318447" y="3469940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4980327" y="3469941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3793330" y="3469941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5470881" y="3143148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6149387" y="3472119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6639941" y="3143148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84116" y="5054917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21453" y="5051835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4314273" y="4879833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7330899" y="5208804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4992779" y="5208805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3805782" y="5208805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/>
          <p:cNvSpPr/>
          <p:nvPr/>
        </p:nvSpPr>
        <p:spPr>
          <a:xfrm>
            <a:off x="5483333" y="4882012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6161839" y="5210983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6652393" y="4882012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857502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 Approaches: Segregated Lists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Segregated Lists</a:t>
            </a:r>
          </a:p>
          <a:p>
            <a:pPr lvl="1"/>
            <a:r>
              <a:rPr lang="en-US" altLang="ko-KR" dirty="0"/>
              <a:t>Keep dedicated lists for popular request sizes, others are served by the general memory allocator</a:t>
            </a:r>
          </a:p>
          <a:p>
            <a:pPr lvl="2"/>
            <a:r>
              <a:rPr lang="en-US" altLang="ko-KR" dirty="0"/>
              <a:t>Examples: kernel data structures such as locks, </a:t>
            </a:r>
            <a:r>
              <a:rPr lang="en-US" altLang="ko-KR" dirty="0" err="1"/>
              <a:t>i</a:t>
            </a:r>
            <a:r>
              <a:rPr lang="en-US" altLang="ko-KR" dirty="0"/>
              <a:t>-nodes, etc.</a:t>
            </a:r>
          </a:p>
          <a:p>
            <a:pPr lvl="1"/>
            <a:r>
              <a:rPr lang="en-US" altLang="ko-KR" dirty="0"/>
              <a:t>New complication arises</a:t>
            </a:r>
          </a:p>
          <a:p>
            <a:pPr lvl="2"/>
            <a:r>
              <a:rPr lang="en-US" altLang="ko-KR" b="1" dirty="0"/>
              <a:t>How much</a:t>
            </a:r>
            <a:r>
              <a:rPr lang="en-US" altLang="ko-KR" dirty="0"/>
              <a:t> memory should dedicate to </a:t>
            </a:r>
            <a:r>
              <a:rPr lang="en-US" altLang="ko-KR" b="1" dirty="0"/>
              <a:t>the pool of memory</a:t>
            </a:r>
            <a:r>
              <a:rPr lang="en-US" altLang="ko-KR" dirty="0"/>
              <a:t> that serves </a:t>
            </a:r>
            <a:r>
              <a:rPr lang="en-US" altLang="ko-KR" b="1" dirty="0"/>
              <a:t>specialized requests</a:t>
            </a:r>
            <a:r>
              <a:rPr lang="en-US" altLang="ko-KR" dirty="0"/>
              <a:t> of a given size?</a:t>
            </a:r>
          </a:p>
          <a:p>
            <a:pPr lvl="1"/>
            <a:r>
              <a:rPr lang="en-US" altLang="ko-KR" b="1" dirty="0"/>
              <a:t>Slab allocator</a:t>
            </a:r>
            <a:r>
              <a:rPr lang="en-US" altLang="ko-KR" dirty="0"/>
              <a:t> handles this issue</a:t>
            </a:r>
          </a:p>
        </p:txBody>
      </p:sp>
    </p:spTree>
    <p:extLst>
      <p:ext uri="{BB962C8B-B14F-4D97-AF65-F5344CB8AC3E}">
        <p14:creationId xmlns:p14="http://schemas.microsoft.com/office/powerpoint/2010/main" val="241018340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 Approaches: Segregated List(Cont.)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Slab Allocator</a:t>
            </a:r>
          </a:p>
          <a:p>
            <a:pPr lvl="1"/>
            <a:r>
              <a:rPr lang="en-US" altLang="ko-KR" dirty="0"/>
              <a:t>Allocate a number of object caches</a:t>
            </a:r>
          </a:p>
          <a:p>
            <a:pPr lvl="2"/>
            <a:r>
              <a:rPr lang="en-US" altLang="ko-KR" dirty="0"/>
              <a:t>The objects are likely to be requested frequently</a:t>
            </a:r>
          </a:p>
          <a:p>
            <a:pPr lvl="2"/>
            <a:r>
              <a:rPr lang="en-US" altLang="ko-KR" dirty="0"/>
              <a:t>e.g., locks, file-system </a:t>
            </a:r>
            <a:r>
              <a:rPr lang="en-US" altLang="ko-KR" dirty="0" err="1"/>
              <a:t>i</a:t>
            </a:r>
            <a:r>
              <a:rPr lang="en-US" altLang="ko-KR" dirty="0"/>
              <a:t>-nodes, etc.</a:t>
            </a:r>
          </a:p>
          <a:p>
            <a:pPr lvl="1"/>
            <a:r>
              <a:rPr lang="en-US" altLang="ko-KR" b="1" dirty="0"/>
              <a:t>Request some memory</a:t>
            </a:r>
            <a:r>
              <a:rPr lang="en-US" altLang="ko-KR" dirty="0"/>
              <a:t> from a more general memory allocator when </a:t>
            </a:r>
            <a:r>
              <a:rPr lang="en-US" altLang="ko-KR" b="1" dirty="0"/>
              <a:t>a given cache is running low</a:t>
            </a:r>
            <a:r>
              <a:rPr lang="en-US" altLang="ko-KR" dirty="0"/>
              <a:t> on free space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221144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 Approaches: Buddy Allocation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Binary Buddy Allocation – optimized for coalescing</a:t>
            </a:r>
          </a:p>
          <a:p>
            <a:pPr lvl="1"/>
            <a:r>
              <a:rPr lang="en-US" altLang="ko-KR" dirty="0"/>
              <a:t>When a request is made, search for free space by recursively dividing the total free space(size is power of 2) until a block that is big enough is found</a:t>
            </a:r>
          </a:p>
          <a:p>
            <a:pPr lvl="1"/>
            <a:r>
              <a:rPr lang="en-US" altLang="ko-KR" dirty="0"/>
              <a:t>The allocator </a:t>
            </a:r>
            <a:r>
              <a:rPr lang="en-US" altLang="ko-KR" b="1" dirty="0"/>
              <a:t>divides free space</a:t>
            </a:r>
            <a:r>
              <a:rPr lang="en-US" altLang="ko-KR" dirty="0"/>
              <a:t> by two </a:t>
            </a:r>
            <a:r>
              <a:rPr lang="en-US" altLang="ko-KR" b="1" dirty="0"/>
              <a:t>until</a:t>
            </a:r>
            <a:r>
              <a:rPr lang="en-US" altLang="ko-KR" dirty="0"/>
              <a:t> </a:t>
            </a:r>
            <a:r>
              <a:rPr lang="en-US" altLang="ko-KR" b="1" dirty="0"/>
              <a:t>a block</a:t>
            </a:r>
            <a:r>
              <a:rPr lang="en-US" altLang="ko-KR" dirty="0"/>
              <a:t> that is big enough to accommodate the request is</a:t>
            </a:r>
            <a:r>
              <a:rPr lang="en-US" altLang="ko-KR" b="1" dirty="0"/>
              <a:t> found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3227891" y="3174139"/>
            <a:ext cx="5328592" cy="2703133"/>
            <a:chOff x="1691680" y="2310043"/>
            <a:chExt cx="5328592" cy="2703133"/>
          </a:xfrm>
        </p:grpSpPr>
        <p:sp>
          <p:nvSpPr>
            <p:cNvPr id="6" name="직사각형 5"/>
            <p:cNvSpPr/>
            <p:nvPr/>
          </p:nvSpPr>
          <p:spPr>
            <a:xfrm>
              <a:off x="1691680" y="2310043"/>
              <a:ext cx="5328592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64 KB</a:t>
              </a:r>
              <a:endPara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691680" y="3082340"/>
              <a:ext cx="2664296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32 KB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691680" y="3822211"/>
              <a:ext cx="1332148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16 KB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355976" y="3082340"/>
              <a:ext cx="2664296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32 KB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023828" y="3822211"/>
              <a:ext cx="1332148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16 KB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691680" y="4581128"/>
              <a:ext cx="666074" cy="43204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8 KB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357754" y="4581128"/>
              <a:ext cx="666074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8 KB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16" name="직선 화살표 연결선 15"/>
            <p:cNvCxnSpPr>
              <a:endCxn id="8" idx="0"/>
            </p:cNvCxnSpPr>
            <p:nvPr/>
          </p:nvCxnSpPr>
          <p:spPr>
            <a:xfrm>
              <a:off x="3023828" y="2742091"/>
              <a:ext cx="0" cy="340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>
              <a:endCxn id="10" idx="0"/>
            </p:cNvCxnSpPr>
            <p:nvPr/>
          </p:nvCxnSpPr>
          <p:spPr>
            <a:xfrm>
              <a:off x="5688124" y="2742090"/>
              <a:ext cx="0" cy="3402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>
              <a:endCxn id="9" idx="0"/>
            </p:cNvCxnSpPr>
            <p:nvPr/>
          </p:nvCxnSpPr>
          <p:spPr>
            <a:xfrm>
              <a:off x="2357754" y="3514388"/>
              <a:ext cx="0" cy="3078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endCxn id="11" idx="0"/>
            </p:cNvCxnSpPr>
            <p:nvPr/>
          </p:nvCxnSpPr>
          <p:spPr>
            <a:xfrm>
              <a:off x="3689902" y="3514388"/>
              <a:ext cx="0" cy="3078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endCxn id="12" idx="0"/>
            </p:cNvCxnSpPr>
            <p:nvPr/>
          </p:nvCxnSpPr>
          <p:spPr>
            <a:xfrm>
              <a:off x="2024717" y="4254259"/>
              <a:ext cx="0" cy="326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>
              <a:endCxn id="13" idx="0"/>
            </p:cNvCxnSpPr>
            <p:nvPr/>
          </p:nvCxnSpPr>
          <p:spPr>
            <a:xfrm>
              <a:off x="2690791" y="4254259"/>
              <a:ext cx="0" cy="326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4119738" y="6056254"/>
            <a:ext cx="3544898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64KB free space for 7KB request</a:t>
            </a:r>
          </a:p>
        </p:txBody>
      </p:sp>
    </p:spTree>
    <p:extLst>
      <p:ext uri="{BB962C8B-B14F-4D97-AF65-F5344CB8AC3E}">
        <p14:creationId xmlns:p14="http://schemas.microsoft.com/office/powerpoint/2010/main" val="2200218200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 Approaches: Buddy Allocation(Cont.)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Buddy allocation can suffer from </a:t>
            </a:r>
            <a:r>
              <a:rPr lang="en-US" altLang="ko-KR" b="1" dirty="0"/>
              <a:t>internal fragmentation</a:t>
            </a:r>
            <a:endParaRPr lang="en-US" altLang="ko-KR" dirty="0"/>
          </a:p>
          <a:p>
            <a:r>
              <a:rPr lang="en-US" altLang="ko-KR" dirty="0"/>
              <a:t>Buddy system makes </a:t>
            </a:r>
            <a:r>
              <a:rPr lang="en-US" altLang="ko-KR" b="1" dirty="0"/>
              <a:t>coalescing</a:t>
            </a:r>
            <a:r>
              <a:rPr lang="en-US" altLang="ko-KR" dirty="0"/>
              <a:t> simple</a:t>
            </a:r>
          </a:p>
          <a:p>
            <a:pPr lvl="1"/>
            <a:r>
              <a:rPr lang="en-US" altLang="ko-KR" b="1" dirty="0"/>
              <a:t>Coalescing </a:t>
            </a:r>
            <a:r>
              <a:rPr lang="en-US" altLang="ko-KR" dirty="0"/>
              <a:t>two blocks into the next level of block</a:t>
            </a:r>
          </a:p>
          <a:p>
            <a:r>
              <a:rPr lang="en-US" altLang="ko-KR" dirty="0"/>
              <a:t>Other approaches use more advanced data structures to address scaling and multiprocessor systems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4167034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04.The_abstraction_the_process" id="{5B801708-C11A-406D-95E1-D700B4E34BA4}" vid="{C8ED2E06-4ECF-4161-8C72-D82D328D32F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OSTEP_Slides_Template</Template>
  <TotalTime>221</TotalTime>
  <Words>1915</Words>
  <Application>Microsoft Office PowerPoint</Application>
  <PresentationFormat>Widescreen</PresentationFormat>
  <Paragraphs>376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맑은 고딕</vt:lpstr>
      <vt:lpstr>Cambria Math</vt:lpstr>
      <vt:lpstr>Courier New</vt:lpstr>
      <vt:lpstr>HY견고딕</vt:lpstr>
      <vt:lpstr>Oswald</vt:lpstr>
      <vt:lpstr>Oswald</vt:lpstr>
      <vt:lpstr>Wingdings</vt:lpstr>
      <vt:lpstr>양식_공청회_발표자료-총괄-양식</vt:lpstr>
      <vt:lpstr>CMSC 125: Operating Systems</vt:lpstr>
      <vt:lpstr>Resources</vt:lpstr>
      <vt:lpstr>Acknowledgement</vt:lpstr>
      <vt:lpstr>PowerPoint Presentation</vt:lpstr>
      <vt:lpstr>Free-Space Management</vt:lpstr>
      <vt:lpstr>Assumptions</vt:lpstr>
      <vt:lpstr>Low-level Mechanisms</vt:lpstr>
      <vt:lpstr>Splitting</vt:lpstr>
      <vt:lpstr>Splitting(Cont.)</vt:lpstr>
      <vt:lpstr>Coalescing</vt:lpstr>
      <vt:lpstr>Tracking The Size of Allocated Regions</vt:lpstr>
      <vt:lpstr>The Header of Allocated Memory Chunk</vt:lpstr>
      <vt:lpstr>The Header of Allocated Memory Chunk(Cont.)</vt:lpstr>
      <vt:lpstr>Embedding A Free List</vt:lpstr>
      <vt:lpstr>Embedding A Free List(Cont.)</vt:lpstr>
      <vt:lpstr>A Heap With One Free Chunk</vt:lpstr>
      <vt:lpstr>Embedding A Free List: Allocation</vt:lpstr>
      <vt:lpstr>Embedding A Free List: Allocation(Cont.)</vt:lpstr>
      <vt:lpstr>Free Space With Chunks Allocated</vt:lpstr>
      <vt:lpstr>Free Space With free()</vt:lpstr>
      <vt:lpstr>Free Space With Freed Chunks</vt:lpstr>
      <vt:lpstr>Growing The Heap</vt:lpstr>
      <vt:lpstr>Managing Free Space: Basic Strategies</vt:lpstr>
      <vt:lpstr>Managing Free Space: Basic Strategies(Cont.)</vt:lpstr>
      <vt:lpstr>Examples of Basic Strategies</vt:lpstr>
      <vt:lpstr>Other Approaches: Segregated Lists</vt:lpstr>
      <vt:lpstr>Other Approaches: Segregated List(Cont.)</vt:lpstr>
      <vt:lpstr>Other Approaches: Buddy Allocation</vt:lpstr>
      <vt:lpstr>Other Approaches: Buddy Allocation(Cont.)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Anthony Hermocilla</dc:creator>
  <cp:lastModifiedBy>Joseph Anthony Hermocilla</cp:lastModifiedBy>
  <cp:revision>54</cp:revision>
  <cp:lastPrinted>2015-03-03T01:48:46Z</cp:lastPrinted>
  <dcterms:created xsi:type="dcterms:W3CDTF">2021-07-20T07:37:28Z</dcterms:created>
  <dcterms:modified xsi:type="dcterms:W3CDTF">2024-10-10T09:20:22Z</dcterms:modified>
</cp:coreProperties>
</file>