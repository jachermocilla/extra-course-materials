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21"/>
  </p:notesMasterIdLst>
  <p:sldIdLst>
    <p:sldId id="298" r:id="rId2"/>
    <p:sldId id="297" r:id="rId3"/>
    <p:sldId id="299" r:id="rId4"/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300" r:id="rId19"/>
    <p:sldId id="283" r:id="rId20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841" autoAdjust="0"/>
  </p:normalViewPr>
  <p:slideViewPr>
    <p:cSldViewPr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85751" y="880070"/>
            <a:ext cx="11715749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189326" y="2906713"/>
            <a:ext cx="10763325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OSwald" pitchFamily="2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dirty="0"/>
              <a:t>Chapter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55564"/>
            <a:ext cx="11715749" cy="5857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1" y="1000125"/>
            <a:ext cx="11715749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Content Level 1</a:t>
            </a:r>
            <a:endParaRPr lang="ko-KR" altLang="en-US" dirty="0"/>
          </a:p>
          <a:p>
            <a:pPr lvl="1"/>
            <a:r>
              <a:rPr lang="en-US" altLang="ko-KR" dirty="0"/>
              <a:t>Content Level 2</a:t>
            </a:r>
            <a:endParaRPr lang="ko-KR" altLang="en-US" dirty="0"/>
          </a:p>
          <a:p>
            <a:pPr lvl="2"/>
            <a:r>
              <a:rPr lang="en-US" altLang="ko-KR" dirty="0"/>
              <a:t>Content Level 3</a:t>
            </a:r>
            <a:endParaRPr lang="ko-KR" altLang="en-US" dirty="0"/>
          </a:p>
          <a:p>
            <a:pPr lvl="3"/>
            <a:r>
              <a:rPr lang="en-US" altLang="ko-KR" dirty="0"/>
              <a:t>Content Level 4</a:t>
            </a:r>
            <a:endParaRPr lang="ko-KR" altLang="en-US" dirty="0"/>
          </a:p>
          <a:p>
            <a:pPr lvl="4"/>
            <a:r>
              <a:rPr lang="en-US" altLang="ko-KR" dirty="0"/>
              <a:t>Content Level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effectLst/>
          <a:latin typeface="Oswald" pitchFamily="2" charset="0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Oswald" pitchFamily="2" charset="0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Oswald" pitchFamily="2" charset="0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Oswald" pitchFamily="2" charset="0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Oswald" pitchFamily="2" charset="0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chermocilla.org/" TargetMode="External"/><Relationship Id="rId7" Type="http://schemas.openxmlformats.org/officeDocument/2006/relationships/image" Target="../media/image4.png"/><Relationship Id="rId2" Type="http://schemas.openxmlformats.org/officeDocument/2006/relationships/hyperlink" Target="mailto:jchermocilla@up.edu.ph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remzi/OSTEP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ages.cs.wisc.edu/~remzi/OSTEP/Educators-Slides/Youjip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CA9A-319F-4C46-A9C0-D84A8DA9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CMSC 125: Operating Systems</a:t>
            </a:r>
            <a:endParaRPr lang="en-P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964F4-F3D4-4117-A3DF-16362E578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Instructor: </a:t>
            </a:r>
            <a:r>
              <a:rPr lang="en-US" sz="2800" b="1" dirty="0"/>
              <a:t>Joseph Anthony C. Hermocilla </a:t>
            </a:r>
          </a:p>
          <a:p>
            <a:r>
              <a:rPr lang="en-US" sz="2800" dirty="0"/>
              <a:t>Email: </a:t>
            </a:r>
            <a:r>
              <a:rPr lang="en-US" sz="2800" dirty="0">
                <a:hlinkClick r:id="rId2"/>
              </a:rPr>
              <a:t>jchermocilla@up.edu.ph</a:t>
            </a:r>
            <a:r>
              <a:rPr lang="en-US" sz="2800" dirty="0"/>
              <a:t> </a:t>
            </a:r>
          </a:p>
          <a:p>
            <a:r>
              <a:rPr lang="en-US" sz="2800" dirty="0"/>
              <a:t>Web: </a:t>
            </a:r>
            <a:r>
              <a:rPr lang="en-US" sz="2800" dirty="0">
                <a:hlinkClick r:id="rId3"/>
              </a:rPr>
              <a:t>https://jachermocilla.org</a:t>
            </a:r>
            <a:r>
              <a:rPr lang="en-US" sz="2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AAA8C-FD26-46BA-8AAE-E0C0ACBC6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254" y="5577621"/>
            <a:ext cx="1461313" cy="1256729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938BB10-89AB-4993-BA48-F6DB29DA81F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t="7505" r="6677" b="7505"/>
          <a:stretch/>
        </p:blipFill>
        <p:spPr>
          <a:xfrm>
            <a:off x="8210912" y="5592848"/>
            <a:ext cx="1325513" cy="1284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DE5F5-BDB3-4730-89D0-6BE9FEAA38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627" y="5577621"/>
            <a:ext cx="1284734" cy="1284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6C3E08-E0B2-48DF-AB25-861C963E92E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735" y="5500355"/>
            <a:ext cx="1377227" cy="13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4408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F3D9-6ADE-4AFF-A511-57621CDA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P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579F75-8F26-4C11-A534-9A1255EBE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648922"/>
            <a:ext cx="2523744" cy="39502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67945D-1D61-49F3-AC44-2F69D0840525}"/>
              </a:ext>
            </a:extLst>
          </p:cNvPr>
          <p:cNvSpPr txBox="1"/>
          <p:nvPr/>
        </p:nvSpPr>
        <p:spPr>
          <a:xfrm>
            <a:off x="190501" y="2708920"/>
            <a:ext cx="85697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>
                <a:latin typeface="Oswald" pitchFamily="2" charset="0"/>
              </a:rPr>
              <a:t>Book: </a:t>
            </a:r>
            <a:r>
              <a:rPr lang="en-PH" sz="2400" dirty="0">
                <a:latin typeface="Oswald" pitchFamily="2" charset="0"/>
                <a:hlinkClick r:id="rId3"/>
              </a:rPr>
              <a:t>https://pages.cs.wisc.edu/~remzi/OSTEP/</a:t>
            </a:r>
            <a:endParaRPr lang="en-PH" sz="2400" dirty="0">
              <a:latin typeface="Oswald" pitchFamily="2" charset="0"/>
            </a:endParaRPr>
          </a:p>
          <a:p>
            <a:endParaRPr lang="en-PH" sz="2400" dirty="0">
              <a:latin typeface="Oswald" pitchFamily="2" charset="0"/>
            </a:endParaRPr>
          </a:p>
          <a:p>
            <a:r>
              <a:rPr lang="en-PH" sz="2400" dirty="0">
                <a:latin typeface="Oswald" pitchFamily="2" charset="0"/>
              </a:rPr>
              <a:t>Slides Template: </a:t>
            </a:r>
          </a:p>
          <a:p>
            <a:r>
              <a:rPr lang="en-PH" sz="2400" dirty="0">
                <a:latin typeface="Oswald" pitchFamily="2" charset="0"/>
                <a:hlinkClick r:id="rId4"/>
              </a:rPr>
              <a:t>https://pages.cs.wisc.edu/~remzi/OSTEP/Educators-Slides/Youjip/</a:t>
            </a:r>
            <a:r>
              <a:rPr lang="en-PH" sz="2400" b="1" dirty="0">
                <a:latin typeface="Oswald" pitchFamily="2" charset="0"/>
              </a:rPr>
              <a:t> </a:t>
            </a:r>
            <a:endParaRPr lang="en-PH" sz="2400" dirty="0"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938434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Acknowledgement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8313" y="2636912"/>
            <a:ext cx="8786812" cy="1368152"/>
          </a:xfrm>
        </p:spPr>
        <p:txBody>
          <a:bodyPr/>
          <a:lstStyle/>
          <a:p>
            <a:r>
              <a:rPr lang="en-US" altLang="ko-KR" sz="1600" dirty="0"/>
              <a:t>This lecture slide set was initially developed for Operating System course in Computer Science Dept. at </a:t>
            </a:r>
            <a:r>
              <a:rPr lang="en-US" altLang="ko-KR" sz="1600" dirty="0" err="1"/>
              <a:t>Hanyang</a:t>
            </a:r>
            <a:r>
              <a:rPr lang="en-US" altLang="ko-KR" sz="1600" dirty="0"/>
              <a:t> University. This lecture slide set is for OSTEP book written by </a:t>
            </a:r>
            <a:r>
              <a:rPr lang="en-US" altLang="ko-KR" sz="1600" dirty="0" err="1"/>
              <a:t>Remzi</a:t>
            </a:r>
            <a:r>
              <a:rPr lang="en-US" altLang="ko-KR" sz="1600" dirty="0"/>
              <a:t> and Andrea at University of Wisconsin.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5867895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18. Paging: Introduction</a:t>
            </a:r>
          </a:p>
          <a:p>
            <a:pPr lvl="0"/>
            <a:r>
              <a:rPr lang="en-US" altLang="ko-KR" sz="1600" dirty="0">
                <a:solidFill>
                  <a:srgbClr val="1F497D">
                    <a:lumMod val="50000"/>
                  </a:srgbClr>
                </a:solidFill>
              </a:rPr>
              <a:t>Operating System: Three Easy Pieces</a:t>
            </a:r>
            <a:endParaRPr lang="ko-KR" altLang="en-US" sz="1600" dirty="0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341589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Split</a:t>
            </a:r>
            <a:r>
              <a:rPr lang="en-US" altLang="ko-KR" b="1" dirty="0"/>
              <a:t> virtual address space</a:t>
            </a:r>
            <a:r>
              <a:rPr lang="en-US" altLang="ko-KR" dirty="0"/>
              <a:t> into </a:t>
            </a:r>
            <a:r>
              <a:rPr lang="en-US" altLang="ko-KR" b="1" dirty="0"/>
              <a:t>fixed-size</a:t>
            </a:r>
            <a:r>
              <a:rPr lang="en-US" altLang="ko-KR" dirty="0"/>
              <a:t> units called a </a:t>
            </a:r>
            <a:r>
              <a:rPr lang="en-US" altLang="ko-KR" b="1" dirty="0"/>
              <a:t>page</a:t>
            </a:r>
            <a:endParaRPr lang="en-US" altLang="ko-KR" dirty="0"/>
          </a:p>
          <a:p>
            <a:pPr lvl="1"/>
            <a:r>
              <a:rPr lang="en-US" altLang="ko-KR" dirty="0"/>
              <a:t>Unlike in segmentation where sizes for each logical segments/sections (code, stack, heap, etc.) are variable</a:t>
            </a:r>
          </a:p>
          <a:p>
            <a:r>
              <a:rPr lang="en-US" altLang="ko-KR" dirty="0"/>
              <a:t>Split </a:t>
            </a:r>
            <a:r>
              <a:rPr lang="en-US" altLang="ko-KR" b="1" dirty="0"/>
              <a:t>physical memory</a:t>
            </a:r>
            <a:r>
              <a:rPr lang="en-US" altLang="ko-KR" dirty="0"/>
              <a:t> into </a:t>
            </a:r>
            <a:r>
              <a:rPr lang="en-US" altLang="ko-KR" b="1" dirty="0"/>
              <a:t>fixed-size</a:t>
            </a:r>
            <a:r>
              <a:rPr lang="en-US" altLang="ko-KR" dirty="0"/>
              <a:t> units </a:t>
            </a:r>
            <a:r>
              <a:rPr lang="en-US" altLang="ko-KR" b="1" dirty="0"/>
              <a:t>page frames</a:t>
            </a:r>
            <a:endParaRPr lang="en-US" altLang="ko-KR" dirty="0"/>
          </a:p>
          <a:p>
            <a:r>
              <a:rPr lang="en-US" altLang="ko-KR" dirty="0"/>
              <a:t>A</a:t>
            </a:r>
            <a:r>
              <a:rPr lang="en-US" altLang="ko-KR" b="1" dirty="0"/>
              <a:t> page table</a:t>
            </a:r>
            <a:r>
              <a:rPr lang="en-US" altLang="ko-KR" dirty="0"/>
              <a:t> per process is needed </a:t>
            </a:r>
            <a:r>
              <a:rPr lang="en-US" altLang="ko-KR" b="1" dirty="0"/>
              <a:t>to translate</a:t>
            </a:r>
            <a:r>
              <a:rPr lang="en-US" altLang="ko-KR" dirty="0"/>
              <a:t> the </a:t>
            </a:r>
            <a:r>
              <a:rPr lang="en-US" altLang="ko-KR" b="1" dirty="0"/>
              <a:t>virtual address</a:t>
            </a:r>
            <a:r>
              <a:rPr lang="en-US" altLang="ko-KR" dirty="0"/>
              <a:t> to </a:t>
            </a:r>
            <a:r>
              <a:rPr lang="en-US" altLang="ko-KR" b="1" dirty="0"/>
              <a:t>physical address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13420037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Advantages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SzPct val="65000"/>
              <a:buFont typeface="Wingdings" pitchFamily="2" charset="2"/>
              <a:buChar char=""/>
            </a:pPr>
            <a:r>
              <a:rPr lang="en-US" altLang="ko-KR" sz="2000" b="1" dirty="0"/>
              <a:t>Flexibility: </a:t>
            </a:r>
            <a:r>
              <a:rPr lang="en-US" altLang="ko-KR" sz="2000" dirty="0"/>
              <a:t>Supporting the abstraction of address space effectively</a:t>
            </a:r>
            <a:endParaRPr lang="ko-KR" altLang="en-US" sz="2000" dirty="0"/>
          </a:p>
          <a:p>
            <a:pPr lvl="1"/>
            <a:r>
              <a:rPr lang="en-US" altLang="ko-KR" dirty="0"/>
              <a:t>Don’t need assumptions how heap and stack grow and are used</a:t>
            </a:r>
          </a:p>
          <a:p>
            <a:r>
              <a:rPr lang="en-US" altLang="ko-KR" b="1" dirty="0"/>
              <a:t>Simplicity</a:t>
            </a:r>
            <a:r>
              <a:rPr lang="en-US" altLang="ko-KR" dirty="0"/>
              <a:t>: ease of free-space management</a:t>
            </a:r>
          </a:p>
          <a:p>
            <a:pPr lvl="1"/>
            <a:r>
              <a:rPr lang="en-US" altLang="ko-KR" dirty="0"/>
              <a:t>The page in virtual address space and the page frame in physical memory are the same size</a:t>
            </a:r>
          </a:p>
          <a:p>
            <a:pPr lvl="1"/>
            <a:r>
              <a:rPr lang="en-US" altLang="ko-KR" dirty="0"/>
              <a:t>Easy to allocate and maintain a free list</a:t>
            </a:r>
          </a:p>
        </p:txBody>
      </p:sp>
    </p:spTree>
    <p:extLst>
      <p:ext uri="{BB962C8B-B14F-4D97-AF65-F5344CB8AC3E}">
        <p14:creationId xmlns:p14="http://schemas.microsoft.com/office/powerpoint/2010/main" val="3462384869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 Simple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128-byte physical memory with 16-byte page frames</a:t>
            </a:r>
            <a:endParaRPr lang="ko-KR" altLang="en-US" dirty="0"/>
          </a:p>
          <a:p>
            <a:r>
              <a:rPr lang="en-US" altLang="ko-KR" dirty="0"/>
              <a:t>64-byte virtual address space with 16-byte pages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847528" y="2924944"/>
            <a:ext cx="4453820" cy="2332746"/>
            <a:chOff x="1580353" y="3207007"/>
            <a:chExt cx="4505690" cy="2332746"/>
          </a:xfrm>
        </p:grpSpPr>
        <p:sp>
          <p:nvSpPr>
            <p:cNvPr id="6" name="직사각형 5"/>
            <p:cNvSpPr/>
            <p:nvPr/>
          </p:nvSpPr>
          <p:spPr>
            <a:xfrm>
              <a:off x="2726259" y="3367162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726259" y="3799210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26259" y="4227458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726259" y="4659506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66219" y="3207007"/>
              <a:ext cx="36004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94211" y="3600480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94211" y="4067303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94211" y="4499351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48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94211" y="4931399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71043" y="3357219"/>
              <a:ext cx="1715000" cy="4977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0 of                            the address space)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04373" y="3855079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1)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93697" y="4283326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2)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04373" y="4715374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3)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80353" y="5219444"/>
              <a:ext cx="3933717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 Simple 64-byte Virtual Address Space(AS)</a:t>
              </a:r>
              <a:endPara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5956560" y="1844824"/>
            <a:ext cx="4531929" cy="4751947"/>
            <a:chOff x="2024895" y="1733326"/>
            <a:chExt cx="4896544" cy="4751947"/>
          </a:xfrm>
        </p:grpSpPr>
        <p:sp>
          <p:nvSpPr>
            <p:cNvPr id="49" name="TextBox 48"/>
            <p:cNvSpPr txBox="1"/>
            <p:nvPr/>
          </p:nvSpPr>
          <p:spPr>
            <a:xfrm>
              <a:off x="2746987" y="1733326"/>
              <a:ext cx="6024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13522" y="221763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411957" y="1887700"/>
              <a:ext cx="1456785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reserved for OS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11957" y="289063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411957" y="238657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411957" y="3389510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11957" y="388838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411957" y="439244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024895" y="5962053"/>
              <a:ext cx="48965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64-Byte Virtual Address Space Placed In 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411956" y="4891320"/>
              <a:ext cx="1455993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411957" y="5395376"/>
              <a:ext cx="1456784" cy="504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13522" y="272011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13523" y="325101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713521" y="374988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713525" y="425394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13525" y="475282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96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13522" y="5260138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112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13521" y="5724544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03546" y="1838483"/>
              <a:ext cx="1685014" cy="51765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0 of                           physical memory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60116" y="2478450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1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60116" y="2979915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60116" y="3478792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3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960116" y="398025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960116" y="4481726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5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60116" y="4983193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60116" y="548724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7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061474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4602" y="836712"/>
            <a:ext cx="8786812" cy="5501258"/>
          </a:xfrm>
        </p:spPr>
        <p:txBody>
          <a:bodyPr/>
          <a:lstStyle/>
          <a:p>
            <a:r>
              <a:rPr lang="en-US" altLang="ko-KR" dirty="0"/>
              <a:t>Two components in the virtual address</a:t>
            </a:r>
          </a:p>
          <a:p>
            <a:pPr lvl="1"/>
            <a:r>
              <a:rPr lang="en-US" altLang="ko-KR" b="1" dirty="0"/>
              <a:t>VPN</a:t>
            </a:r>
            <a:r>
              <a:rPr lang="en-US" altLang="ko-KR" dirty="0"/>
              <a:t>: virtual page number</a:t>
            </a:r>
          </a:p>
          <a:p>
            <a:pPr lvl="1"/>
            <a:r>
              <a:rPr lang="en-US" altLang="ko-KR" b="1" dirty="0"/>
              <a:t>Offset</a:t>
            </a:r>
            <a:r>
              <a:rPr lang="en-US" altLang="ko-KR" dirty="0"/>
              <a:t>: offset within the page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Example: virtual address 21 in 64-byte address space</a:t>
            </a:r>
          </a:p>
          <a:p>
            <a:pPr lvl="1"/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4367808" y="2437398"/>
            <a:ext cx="3024336" cy="1063610"/>
            <a:chOff x="2915816" y="3429000"/>
            <a:chExt cx="3024336" cy="1063610"/>
          </a:xfrm>
        </p:grpSpPr>
        <p:sp>
          <p:nvSpPr>
            <p:cNvPr id="13" name="직사각형 12"/>
            <p:cNvSpPr/>
            <p:nvPr/>
          </p:nvSpPr>
          <p:spPr>
            <a:xfrm>
              <a:off x="291581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Va5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419872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Va4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923928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Va3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427984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Va2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932040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43609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915816" y="3754529"/>
              <a:ext cx="936104" cy="162022"/>
              <a:chOff x="1763688" y="3699031"/>
              <a:chExt cx="1008112" cy="162022"/>
            </a:xfrm>
          </p:grpSpPr>
          <p:sp>
            <p:nvSpPr>
              <p:cNvPr id="19" name="왼쪽 대괄호 18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연결선 21"/>
              <p:cNvCxnSpPr>
                <a:stCxn id="19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그룹 27"/>
            <p:cNvGrpSpPr/>
            <p:nvPr/>
          </p:nvGrpSpPr>
          <p:grpSpPr>
            <a:xfrm>
              <a:off x="3995936" y="3754529"/>
              <a:ext cx="1944216" cy="162023"/>
              <a:chOff x="2771800" y="3700791"/>
              <a:chExt cx="2016224" cy="160263"/>
            </a:xfrm>
          </p:grpSpPr>
          <p:sp>
            <p:nvSpPr>
              <p:cNvPr id="20" name="왼쪽 대괄호 19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연결선 24"/>
              <p:cNvCxnSpPr>
                <a:stCxn id="20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3059832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44988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443981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943872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447928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5951984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6456040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696009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4439816" y="4744640"/>
            <a:ext cx="936104" cy="162022"/>
            <a:chOff x="1763688" y="3699031"/>
            <a:chExt cx="1008112" cy="162022"/>
          </a:xfrm>
        </p:grpSpPr>
        <p:sp>
          <p:nvSpPr>
            <p:cNvPr id="95" name="왼쪽 대괄호 94"/>
            <p:cNvSpPr/>
            <p:nvPr/>
          </p:nvSpPr>
          <p:spPr>
            <a:xfrm rot="5400000">
              <a:off x="2213736" y="3302990"/>
              <a:ext cx="108015" cy="1008112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/>
            <p:cNvCxnSpPr>
              <a:stCxn id="95" idx="1"/>
            </p:cNvCxnSpPr>
            <p:nvPr/>
          </p:nvCxnSpPr>
          <p:spPr>
            <a:xfrm flipH="1" flipV="1">
              <a:off x="2267743" y="3699031"/>
              <a:ext cx="1" cy="54008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그룹 96"/>
          <p:cNvGrpSpPr/>
          <p:nvPr/>
        </p:nvGrpSpPr>
        <p:grpSpPr>
          <a:xfrm>
            <a:off x="5519936" y="4744641"/>
            <a:ext cx="1944216" cy="162023"/>
            <a:chOff x="2771800" y="3700791"/>
            <a:chExt cx="2016224" cy="160263"/>
          </a:xfrm>
        </p:grpSpPr>
        <p:sp>
          <p:nvSpPr>
            <p:cNvPr id="98" name="왼쪽 대괄호 97"/>
            <p:cNvSpPr/>
            <p:nvPr/>
          </p:nvSpPr>
          <p:spPr>
            <a:xfrm rot="5400000">
              <a:off x="3725905" y="2798935"/>
              <a:ext cx="108014" cy="2016224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/>
            <p:cNvCxnSpPr>
              <a:stCxn id="98" idx="1"/>
            </p:cNvCxnSpPr>
            <p:nvPr/>
          </p:nvCxnSpPr>
          <p:spPr>
            <a:xfrm flipV="1">
              <a:off x="3779912" y="3700791"/>
              <a:ext cx="0" cy="52249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4583832" y="4365105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VPN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168988" y="4365105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offset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41850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virtual address 21 in 64-byte address space</a:t>
            </a:r>
          </a:p>
          <a:p>
            <a:pPr lvl="1"/>
            <a:endParaRPr lang="ko-KR" altLang="en-US" dirty="0"/>
          </a:p>
        </p:txBody>
      </p:sp>
      <p:grpSp>
        <p:nvGrpSpPr>
          <p:cNvPr id="45" name="그룹 44"/>
          <p:cNvGrpSpPr/>
          <p:nvPr/>
        </p:nvGrpSpPr>
        <p:grpSpPr>
          <a:xfrm>
            <a:off x="3359696" y="1700808"/>
            <a:ext cx="4680520" cy="3979936"/>
            <a:chOff x="1403648" y="1465288"/>
            <a:chExt cx="4680520" cy="3979936"/>
          </a:xfrm>
        </p:grpSpPr>
        <p:sp>
          <p:nvSpPr>
            <p:cNvPr id="46" name="직사각형 45"/>
            <p:cNvSpPr/>
            <p:nvPr/>
          </p:nvSpPr>
          <p:spPr>
            <a:xfrm>
              <a:off x="305983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563888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67944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572000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076056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58011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3059832" y="1844824"/>
              <a:ext cx="936104" cy="162022"/>
              <a:chOff x="1763688" y="3699031"/>
              <a:chExt cx="1008112" cy="162022"/>
            </a:xfrm>
          </p:grpSpPr>
          <p:sp>
            <p:nvSpPr>
              <p:cNvPr id="85" name="왼쪽 대괄호 84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6" name="직선 연결선 85"/>
              <p:cNvCxnSpPr>
                <a:stCxn id="85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/>
            <p:cNvGrpSpPr/>
            <p:nvPr/>
          </p:nvGrpSpPr>
          <p:grpSpPr>
            <a:xfrm>
              <a:off x="4139952" y="1844824"/>
              <a:ext cx="1944216" cy="162023"/>
              <a:chOff x="2771800" y="3700791"/>
              <a:chExt cx="2016224" cy="160263"/>
            </a:xfrm>
          </p:grpSpPr>
          <p:sp>
            <p:nvSpPr>
              <p:cNvPr id="83" name="왼쪽 대괄호 82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4" name="직선 연결선 83"/>
              <p:cNvCxnSpPr>
                <a:stCxn id="83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3203848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789004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05983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3563888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067944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572000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76056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558011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 rot="10800000">
              <a:off x="2555776" y="4902990"/>
              <a:ext cx="1440160" cy="180518"/>
              <a:chOff x="1763688" y="3699031"/>
              <a:chExt cx="1008112" cy="162022"/>
            </a:xfrm>
          </p:grpSpPr>
          <p:sp>
            <p:nvSpPr>
              <p:cNvPr id="81" name="왼쪽 대괄호 80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2" name="직선 연결선 81"/>
              <p:cNvCxnSpPr>
                <a:stCxn id="81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그룹 62"/>
            <p:cNvGrpSpPr/>
            <p:nvPr/>
          </p:nvGrpSpPr>
          <p:grpSpPr>
            <a:xfrm rot="10800000">
              <a:off x="4139952" y="4902991"/>
              <a:ext cx="1944216" cy="162023"/>
              <a:chOff x="2771800" y="3700791"/>
              <a:chExt cx="2016224" cy="160263"/>
            </a:xfrm>
          </p:grpSpPr>
          <p:sp>
            <p:nvSpPr>
              <p:cNvPr id="79" name="왼쪽 대괄호 78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0" name="직선 연결선 79"/>
              <p:cNvCxnSpPr>
                <a:stCxn id="79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2951821" y="512491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PFN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89004" y="511996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555776" y="4346443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79713" y="2061778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403648" y="4327864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Physical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2555777" y="2996952"/>
              <a:ext cx="1440160" cy="936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Address Translation</a:t>
              </a:r>
              <a:endPara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cxnSp>
          <p:nvCxnSpPr>
            <p:cNvPr id="70" name="직선 화살표 연결선 69"/>
            <p:cNvCxnSpPr>
              <a:stCxn id="51" idx="2"/>
              <a:endCxn id="61" idx="0"/>
            </p:cNvCxnSpPr>
            <p:nvPr/>
          </p:nvCxnSpPr>
          <p:spPr>
            <a:xfrm>
              <a:off x="5832140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>
              <a:stCxn id="50" idx="2"/>
              <a:endCxn id="60" idx="0"/>
            </p:cNvCxnSpPr>
            <p:nvPr/>
          </p:nvCxnSpPr>
          <p:spPr>
            <a:xfrm>
              <a:off x="5328084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49" idx="2"/>
              <a:endCxn id="59" idx="0"/>
            </p:cNvCxnSpPr>
            <p:nvPr/>
          </p:nvCxnSpPr>
          <p:spPr>
            <a:xfrm>
              <a:off x="4824028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48" idx="2"/>
              <a:endCxn id="58" idx="0"/>
            </p:cNvCxnSpPr>
            <p:nvPr/>
          </p:nvCxnSpPr>
          <p:spPr>
            <a:xfrm>
              <a:off x="4319972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/>
            <p:nvPr/>
          </p:nvCxnSpPr>
          <p:spPr>
            <a:xfrm>
              <a:off x="3815916" y="2635529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/>
            <p:nvPr/>
          </p:nvCxnSpPr>
          <p:spPr>
            <a:xfrm>
              <a:off x="3311860" y="2635529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/>
            <p:cNvCxnSpPr/>
            <p:nvPr/>
          </p:nvCxnSpPr>
          <p:spPr>
            <a:xfrm>
              <a:off x="2807804" y="3976634"/>
              <a:ext cx="0" cy="3013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/>
            <p:nvPr/>
          </p:nvCxnSpPr>
          <p:spPr>
            <a:xfrm>
              <a:off x="3311860" y="3976181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/>
            <p:cNvCxnSpPr/>
            <p:nvPr/>
          </p:nvCxnSpPr>
          <p:spPr>
            <a:xfrm>
              <a:off x="3815916" y="3975516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190612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Where Are Page Tables Stored?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1" dirty="0"/>
                  <a:t>Pages tables</a:t>
                </a:r>
                <a:r>
                  <a:rPr lang="en-US" altLang="ko-KR" dirty="0"/>
                  <a:t> map the Virtual Page Number (VPN) to Physical/Page Frame Number (PFN)</a:t>
                </a:r>
              </a:p>
              <a:p>
                <a:r>
                  <a:rPr lang="en-US" altLang="ko-KR" dirty="0"/>
                  <a:t>Page tables can get awfully large</a:t>
                </a:r>
              </a:p>
              <a:p>
                <a:pPr lvl="1"/>
                <a:r>
                  <a:rPr lang="en-US" altLang="ko-KR" dirty="0"/>
                  <a:t>32-bit address space with 4-KB pages, 20 bits for VPN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𝑀𝐵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= 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20</m:t>
                        </m:r>
                      </m:sup>
                    </m:sSup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𝑒𝑛𝑡𝑟𝑖𝑒𝑠</m:t>
                    </m:r>
                    <m:r>
                      <a:rPr lang="en-US" altLang="ko-KR" b="0" i="1" smtClean="0">
                        <a:latin typeface="Cambria Math"/>
                      </a:rPr>
                      <m:t> ∗4 </m:t>
                    </m:r>
                    <m:r>
                      <a:rPr lang="en-US" altLang="ko-KR" b="0" i="1" smtClean="0">
                        <a:latin typeface="Cambria Math"/>
                      </a:rPr>
                      <m:t>𝐵𝑦𝑡𝑒𝑠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𝑝𝑒𝑟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𝑝𝑎𝑔𝑒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𝑡𝑎𝑏𝑙𝑒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𝑒𝑛𝑡𝑟𝑦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Page tables </a:t>
                </a:r>
                <a:r>
                  <a:rPr lang="en-US" altLang="ko-KR" b="1" dirty="0"/>
                  <a:t>for each process </a:t>
                </a:r>
                <a:r>
                  <a:rPr lang="en-US" altLang="ko-KR" dirty="0"/>
                  <a:t>are stored in </a:t>
                </a:r>
                <a:r>
                  <a:rPr lang="en-US" altLang="ko-KR" b="1" dirty="0"/>
                  <a:t>memory</a:t>
                </a:r>
                <a:r>
                  <a:rPr lang="en-US" altLang="ko-KR" dirty="0"/>
                  <a:t> (may become very big in size)</a:t>
                </a:r>
              </a:p>
              <a:p>
                <a:pPr lvl="1"/>
                <a:r>
                  <a:rPr lang="en-US" altLang="ko-KR" b="1" dirty="0"/>
                  <a:t>Note: One page table per process!</a:t>
                </a:r>
              </a:p>
              <a:p>
                <a:pPr lvl="1"/>
                <a:r>
                  <a:rPr lang="en-US" altLang="ko-KR" dirty="0"/>
                  <a:t>Example: Given a 32-bit address space with 4KB pages</a:t>
                </a:r>
              </a:p>
              <a:p>
                <a:pPr lvl="2"/>
                <a:r>
                  <a:rPr lang="en-US" altLang="ko-KR" dirty="0"/>
                  <a:t>20 bits will be used for VPN and 12 bits for offset</a:t>
                </a:r>
              </a:p>
              <a:p>
                <a:pPr lvl="2"/>
                <a:r>
                  <a:rPr lang="en-US" altLang="ko-KR" dirty="0"/>
                  <a:t>Assume four bytes will be used to store an entry in the page table -&gt; 4MB page table per process is needed!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696856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Page Table in Kernel Physical Memory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41235" y="1412777"/>
            <a:ext cx="602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07770" y="1897088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06205" y="1567151"/>
            <a:ext cx="1456785" cy="498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3 7 5 2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706205" y="2570084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706205" y="206602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706205" y="3068961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706205" y="356783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706205" y="4071894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3833" y="5680994"/>
            <a:ext cx="17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706204" y="4570770"/>
            <a:ext cx="1455993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706204" y="5074826"/>
            <a:ext cx="145678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7770" y="239956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07771" y="2930461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07769" y="3429338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07773" y="393339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07773" y="4432271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07770" y="4939589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07769" y="5403995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84032" y="1656434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0 of physical memory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56040" y="2157901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1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56040" y="2659366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2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56040" y="315824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3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56040" y="3659710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4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56040" y="4161177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5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56040" y="4662644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6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56040" y="5166700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7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8201493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In The Page Table?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page table is just a </a:t>
            </a:r>
            <a:r>
              <a:rPr lang="en-US" altLang="ko-KR" b="1" dirty="0"/>
              <a:t>data structure</a:t>
            </a:r>
            <a:r>
              <a:rPr lang="en-US" altLang="ko-KR" dirty="0"/>
              <a:t> that is used to map the virtual address to physical address</a:t>
            </a:r>
          </a:p>
          <a:p>
            <a:r>
              <a:rPr lang="en-US" altLang="ko-KR" dirty="0"/>
              <a:t>Simplest form: a </a:t>
            </a:r>
            <a:r>
              <a:rPr lang="en-US" altLang="ko-KR" b="1" dirty="0"/>
              <a:t>Linear Page Table</a:t>
            </a:r>
            <a:r>
              <a:rPr lang="en-US" altLang="ko-KR" dirty="0"/>
              <a:t> (an array) </a:t>
            </a:r>
          </a:p>
          <a:p>
            <a:pPr lvl="1"/>
            <a:r>
              <a:rPr lang="en-US" altLang="ko-KR" dirty="0"/>
              <a:t>The OS </a:t>
            </a:r>
            <a:r>
              <a:rPr lang="en-US" altLang="ko-KR" b="1" dirty="0"/>
              <a:t>indexes</a:t>
            </a:r>
            <a:r>
              <a:rPr lang="en-US" altLang="ko-KR" dirty="0"/>
              <a:t> the array (</a:t>
            </a:r>
            <a:r>
              <a:rPr lang="en-US" altLang="ko-KR" b="1" dirty="0"/>
              <a:t>page table</a:t>
            </a:r>
            <a:r>
              <a:rPr lang="en-US" altLang="ko-KR" dirty="0"/>
              <a:t>) by VPN, and looks up the </a:t>
            </a:r>
            <a:r>
              <a:rPr lang="en-US" altLang="ko-KR" b="1" dirty="0"/>
              <a:t>page table entry (PTE) </a:t>
            </a:r>
            <a:r>
              <a:rPr lang="en-US" altLang="ko-KR" dirty="0"/>
              <a:t>which contain the PFN and other flags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685466828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Flags Of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Valid Bit</a:t>
            </a:r>
            <a:r>
              <a:rPr lang="en-US" altLang="ko-KR" dirty="0"/>
              <a:t>: Indicating whether the particular translation is valid</a:t>
            </a:r>
          </a:p>
          <a:p>
            <a:r>
              <a:rPr lang="en-US" altLang="ko-KR" b="1" dirty="0"/>
              <a:t>Protection Bit</a:t>
            </a:r>
            <a:r>
              <a:rPr lang="en-US" altLang="ko-KR" dirty="0"/>
              <a:t>: Indicating whether the page could be read from, written to, or executed from</a:t>
            </a:r>
          </a:p>
          <a:p>
            <a:r>
              <a:rPr lang="en-US" altLang="ko-KR" b="1" dirty="0"/>
              <a:t>Present Bit</a:t>
            </a:r>
            <a:r>
              <a:rPr lang="en-US" altLang="ko-KR" dirty="0"/>
              <a:t>: Indicating whether this page is in physical memory or on disk(swapped out)</a:t>
            </a:r>
          </a:p>
          <a:p>
            <a:r>
              <a:rPr lang="en-US" altLang="ko-KR" b="1" dirty="0"/>
              <a:t>Dirty Bit</a:t>
            </a:r>
            <a:r>
              <a:rPr lang="en-US" altLang="ko-KR" dirty="0"/>
              <a:t>: Indicating whether the page has been modified since it was brought into memory</a:t>
            </a:r>
          </a:p>
          <a:p>
            <a:r>
              <a:rPr lang="en-US" altLang="ko-KR" b="1" dirty="0"/>
              <a:t>Reference Bit(Accessed Bit): </a:t>
            </a:r>
            <a:r>
              <a:rPr lang="en-US" altLang="ko-KR" dirty="0"/>
              <a:t>Indicating that a page has been accessed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430808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x86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P: present</a:t>
            </a:r>
          </a:p>
          <a:p>
            <a:r>
              <a:rPr lang="en-US" altLang="ko-KR" dirty="0"/>
              <a:t>R/W: read/write bit</a:t>
            </a:r>
          </a:p>
          <a:p>
            <a:r>
              <a:rPr lang="en-US" altLang="ko-KR" dirty="0"/>
              <a:t>U/S: supervisor</a:t>
            </a:r>
          </a:p>
          <a:p>
            <a:r>
              <a:rPr lang="en-US" altLang="ko-KR" dirty="0"/>
              <a:t>A: accessed bit</a:t>
            </a:r>
          </a:p>
          <a:p>
            <a:r>
              <a:rPr lang="en-US" altLang="ko-KR" dirty="0"/>
              <a:t>D: dirty bit</a:t>
            </a:r>
          </a:p>
          <a:p>
            <a:r>
              <a:rPr lang="en-US" altLang="ko-KR" dirty="0"/>
              <a:t>PFN: the page frame number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2567608" y="1340768"/>
            <a:ext cx="7029456" cy="763136"/>
            <a:chOff x="899592" y="1657752"/>
            <a:chExt cx="7029456" cy="763136"/>
          </a:xfrm>
        </p:grpSpPr>
        <p:graphicFrame>
          <p:nvGraphicFramePr>
            <p:cNvPr id="18" name="내용 개체 틀 11"/>
            <p:cNvGraphicFramePr>
              <a:graphicFrameLocks/>
            </p:cNvGraphicFramePr>
            <p:nvPr/>
          </p:nvGraphicFramePr>
          <p:xfrm>
            <a:off x="899592" y="1657752"/>
            <a:ext cx="7029456" cy="2743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1967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4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5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6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7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8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9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3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31"/>
                      </a:ext>
                    </a:extLst>
                  </a:gridCol>
                </a:tblGrid>
                <a:tr h="216024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9" name="직사각형 18"/>
            <p:cNvSpPr/>
            <p:nvPr/>
          </p:nvSpPr>
          <p:spPr>
            <a:xfrm>
              <a:off x="899592" y="1916832"/>
              <a:ext cx="4392488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PFN</a:t>
              </a:r>
              <a:endPara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92079" y="1916832"/>
              <a:ext cx="658800" cy="50405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950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G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170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PAT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90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609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8292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PCD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7048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PWT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268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U/S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488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R/W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7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450781" y="2320544"/>
            <a:ext cx="3281639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An x86 Page Table Entry(PTE)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298835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Too Slow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find a location of the desired PTE, the </a:t>
            </a:r>
            <a:r>
              <a:rPr lang="en-US" altLang="ko-KR" b="1" dirty="0"/>
              <a:t>starting location</a:t>
            </a:r>
            <a:r>
              <a:rPr lang="en-US" altLang="ko-KR" dirty="0"/>
              <a:t> of the page table is </a:t>
            </a:r>
            <a:r>
              <a:rPr lang="en-US" altLang="ko-KR" b="1" dirty="0"/>
              <a:t>needed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For every memory reference, paging requires the OS to perform one </a:t>
            </a:r>
            <a:r>
              <a:rPr lang="en-US" altLang="ko-KR" b="1" dirty="0"/>
              <a:t>extra memory reference</a:t>
            </a:r>
          </a:p>
          <a:p>
            <a:pPr lvl="1"/>
            <a:r>
              <a:rPr lang="en-US" altLang="ko-KR" dirty="0"/>
              <a:t>Address of the start of page table is stored in a </a:t>
            </a:r>
            <a:r>
              <a:rPr lang="en-US" altLang="ko-KR" b="1" dirty="0"/>
              <a:t>Page Table Base Register (PTBR)</a:t>
            </a:r>
          </a:p>
          <a:p>
            <a:pPr lvl="1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9605326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Memory With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351584" y="1531919"/>
            <a:ext cx="7387982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Extract the VPN from the virtual address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VPN =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VPN_MASK) &gt;&gt; SHIFT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 the address of the page-table entry (PTE)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PTBR + (VPN * 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(PTE))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Fetch the PTE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PTE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Check if process can access the page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PTE.Valid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False)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(SEGMENTATION_FAULT)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CanAccess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PTE.ProtectBits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== False)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Access is OK: form physical address and fetch it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offset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(PTE.PFN &lt;&lt; PFN_SHIFT) | offset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Register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50906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Memory Trace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Example: A Simple Memory Access</a:t>
            </a:r>
          </a:p>
          <a:p>
            <a:endParaRPr lang="en-US" altLang="ko-KR" dirty="0"/>
          </a:p>
          <a:p>
            <a:endParaRPr lang="en-US" altLang="ko-KR" sz="2800" dirty="0"/>
          </a:p>
          <a:p>
            <a:r>
              <a:rPr lang="en-US" altLang="ko-KR" dirty="0"/>
              <a:t>Compile and execute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Resulting Assembly code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206700" y="1458268"/>
            <a:ext cx="7387982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array[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 </a:t>
            </a:r>
          </a:p>
          <a:p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</a:p>
          <a:p>
            <a:r>
              <a:rPr lang="nn-NO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 = 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 &lt; 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i++) </a:t>
            </a:r>
          </a:p>
          <a:p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array[i] = 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96580" y="3212976"/>
            <a:ext cx="7387982" cy="7920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prompt&gt; gcc –o array array.c –Wall –o</a:t>
            </a:r>
          </a:p>
          <a:p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prompt&gt;./array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206700" y="4869160"/>
            <a:ext cx="7387982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0x1024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$0x0,(%edi,%eax,4)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0x1028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0x102c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$0x03e8,%eax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0x1030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jne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0x1024 </a:t>
            </a:r>
            <a:endParaRPr lang="nn-NO" altLang="ko-KR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72314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3F745E-B946-42F7-B108-2A13E329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Memory Trace: </a:t>
            </a:r>
            <a:r>
              <a:rPr lang="en-US" dirty="0"/>
              <a:t>Some Assumptions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D47C7-DACB-4EE8-BE3D-88EDFCB6A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Address Space Size: 64KB</a:t>
            </a:r>
          </a:p>
          <a:p>
            <a:r>
              <a:rPr lang="en-US" dirty="0"/>
              <a:t>Page Size: 1 KB</a:t>
            </a:r>
          </a:p>
          <a:p>
            <a:r>
              <a:rPr lang="en-US" dirty="0"/>
              <a:t>Linear Page Table (array-based) located at physical address 1KB(1024)</a:t>
            </a:r>
          </a:p>
          <a:p>
            <a:r>
              <a:rPr lang="en-US" dirty="0"/>
              <a:t>Contents of Page Table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Code: Assume that VPN 1 -&gt; PFN 4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Array:</a:t>
            </a:r>
          </a:p>
          <a:p>
            <a:pPr lvl="2"/>
            <a:r>
              <a:rPr lang="en-US" dirty="0"/>
              <a:t>4000 bytes (1000*</a:t>
            </a:r>
            <a:r>
              <a:rPr lang="en-US" dirty="0" err="1"/>
              <a:t>sizeof</a:t>
            </a:r>
            <a:r>
              <a:rPr lang="en-US" dirty="0"/>
              <a:t>(int))</a:t>
            </a:r>
          </a:p>
          <a:p>
            <a:pPr lvl="2"/>
            <a:r>
              <a:rPr lang="en-US" dirty="0"/>
              <a:t>Assume at virtual address 40000 to 44000</a:t>
            </a:r>
          </a:p>
          <a:p>
            <a:pPr lvl="3"/>
            <a:r>
              <a:rPr lang="en-US" dirty="0"/>
              <a:t>VPN 39 -&gt; PFN 7</a:t>
            </a:r>
          </a:p>
          <a:p>
            <a:pPr lvl="3"/>
            <a:r>
              <a:rPr lang="en-US" dirty="0"/>
              <a:t>VPN 40 -&gt; PFN 8</a:t>
            </a:r>
          </a:p>
          <a:p>
            <a:pPr lvl="3"/>
            <a:r>
              <a:rPr lang="en-US" dirty="0"/>
              <a:t>VPN 41 -&gt; PFN 9</a:t>
            </a:r>
          </a:p>
          <a:p>
            <a:pPr lvl="3"/>
            <a:r>
              <a:rPr lang="en-US" dirty="0"/>
              <a:t>VPN 42 -&gt; PFN 10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08541098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Virtual(And Physical) Memory Trace: First 5 iterations</a:t>
            </a:r>
            <a:endParaRPr lang="ko-KR" altLang="en-US" dirty="0"/>
          </a:p>
        </p:txBody>
      </p:sp>
      <p:grpSp>
        <p:nvGrpSpPr>
          <p:cNvPr id="118" name="그룹 117"/>
          <p:cNvGrpSpPr/>
          <p:nvPr/>
        </p:nvGrpSpPr>
        <p:grpSpPr>
          <a:xfrm>
            <a:off x="407368" y="997438"/>
            <a:ext cx="6995622" cy="1999514"/>
            <a:chOff x="832241" y="775737"/>
            <a:chExt cx="6995622" cy="1999514"/>
          </a:xfrm>
        </p:grpSpPr>
        <p:grpSp>
          <p:nvGrpSpPr>
            <p:cNvPr id="47" name="그룹 46"/>
            <p:cNvGrpSpPr/>
            <p:nvPr/>
          </p:nvGrpSpPr>
          <p:grpSpPr>
            <a:xfrm>
              <a:off x="2138561" y="1196752"/>
              <a:ext cx="4788520" cy="1440000"/>
              <a:chOff x="2138561" y="1052896"/>
              <a:chExt cx="4788520" cy="1440000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2138561" y="1052896"/>
                <a:ext cx="4788520" cy="1440000"/>
                <a:chOff x="2138561" y="1052896"/>
                <a:chExt cx="4788520" cy="1440000"/>
              </a:xfrm>
            </p:grpSpPr>
            <p:cxnSp>
              <p:nvCxnSpPr>
                <p:cNvPr id="22" name="직선 화살표 연결선 21"/>
                <p:cNvCxnSpPr/>
                <p:nvPr/>
              </p:nvCxnSpPr>
              <p:spPr>
                <a:xfrm>
                  <a:off x="2138561" y="2492896"/>
                  <a:ext cx="47885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그룹 36"/>
                <p:cNvGrpSpPr/>
                <p:nvPr/>
              </p:nvGrpSpPr>
              <p:grpSpPr>
                <a:xfrm>
                  <a:off x="6818262" y="1052896"/>
                  <a:ext cx="108819" cy="1440000"/>
                  <a:chOff x="6818262" y="1052896"/>
                  <a:chExt cx="108819" cy="1440000"/>
                </a:xfrm>
              </p:grpSpPr>
              <p:cxnSp>
                <p:nvCxnSpPr>
                  <p:cNvPr id="23" name="직선 화살표 연결선 22"/>
                  <p:cNvCxnSpPr/>
                  <p:nvPr/>
                </p:nvCxnSpPr>
                <p:spPr>
                  <a:xfrm>
                    <a:off x="6818262" y="1052896"/>
                    <a:ext cx="0" cy="144000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직선 연결선 30"/>
                  <p:cNvCxnSpPr/>
                  <p:nvPr/>
                </p:nvCxnSpPr>
                <p:spPr>
                  <a:xfrm>
                    <a:off x="6819081" y="141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직선 연결선 32"/>
                  <p:cNvCxnSpPr/>
                  <p:nvPr/>
                </p:nvCxnSpPr>
                <p:spPr>
                  <a:xfrm>
                    <a:off x="6819081" y="177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직선 연결선 34"/>
                  <p:cNvCxnSpPr/>
                  <p:nvPr/>
                </p:nvCxnSpPr>
                <p:spPr>
                  <a:xfrm>
                    <a:off x="6819081" y="213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6" name="직선 연결선 45"/>
              <p:cNvCxnSpPr/>
              <p:nvPr/>
            </p:nvCxnSpPr>
            <p:spPr>
              <a:xfrm>
                <a:off x="6819081" y="1057428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직사각형 66"/>
            <p:cNvSpPr/>
            <p:nvPr/>
          </p:nvSpPr>
          <p:spPr>
            <a:xfrm>
              <a:off x="2138562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555776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735808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915816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095848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3491880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3671912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3851920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4031952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4381897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4561929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4741937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4921969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6192168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6372200" y="2537488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6552208" y="2537488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5292080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5472112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5652120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5832152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321768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275856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4153520" y="150355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5054109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6012160" y="150355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268109" y="775737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Page Table[39]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6" name="직선 화살표 연결선 105"/>
            <p:cNvCxnSpPr>
              <a:stCxn id="104" idx="2"/>
            </p:cNvCxnSpPr>
            <p:nvPr/>
          </p:nvCxnSpPr>
          <p:spPr>
            <a:xfrm>
              <a:off x="1844173" y="1052736"/>
              <a:ext cx="402389" cy="4508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832241" y="1809673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Page Table[1]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9" name="직선 화살표 연결선 108"/>
            <p:cNvCxnSpPr>
              <a:stCxn id="108" idx="2"/>
            </p:cNvCxnSpPr>
            <p:nvPr/>
          </p:nvCxnSpPr>
          <p:spPr>
            <a:xfrm>
              <a:off x="1408305" y="2086672"/>
              <a:ext cx="684065" cy="4508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6932761" y="2498252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932761" y="2139588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932761" y="1778252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1124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932761" y="142260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1174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932761" y="106278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1224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52320" y="1305979"/>
              <a:ext cx="375543" cy="1224217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Page Table(PA)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34" name="직사각형 133"/>
          <p:cNvSpPr/>
          <p:nvPr/>
        </p:nvSpPr>
        <p:spPr>
          <a:xfrm>
            <a:off x="1896895" y="552738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755726" y="4726440"/>
            <a:ext cx="6647265" cy="1250758"/>
            <a:chOff x="1180598" y="4946444"/>
            <a:chExt cx="6647265" cy="1250758"/>
          </a:xfrm>
        </p:grpSpPr>
        <p:sp>
          <p:nvSpPr>
            <p:cNvPr id="135" name="TextBox 134"/>
            <p:cNvSpPr txBox="1"/>
            <p:nvPr/>
          </p:nvSpPr>
          <p:spPr>
            <a:xfrm>
              <a:off x="7452320" y="5084667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Code(PA)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6960274" y="56664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4096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960274" y="53077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4146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960274" y="49464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4196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556141" y="56803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556141" y="53216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556141" y="49603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1124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180598" y="5070766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Code(VA)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60" name="그룹 159"/>
            <p:cNvGrpSpPr/>
            <p:nvPr/>
          </p:nvGrpSpPr>
          <p:grpSpPr>
            <a:xfrm>
              <a:off x="2138561" y="5085024"/>
              <a:ext cx="4788520" cy="796119"/>
              <a:chOff x="2138561" y="5085024"/>
              <a:chExt cx="4788520" cy="796119"/>
            </a:xfrm>
          </p:grpSpPr>
          <p:cxnSp>
            <p:nvCxnSpPr>
              <p:cNvPr id="63" name="직선 화살표 연결선 62"/>
              <p:cNvCxnSpPr/>
              <p:nvPr/>
            </p:nvCxnSpPr>
            <p:spPr>
              <a:xfrm>
                <a:off x="2138561" y="5804944"/>
                <a:ext cx="47885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화살표 연결선 63"/>
              <p:cNvCxnSpPr/>
              <p:nvPr/>
            </p:nvCxnSpPr>
            <p:spPr>
              <a:xfrm>
                <a:off x="6819081" y="5085024"/>
                <a:ext cx="0" cy="7961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>
                <a:off x="6819081" y="508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>
                <a:off x="6819081" y="544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/>
              <p:cNvCxnSpPr/>
              <p:nvPr/>
            </p:nvCxnSpPr>
            <p:spPr>
              <a:xfrm flipH="1">
                <a:off x="2245742" y="5085024"/>
                <a:ext cx="818" cy="7961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>
                <a:off x="2138561" y="5088677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>
                <a:off x="2138561" y="544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>
                <a:off x="31609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>
                <a:off x="40753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>
                <a:off x="49897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>
                <a:off x="59041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TextBox 160"/>
            <p:cNvSpPr txBox="1"/>
            <p:nvPr/>
          </p:nvSpPr>
          <p:spPr>
            <a:xfrm>
              <a:off x="2102546" y="5897664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969816" y="589766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895342" y="589766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795949" y="5897663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30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724142" y="5920203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6638242" y="5904130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0" name="직사각형 169"/>
          <p:cNvSpPr/>
          <p:nvPr/>
        </p:nvSpPr>
        <p:spPr>
          <a:xfrm>
            <a:off x="2244284" y="5486704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2424863" y="5446440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2598943" y="540278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2796983" y="55279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3144372" y="548731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3324951" y="544704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3499031" y="54033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3704834" y="55279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4052223" y="548731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4232802" y="544704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4406882" y="54033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4629236" y="5522467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4976625" y="5481783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5157204" y="5441519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5331284" y="5397867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5551309" y="551789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5898698" y="547720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079277" y="5436944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253357" y="539329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8" name="그룹 197"/>
          <p:cNvGrpSpPr/>
          <p:nvPr/>
        </p:nvGrpSpPr>
        <p:grpSpPr>
          <a:xfrm>
            <a:off x="755725" y="3284985"/>
            <a:ext cx="6647265" cy="998295"/>
            <a:chOff x="1180597" y="3284984"/>
            <a:chExt cx="6647265" cy="998295"/>
          </a:xfrm>
        </p:grpSpPr>
        <p:grpSp>
          <p:nvGrpSpPr>
            <p:cNvPr id="57" name="그룹 56"/>
            <p:cNvGrpSpPr/>
            <p:nvPr/>
          </p:nvGrpSpPr>
          <p:grpSpPr>
            <a:xfrm>
              <a:off x="2138561" y="3424860"/>
              <a:ext cx="4788520" cy="719920"/>
              <a:chOff x="2138561" y="3501008"/>
              <a:chExt cx="4788520" cy="719920"/>
            </a:xfrm>
          </p:grpSpPr>
          <p:grpSp>
            <p:nvGrpSpPr>
              <p:cNvPr id="53" name="그룹 52"/>
              <p:cNvGrpSpPr/>
              <p:nvPr/>
            </p:nvGrpSpPr>
            <p:grpSpPr>
              <a:xfrm>
                <a:off x="2138561" y="3501008"/>
                <a:ext cx="4788520" cy="719920"/>
                <a:chOff x="2138561" y="3501008"/>
                <a:chExt cx="4788520" cy="719920"/>
              </a:xfrm>
            </p:grpSpPr>
            <p:cxnSp>
              <p:nvCxnSpPr>
                <p:cNvPr id="40" name="직선 화살표 연결선 39"/>
                <p:cNvCxnSpPr/>
                <p:nvPr/>
              </p:nvCxnSpPr>
              <p:spPr>
                <a:xfrm>
                  <a:off x="2138561" y="4220928"/>
                  <a:ext cx="47885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/>
                <p:cNvCxnSpPr/>
                <p:nvPr/>
              </p:nvCxnSpPr>
              <p:spPr>
                <a:xfrm flipH="1">
                  <a:off x="6818263" y="3501008"/>
                  <a:ext cx="818" cy="71992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/>
                <p:cNvCxnSpPr/>
                <p:nvPr/>
              </p:nvCxnSpPr>
              <p:spPr>
                <a:xfrm>
                  <a:off x="6819081" y="3502264"/>
                  <a:ext cx="1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 44"/>
                <p:cNvCxnSpPr/>
                <p:nvPr/>
              </p:nvCxnSpPr>
              <p:spPr>
                <a:xfrm>
                  <a:off x="6819081" y="3862264"/>
                  <a:ext cx="1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직선 화살표 연결선 53"/>
              <p:cNvCxnSpPr/>
              <p:nvPr/>
            </p:nvCxnSpPr>
            <p:spPr>
              <a:xfrm flipH="1">
                <a:off x="2245742" y="3501008"/>
                <a:ext cx="818" cy="71992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>
                <a:off x="2138561" y="3504661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>
                <a:off x="2138561" y="3862264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/>
            <p:cNvSpPr txBox="1"/>
            <p:nvPr/>
          </p:nvSpPr>
          <p:spPr>
            <a:xfrm>
              <a:off x="7452319" y="3424860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Array(PA)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960274" y="40062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7232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960274" y="3647616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7282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960274" y="32862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7132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180597" y="3404135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Array(VA)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455880" y="4004984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40000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455880" y="3646320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40050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455880" y="3284984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40100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528168" y="4085931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3275856" y="4045628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4224616" y="4012647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5054109" y="3964283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6012076" y="3889880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2450952" y="3392841"/>
              <a:ext cx="229397" cy="401003"/>
            </a:xfrm>
            <a:prstGeom prst="rect">
              <a:avLst/>
            </a:prstGeom>
            <a:noFill/>
          </p:spPr>
          <p:txBody>
            <a:bodyPr vert="vert270" wrap="square" rtlCol="0" anchor="ctr" anchorCtr="0">
              <a:noAutofit/>
            </a:bodyPr>
            <a:lstStyle/>
            <a:p>
              <a:r>
                <a:rPr lang="en-US" altLang="ko-KR" sz="1100" dirty="0" err="1"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mov</a:t>
              </a:r>
              <a:endParaRPr lang="ko-KR" altLang="en-US" sz="1100" dirty="0"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94" name="TextBox 193"/>
          <p:cNvSpPr txBox="1"/>
          <p:nvPr/>
        </p:nvSpPr>
        <p:spPr>
          <a:xfrm>
            <a:off x="1836197" y="4793173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195467" y="4793173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inc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2376245" y="4793172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cmp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2568393" y="4793173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jne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308391" y="5998652"/>
            <a:ext cx="15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Memory Access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AE9A15-4C0C-46F0-9975-93DC06734CB6}"/>
              </a:ext>
            </a:extLst>
          </p:cNvPr>
          <p:cNvCxnSpPr/>
          <p:nvPr/>
        </p:nvCxnSpPr>
        <p:spPr>
          <a:xfrm flipH="1">
            <a:off x="2660870" y="938226"/>
            <a:ext cx="60893" cy="5760640"/>
          </a:xfrm>
          <a:prstGeom prst="line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10AFAC6-0DA9-4D46-A429-678871CC277B}"/>
              </a:ext>
            </a:extLst>
          </p:cNvPr>
          <p:cNvCxnSpPr/>
          <p:nvPr/>
        </p:nvCxnSpPr>
        <p:spPr>
          <a:xfrm flipH="1">
            <a:off x="1631504" y="908720"/>
            <a:ext cx="60893" cy="5760640"/>
          </a:xfrm>
          <a:prstGeom prst="line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A708DF-61F8-40AC-9795-41C9A99E6F00}"/>
              </a:ext>
            </a:extLst>
          </p:cNvPr>
          <p:cNvSpPr txBox="1"/>
          <p:nvPr/>
        </p:nvSpPr>
        <p:spPr>
          <a:xfrm>
            <a:off x="7680175" y="1135937"/>
            <a:ext cx="42869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Oswald" pitchFamily="2" charset="0"/>
              </a:rPr>
              <a:t>Each instruction fetch generates two memory references: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Oswald" pitchFamily="2" charset="0"/>
              </a:rPr>
              <a:t>one to the page table 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Oswald" pitchFamily="2" charset="0"/>
              </a:rPr>
              <a:t>another to the actual location of the     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Oswald" pitchFamily="2" charset="0"/>
              </a:rPr>
              <a:t>The mov instruction will also require two      memory references: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Oswald" pitchFamily="2" charset="0"/>
              </a:rPr>
              <a:t>one to the page table and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>
                <a:latin typeface="Oswald" pitchFamily="2" charset="0"/>
              </a:rPr>
              <a:t>another to the array element itself</a:t>
            </a:r>
          </a:p>
        </p:txBody>
      </p:sp>
    </p:spTree>
    <p:extLst>
      <p:ext uri="{BB962C8B-B14F-4D97-AF65-F5344CB8AC3E}">
        <p14:creationId xmlns:p14="http://schemas.microsoft.com/office/powerpoint/2010/main" val="397805310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04.The_abstraction_the_process" id="{5B801708-C11A-406D-95E1-D700B4E34BA4}" vid="{C8ED2E06-4ECF-4161-8C72-D82D328D32F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OSTEP_Slides_Template</Template>
  <TotalTime>168</TotalTime>
  <Words>1376</Words>
  <Application>Microsoft Office PowerPoint</Application>
  <PresentationFormat>Widescreen</PresentationFormat>
  <Paragraphs>313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맑은 고딕</vt:lpstr>
      <vt:lpstr>Arial</vt:lpstr>
      <vt:lpstr>Cambria Math</vt:lpstr>
      <vt:lpstr>Courier New</vt:lpstr>
      <vt:lpstr>HY견고딕</vt:lpstr>
      <vt:lpstr>Oswald</vt:lpstr>
      <vt:lpstr>Oswald</vt:lpstr>
      <vt:lpstr>Wingdings</vt:lpstr>
      <vt:lpstr>양식_공청회_발표자료-총괄-양식</vt:lpstr>
      <vt:lpstr>CMSC 125: Operating Systems</vt:lpstr>
      <vt:lpstr>Resources</vt:lpstr>
      <vt:lpstr>Acknowledgement</vt:lpstr>
      <vt:lpstr>PowerPoint Presentation</vt:lpstr>
      <vt:lpstr>Concept of Paging</vt:lpstr>
      <vt:lpstr>Advantages Of Paging</vt:lpstr>
      <vt:lpstr>Example: A Simple Paging</vt:lpstr>
      <vt:lpstr>Address Translation</vt:lpstr>
      <vt:lpstr>Example: Address Translation</vt:lpstr>
      <vt:lpstr>Where Are Page Tables Stored?</vt:lpstr>
      <vt:lpstr>Example: Page Table in Kernel Physical Memory</vt:lpstr>
      <vt:lpstr>What Is In The Page Table?</vt:lpstr>
      <vt:lpstr>Common Flags Of Page Table Entry</vt:lpstr>
      <vt:lpstr>Example: x86 Page Table Entry</vt:lpstr>
      <vt:lpstr>Paging: Too Slow</vt:lpstr>
      <vt:lpstr>Accessing Memory With Paging</vt:lpstr>
      <vt:lpstr>A Memory Trace</vt:lpstr>
      <vt:lpstr>A Memory Trace: Some Assumptions</vt:lpstr>
      <vt:lpstr>A Virtual(And Physical) Memory Trace: First 5 iterations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Anthony Hermocilla</dc:creator>
  <cp:lastModifiedBy>Joseph Anthony Hermocilla</cp:lastModifiedBy>
  <cp:revision>32</cp:revision>
  <cp:lastPrinted>2015-03-03T01:48:46Z</cp:lastPrinted>
  <dcterms:created xsi:type="dcterms:W3CDTF">2021-07-20T07:41:44Z</dcterms:created>
  <dcterms:modified xsi:type="dcterms:W3CDTF">2024-10-10T09:25:46Z</dcterms:modified>
</cp:coreProperties>
</file>