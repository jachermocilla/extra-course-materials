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31"/>
  </p:notesMasterIdLst>
  <p:sldIdLst>
    <p:sldId id="298" r:id="rId2"/>
    <p:sldId id="297" r:id="rId3"/>
    <p:sldId id="299" r:id="rId4"/>
    <p:sldId id="256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300" r:id="rId22"/>
    <p:sldId id="301" r:id="rId23"/>
    <p:sldId id="286" r:id="rId24"/>
    <p:sldId id="287" r:id="rId25"/>
    <p:sldId id="288" r:id="rId26"/>
    <p:sldId id="289" r:id="rId27"/>
    <p:sldId id="290" r:id="rId28"/>
    <p:sldId id="291" r:id="rId29"/>
    <p:sldId id="292" r:id="rId30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841" autoAdjust="0"/>
  </p:normalViewPr>
  <p:slideViewPr>
    <p:cSldViewPr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66312"/>
    </p:cViewPr>
  </p:sorterViewPr>
  <p:notesViewPr>
    <p:cSldViewPr>
      <p:cViewPr varScale="1">
        <p:scale>
          <a:sx n="92" d="100"/>
          <a:sy n="92" d="100"/>
        </p:scale>
        <p:origin x="-3540" y="-96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r>
              <a:rPr lang="ko-KR" altLang="en-US" dirty="0"/>
              <a:t>여백 감소 페이지 사이의 간격을 없애기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575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r>
              <a:rPr lang="ko-KR" altLang="en-US" dirty="0"/>
              <a:t>여백 감소 페이지 사이의 간격을 없애기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133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Section Title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85751" y="880070"/>
            <a:ext cx="11715749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ko-KR" dirty="0"/>
              <a:t>Content Level 1</a:t>
            </a:r>
            <a:endParaRPr lang="ko-KR" altLang="en-US" dirty="0"/>
          </a:p>
          <a:p>
            <a:pPr lvl="1"/>
            <a:r>
              <a:rPr lang="en-US" altLang="ko-KR" dirty="0"/>
              <a:t>Content Level 2</a:t>
            </a:r>
            <a:endParaRPr lang="ko-KR" altLang="en-US" dirty="0"/>
          </a:p>
          <a:p>
            <a:pPr lvl="2"/>
            <a:r>
              <a:rPr lang="en-US" altLang="ko-KR" dirty="0"/>
              <a:t>Content Level 3</a:t>
            </a:r>
            <a:endParaRPr lang="ko-KR" altLang="en-US" dirty="0"/>
          </a:p>
          <a:p>
            <a:pPr lvl="3"/>
            <a:r>
              <a:rPr lang="en-US" altLang="ko-KR" dirty="0"/>
              <a:t>Content Level 4</a:t>
            </a:r>
            <a:endParaRPr lang="ko-KR" altLang="en-US" dirty="0"/>
          </a:p>
          <a:p>
            <a:pPr lvl="4"/>
            <a:r>
              <a:rPr lang="en-US" altLang="ko-KR" dirty="0"/>
              <a:t>Content Level 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1189326" y="2906713"/>
            <a:ext cx="10763325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  <a:latin typeface="OSwald" pitchFamily="2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dirty="0"/>
              <a:t>Chapter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5751" y="55564"/>
            <a:ext cx="11715749" cy="58578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Section Title</a:t>
            </a:r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5751" y="1000125"/>
            <a:ext cx="11715749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Content Level 1</a:t>
            </a:r>
            <a:endParaRPr lang="ko-KR" altLang="en-US" dirty="0"/>
          </a:p>
          <a:p>
            <a:pPr lvl="1"/>
            <a:r>
              <a:rPr lang="en-US" altLang="ko-KR" dirty="0"/>
              <a:t>Content Level 2</a:t>
            </a:r>
            <a:endParaRPr lang="ko-KR" altLang="en-US" dirty="0"/>
          </a:p>
          <a:p>
            <a:pPr lvl="2"/>
            <a:r>
              <a:rPr lang="en-US" altLang="ko-KR" dirty="0"/>
              <a:t>Content Level 3</a:t>
            </a:r>
            <a:endParaRPr lang="ko-KR" altLang="en-US" dirty="0"/>
          </a:p>
          <a:p>
            <a:pPr lvl="3"/>
            <a:r>
              <a:rPr lang="en-US" altLang="ko-KR" dirty="0"/>
              <a:t>Content Level 4</a:t>
            </a:r>
            <a:endParaRPr lang="ko-KR" altLang="en-US" dirty="0"/>
          </a:p>
          <a:p>
            <a:pPr lvl="4"/>
            <a:r>
              <a:rPr lang="en-US" altLang="ko-KR" dirty="0"/>
              <a:t>Content Level 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transition>
    <p:zoom/>
  </p:transition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 b="1">
          <a:solidFill>
            <a:schemeClr val="bg1"/>
          </a:solidFill>
          <a:effectLst/>
          <a:latin typeface="Oswald" pitchFamily="2" charset="0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Oswald" pitchFamily="2" charset="0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Oswald" pitchFamily="2" charset="0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Oswald" pitchFamily="2" charset="0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Oswald" pitchFamily="2" charset="0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Oswald" pitchFamily="2" charset="0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achermocilla.org/" TargetMode="External"/><Relationship Id="rId7" Type="http://schemas.openxmlformats.org/officeDocument/2006/relationships/image" Target="../media/image4.png"/><Relationship Id="rId2" Type="http://schemas.openxmlformats.org/officeDocument/2006/relationships/hyperlink" Target="mailto:jchermocilla@up.edu.ph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cs.wisc.edu/~remzi/OSTEP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ages.cs.wisc.edu/~remzi/OSTEP/Educators-Slides/Youjip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2CA9A-319F-4C46-A9C0-D84A8DA9A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CMSC 125: Operating Systems</a:t>
            </a:r>
            <a:endParaRPr lang="en-P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964F4-F3D4-4117-A3DF-16362E578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Instructor: </a:t>
            </a:r>
            <a:r>
              <a:rPr lang="en-US" sz="2800" b="1" dirty="0"/>
              <a:t>Joseph Anthony C. Hermocilla </a:t>
            </a:r>
          </a:p>
          <a:p>
            <a:r>
              <a:rPr lang="en-US" sz="2800" dirty="0"/>
              <a:t>Email: </a:t>
            </a:r>
            <a:r>
              <a:rPr lang="en-US" sz="2800" dirty="0">
                <a:hlinkClick r:id="rId2"/>
              </a:rPr>
              <a:t>jchermocilla@up.edu.ph</a:t>
            </a:r>
            <a:r>
              <a:rPr lang="en-US" sz="2800" dirty="0"/>
              <a:t> </a:t>
            </a:r>
          </a:p>
          <a:p>
            <a:r>
              <a:rPr lang="en-US" sz="2800" dirty="0"/>
              <a:t>Web: </a:t>
            </a:r>
            <a:r>
              <a:rPr lang="en-US" sz="2800" dirty="0">
                <a:hlinkClick r:id="rId3"/>
              </a:rPr>
              <a:t>https://jachermocilla.org</a:t>
            </a:r>
            <a:r>
              <a:rPr lang="en-US" sz="28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AAA8C-FD26-46BA-8AAE-E0C0ACBC6E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254" y="5577621"/>
            <a:ext cx="1461313" cy="1256729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3938BB10-89AB-4993-BA48-F6DB29DA81F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6" t="7505" r="6677" b="7505"/>
          <a:stretch/>
        </p:blipFill>
        <p:spPr>
          <a:xfrm>
            <a:off x="8210912" y="5592848"/>
            <a:ext cx="1325513" cy="12847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0DE5F5-BDB3-4730-89D0-6BE9FEAA38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6627" y="5577621"/>
            <a:ext cx="1284734" cy="12847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6C3E08-E0B2-48DF-AB25-861C963E92E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735" y="5500355"/>
            <a:ext cx="1377227" cy="137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64408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7F3D9-6ADE-4AFF-A511-57621CDAE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en-P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579F75-8F26-4C11-A534-9A1255EBE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20" y="1648922"/>
            <a:ext cx="2523744" cy="395020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67945D-1D61-49F3-AC44-2F69D0840525}"/>
              </a:ext>
            </a:extLst>
          </p:cNvPr>
          <p:cNvSpPr txBox="1"/>
          <p:nvPr/>
        </p:nvSpPr>
        <p:spPr>
          <a:xfrm>
            <a:off x="190501" y="2708920"/>
            <a:ext cx="85697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>
                <a:latin typeface="Oswald" pitchFamily="2" charset="0"/>
              </a:rPr>
              <a:t>Book: </a:t>
            </a:r>
            <a:r>
              <a:rPr lang="en-PH" sz="2400" dirty="0">
                <a:latin typeface="Oswald" pitchFamily="2" charset="0"/>
                <a:hlinkClick r:id="rId3"/>
              </a:rPr>
              <a:t>https://pages.cs.wisc.edu/~remzi/OSTEP/</a:t>
            </a:r>
            <a:endParaRPr lang="en-PH" sz="2400" dirty="0">
              <a:latin typeface="Oswald" pitchFamily="2" charset="0"/>
            </a:endParaRPr>
          </a:p>
          <a:p>
            <a:endParaRPr lang="en-PH" sz="2400" dirty="0">
              <a:latin typeface="Oswald" pitchFamily="2" charset="0"/>
            </a:endParaRPr>
          </a:p>
          <a:p>
            <a:r>
              <a:rPr lang="en-PH" sz="2400" dirty="0">
                <a:latin typeface="Oswald" pitchFamily="2" charset="0"/>
              </a:rPr>
              <a:t>Slides Template: </a:t>
            </a:r>
          </a:p>
          <a:p>
            <a:r>
              <a:rPr lang="en-PH" sz="2400" dirty="0">
                <a:latin typeface="Oswald" pitchFamily="2" charset="0"/>
                <a:hlinkClick r:id="rId4"/>
              </a:rPr>
              <a:t>https://pages.cs.wisc.edu/~remzi/OSTEP/Educators-Slides/Youjip/</a:t>
            </a:r>
            <a:r>
              <a:rPr lang="en-PH" sz="2400" b="1" dirty="0">
                <a:latin typeface="Oswald" pitchFamily="2" charset="0"/>
              </a:rPr>
              <a:t> </a:t>
            </a:r>
            <a:endParaRPr lang="en-PH" sz="2400" dirty="0">
              <a:latin typeface="Oswa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938434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Acknowledgement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38313" y="2636912"/>
            <a:ext cx="8786812" cy="1368152"/>
          </a:xfrm>
        </p:spPr>
        <p:txBody>
          <a:bodyPr/>
          <a:lstStyle/>
          <a:p>
            <a:r>
              <a:rPr lang="en-US" altLang="ko-KR" sz="1600" dirty="0"/>
              <a:t>This lecture slide set was initially developed for Operating System course in Computer Science Dept. at </a:t>
            </a:r>
            <a:r>
              <a:rPr lang="en-US" altLang="ko-KR" sz="1600" dirty="0" err="1"/>
              <a:t>Hanyang</a:t>
            </a:r>
            <a:r>
              <a:rPr lang="en-US" altLang="ko-KR" sz="1600" dirty="0"/>
              <a:t> University. This lecture slide set is for OSTEP book written by </a:t>
            </a:r>
            <a:r>
              <a:rPr lang="en-US" altLang="ko-KR" sz="1600" dirty="0" err="1"/>
              <a:t>Remzi</a:t>
            </a:r>
            <a:r>
              <a:rPr lang="en-US" altLang="ko-KR" sz="1600" dirty="0"/>
              <a:t> and Andrea at University of Wisconsin.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58678951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20. Paging: Smaller Tables</a:t>
            </a:r>
          </a:p>
          <a:p>
            <a:pPr lvl="0"/>
            <a:r>
              <a:rPr lang="en-US" altLang="ko-KR" sz="1600" dirty="0">
                <a:solidFill>
                  <a:srgbClr val="1F497D">
                    <a:lumMod val="50000"/>
                  </a:srgbClr>
                </a:solidFill>
              </a:rPr>
              <a:t>Operating System: Three Easy Pieces</a:t>
            </a:r>
            <a:endParaRPr lang="ko-KR" altLang="en-US" sz="1600" dirty="0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25632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38313" y="867192"/>
            <a:ext cx="8786812" cy="5501258"/>
          </a:xfrm>
        </p:spPr>
        <p:txBody>
          <a:bodyPr/>
          <a:lstStyle/>
          <a:p>
            <a:r>
              <a:rPr lang="en-US" altLang="ko-KR" dirty="0"/>
              <a:t>We usually have one page table for every process in the system</a:t>
            </a:r>
          </a:p>
          <a:p>
            <a:pPr lvl="1"/>
            <a:r>
              <a:rPr lang="en-US" altLang="ko-KR" dirty="0"/>
              <a:t>Assume that 32-bit address space with </a:t>
            </a:r>
            <a:r>
              <a:rPr lang="en-US" altLang="ko-KR" dirty="0">
                <a:solidFill>
                  <a:srgbClr val="FF0000"/>
                </a:solidFill>
              </a:rPr>
              <a:t>4KB</a:t>
            </a:r>
            <a:r>
              <a:rPr lang="en-US" altLang="ko-KR" dirty="0"/>
              <a:t> pages and 4-byte page-table entry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Paging: Linear Page Tables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666096" y="4797152"/>
                <a:ext cx="4950185" cy="483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Page table size = 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𝟑𝟐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𝟏𝟐</m:t>
                            </m:r>
                          </m:sup>
                        </m:sSup>
                      </m:den>
                    </m:f>
                    <m:r>
                      <a:rPr lang="en-US" altLang="ko-KR" sz="1600" b="1" i="1">
                        <a:solidFill>
                          <a:srgbClr val="FF0000"/>
                        </a:solidFill>
                        <a:latin typeface="Cambria Math"/>
                      </a:rPr>
                      <m:t>∗</m:t>
                    </m:r>
                    <m:r>
                      <a:rPr lang="en-US" altLang="ko-KR" sz="1600" b="1" i="1">
                        <a:solidFill>
                          <a:srgbClr val="FF0000"/>
                        </a:solidFill>
                        <a:latin typeface="Cambria Math"/>
                      </a:rPr>
                      <m:t>𝟒</m:t>
                    </m:r>
                    <m:r>
                      <a:rPr lang="en-US" altLang="ko-KR" sz="1600" b="1" i="1">
                        <a:solidFill>
                          <a:srgbClr val="FF0000"/>
                        </a:solidFill>
                        <a:latin typeface="Cambria Math"/>
                      </a:rPr>
                      <m:t>𝑩𝒚𝒕𝒆</m:t>
                    </m:r>
                    <m:r>
                      <a:rPr lang="en-US" altLang="ko-KR" sz="160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ko-KR" sz="1600" b="1" i="1">
                        <a:solidFill>
                          <a:srgbClr val="FF0000"/>
                        </a:solidFill>
                        <a:latin typeface="Cambria Math"/>
                      </a:rPr>
                      <m:t>𝟒</m:t>
                    </m:r>
                    <m:r>
                      <a:rPr lang="en-US" altLang="ko-KR" sz="1600" b="1" i="1">
                        <a:solidFill>
                          <a:srgbClr val="FF0000"/>
                        </a:solidFill>
                        <a:latin typeface="Cambria Math"/>
                      </a:rPr>
                      <m:t>𝑴𝑩</m:t>
                    </m:r>
                    <m:r>
                      <a:rPr lang="en-US" altLang="ko-KR" sz="1600" b="1">
                        <a:solidFill>
                          <a:srgbClr val="FF0000"/>
                        </a:solidFill>
                        <a:latin typeface="Cambria Math"/>
                      </a:rPr>
                      <m:t>𝐲𝐭𝐞</m:t>
                    </m:r>
                  </m:oMath>
                </a14:m>
                <a:endParaRPr lang="ko-KR" altLang="en-US" sz="16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96" y="4797152"/>
                <a:ext cx="4950185" cy="483530"/>
              </a:xfrm>
              <a:prstGeom prst="rect">
                <a:avLst/>
              </a:prstGeom>
              <a:blipFill>
                <a:blip r:embed="rId3"/>
                <a:stretch>
                  <a:fillRect l="-616" b="-379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그룹 30"/>
          <p:cNvGrpSpPr/>
          <p:nvPr/>
        </p:nvGrpSpPr>
        <p:grpSpPr>
          <a:xfrm>
            <a:off x="6023993" y="2579419"/>
            <a:ext cx="1755379" cy="1963961"/>
            <a:chOff x="3320677" y="1195118"/>
            <a:chExt cx="1755379" cy="1963961"/>
          </a:xfrm>
        </p:grpSpPr>
        <p:sp>
          <p:nvSpPr>
            <p:cNvPr id="32" name="직사각형 31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Physical Memory</a:t>
              </a: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…</a:t>
              </a: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4349663" y="2565662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350712" y="25685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731045" y="3395716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4350712" y="27987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350712" y="3014780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350713" y="400871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034445" y="4238916"/>
            <a:ext cx="1755379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Table of</a:t>
            </a:r>
          </a:p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3791744" y="2556023"/>
            <a:ext cx="504056" cy="232368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5471055" y="2664304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4KB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</a:p>
        </p:txBody>
      </p:sp>
      <p:sp>
        <p:nvSpPr>
          <p:cNvPr id="26" name="모서리가 둥근 직사각형 25"/>
          <p:cNvSpPr/>
          <p:nvPr/>
        </p:nvSpPr>
        <p:spPr>
          <a:xfrm>
            <a:off x="2207569" y="5517232"/>
            <a:ext cx="7539501" cy="693369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table are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too big 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and thus consume too much memory. </a:t>
            </a:r>
          </a:p>
        </p:txBody>
      </p:sp>
      <p:cxnSp>
        <p:nvCxnSpPr>
          <p:cNvPr id="11" name="직선 연결선 10"/>
          <p:cNvCxnSpPr/>
          <p:nvPr/>
        </p:nvCxnSpPr>
        <p:spPr>
          <a:xfrm>
            <a:off x="4079776" y="2565662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4223792" y="2568556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4078727" y="2798756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6096216" y="2667884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6240232" y="2670778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6095167" y="2900978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970435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38313" y="867192"/>
            <a:ext cx="8786812" cy="5501258"/>
          </a:xfrm>
        </p:spPr>
        <p:txBody>
          <a:bodyPr/>
          <a:lstStyle/>
          <a:p>
            <a:r>
              <a:rPr lang="en-US" altLang="ko-KR" dirty="0"/>
              <a:t>Page table are too big and thus consume too much memory </a:t>
            </a:r>
          </a:p>
          <a:p>
            <a:pPr lvl="1"/>
            <a:r>
              <a:rPr lang="en-US" altLang="ko-KR" dirty="0"/>
              <a:t>Assume that 32-bit address space with </a:t>
            </a:r>
            <a:r>
              <a:rPr lang="en-US" altLang="ko-KR" dirty="0">
                <a:solidFill>
                  <a:srgbClr val="FF0000"/>
                </a:solidFill>
              </a:rPr>
              <a:t>16KB</a:t>
            </a:r>
            <a:r>
              <a:rPr lang="en-US" altLang="ko-KR" dirty="0"/>
              <a:t> pages and 4-byte page-table entry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Paging: Smaller Tables by using Bigger Pages</a:t>
            </a:r>
            <a:endParaRPr lang="ko-KR" altLang="en-US" dirty="0"/>
          </a:p>
        </p:txBody>
      </p:sp>
      <p:grpSp>
        <p:nvGrpSpPr>
          <p:cNvPr id="31" name="그룹 30"/>
          <p:cNvGrpSpPr/>
          <p:nvPr/>
        </p:nvGrpSpPr>
        <p:grpSpPr>
          <a:xfrm>
            <a:off x="6023993" y="2579419"/>
            <a:ext cx="1755379" cy="1963961"/>
            <a:chOff x="3320677" y="1195118"/>
            <a:chExt cx="1755379" cy="1963961"/>
          </a:xfrm>
        </p:grpSpPr>
        <p:sp>
          <p:nvSpPr>
            <p:cNvPr id="32" name="직사각형 31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Physical Memory</a:t>
              </a: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…</a:t>
              </a: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4349663" y="2565662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350712" y="25685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731045" y="3395716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4350712" y="27987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350712" y="3014780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350713" y="400871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034445" y="4238916"/>
            <a:ext cx="1755379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Table of</a:t>
            </a:r>
          </a:p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3791744" y="2556023"/>
            <a:ext cx="504056" cy="232368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4079776" y="2565662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4223792" y="2568556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4078727" y="2798756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6096216" y="2667884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6240232" y="2670778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6095167" y="2900978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5424926" y="2666368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16KB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4242160" y="4797152"/>
                <a:ext cx="4950185" cy="483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𝟑𝟐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𝟏𝟔</m:t>
                            </m:r>
                          </m:sup>
                        </m:sSup>
                      </m:den>
                    </m:f>
                    <m:r>
                      <a:rPr lang="en-US" altLang="ko-KR" sz="1600" b="1" i="1">
                        <a:solidFill>
                          <a:srgbClr val="FF0000"/>
                        </a:solidFill>
                        <a:latin typeface="Cambria Math"/>
                      </a:rPr>
                      <m:t>∗</m:t>
                    </m:r>
                    <m:r>
                      <a:rPr lang="en-US" altLang="ko-KR" sz="1600" b="1" i="1">
                        <a:solidFill>
                          <a:srgbClr val="FF0000"/>
                        </a:solidFill>
                        <a:latin typeface="Cambria Math"/>
                      </a:rPr>
                      <m:t>𝟒</m:t>
                    </m:r>
                    <m:r>
                      <a:rPr lang="en-US" altLang="ko-KR" sz="160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ko-KR" sz="1600" b="1" i="1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r>
                      <a:rPr lang="en-US" altLang="ko-KR" sz="1600" b="1" i="1">
                        <a:solidFill>
                          <a:srgbClr val="FF0000"/>
                        </a:solidFill>
                        <a:latin typeface="Cambria Math"/>
                      </a:rPr>
                      <m:t>𝑴𝑩</m:t>
                    </m:r>
                  </m:oMath>
                </a14:m>
                <a:r>
                  <a:rPr lang="ko-KR" altLang="en-US" sz="16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  </a:t>
                </a:r>
                <a:r>
                  <a:rPr lang="en-US" altLang="ko-KR" sz="16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per page table</a:t>
                </a:r>
                <a:endParaRPr lang="ko-KR" altLang="en-US" sz="16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160" y="4797152"/>
                <a:ext cx="4950185" cy="483530"/>
              </a:xfrm>
              <a:prstGeom prst="rect">
                <a:avLst/>
              </a:prstGeom>
              <a:blipFill>
                <a:blip r:embed="rId3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모서리가 둥근 직사각형 49"/>
          <p:cNvSpPr/>
          <p:nvPr/>
        </p:nvSpPr>
        <p:spPr>
          <a:xfrm>
            <a:off x="2207569" y="5517232"/>
            <a:ext cx="7539501" cy="693369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Big pages lead to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internal fragmentation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6831688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내용 개체 틀 2"/>
          <p:cNvSpPr txBox="1">
            <a:spLocks/>
          </p:cNvSpPr>
          <p:nvPr/>
        </p:nvSpPr>
        <p:spPr bwMode="auto">
          <a:xfrm>
            <a:off x="1738313" y="88007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Single page table entries for a process’ address space</a:t>
            </a:r>
            <a:endParaRPr lang="ko-KR" altLang="en-US" dirty="0">
              <a:solidFill>
                <a:prstClr val="black"/>
              </a:solidFill>
              <a:latin typeface="Oswald" pitchFamily="2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</a:t>
            </a:r>
            <a:endParaRPr lang="ko-KR" alt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2221499" y="6289575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16KB Address Space with 1KB Pages</a:t>
            </a:r>
          </a:p>
        </p:txBody>
      </p:sp>
      <p:graphicFrame>
        <p:nvGraphicFramePr>
          <p:cNvPr id="101" name="표 100"/>
          <p:cNvGraphicFramePr>
            <a:graphicFrameLocks noGrp="1"/>
          </p:cNvGraphicFramePr>
          <p:nvPr/>
        </p:nvGraphicFramePr>
        <p:xfrm>
          <a:off x="6244135" y="2085461"/>
          <a:ext cx="3744415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9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present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dirty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r-x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6131719" y="4995698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Page Table For 16KB Address Space</a:t>
            </a:r>
          </a:p>
        </p:txBody>
      </p:sp>
      <p:graphicFrame>
        <p:nvGraphicFramePr>
          <p:cNvPr id="112" name="내용 개체 틀 7">
            <a:extLst>
              <a:ext uri="{FF2B5EF4-FFF2-40B4-BE49-F238E27FC236}">
                <a16:creationId xmlns:a16="http://schemas.microsoft.com/office/drawing/2014/main" id="{C4577834-4C4D-494A-A951-CFB70AE2B3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743460"/>
              </p:ext>
            </p:extLst>
          </p:nvPr>
        </p:nvGraphicFramePr>
        <p:xfrm>
          <a:off x="2591735" y="2304025"/>
          <a:ext cx="1224136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312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</a:p>
                    <a:p>
                      <a:pPr latinLnBrk="1"/>
                      <a:endParaRPr lang="en-US" altLang="ko-KR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286D6F2A-D64F-474D-B971-8D6E8A3728C8}"/>
              </a:ext>
            </a:extLst>
          </p:cNvPr>
          <p:cNvSpPr txBox="1"/>
          <p:nvPr/>
        </p:nvSpPr>
        <p:spPr>
          <a:xfrm>
            <a:off x="2067512" y="2232018"/>
            <a:ext cx="52450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code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FDE2B16-9B1C-4743-AB46-03638D9E0145}"/>
              </a:ext>
            </a:extLst>
          </p:cNvPr>
          <p:cNvSpPr txBox="1"/>
          <p:nvPr/>
        </p:nvSpPr>
        <p:spPr>
          <a:xfrm>
            <a:off x="2042062" y="3168122"/>
            <a:ext cx="5293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F37C073-FAF6-453C-A9B5-2BFC031B1BC3}"/>
              </a:ext>
            </a:extLst>
          </p:cNvPr>
          <p:cNvSpPr txBox="1"/>
          <p:nvPr/>
        </p:nvSpPr>
        <p:spPr>
          <a:xfrm>
            <a:off x="2035650" y="5256354"/>
            <a:ext cx="53572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16" name="그룹 27">
            <a:extLst>
              <a:ext uri="{FF2B5EF4-FFF2-40B4-BE49-F238E27FC236}">
                <a16:creationId xmlns:a16="http://schemas.microsoft.com/office/drawing/2014/main" id="{91B58859-EC63-4BE5-B411-E6E7DF5ADBC6}"/>
              </a:ext>
            </a:extLst>
          </p:cNvPr>
          <p:cNvGrpSpPr/>
          <p:nvPr/>
        </p:nvGrpSpPr>
        <p:grpSpPr>
          <a:xfrm>
            <a:off x="4542362" y="1893599"/>
            <a:ext cx="1008116" cy="3970224"/>
            <a:chOff x="5364083" y="1540769"/>
            <a:chExt cx="2016231" cy="3874188"/>
          </a:xfrm>
        </p:grpSpPr>
        <p:grpSp>
          <p:nvGrpSpPr>
            <p:cNvPr id="117" name="그룹 28">
              <a:extLst>
                <a:ext uri="{FF2B5EF4-FFF2-40B4-BE49-F238E27FC236}">
                  <a16:creationId xmlns:a16="http://schemas.microsoft.com/office/drawing/2014/main" id="{18785FAC-A573-4140-87CE-41E677C179A8}"/>
                </a:ext>
              </a:extLst>
            </p:cNvPr>
            <p:cNvGrpSpPr/>
            <p:nvPr/>
          </p:nvGrpSpPr>
          <p:grpSpPr>
            <a:xfrm>
              <a:off x="5364085" y="1540769"/>
              <a:ext cx="2016229" cy="2336302"/>
              <a:chOff x="5364084" y="1464476"/>
              <a:chExt cx="1872212" cy="4361097"/>
            </a:xfrm>
          </p:grpSpPr>
          <p:sp>
            <p:nvSpPr>
              <p:cNvPr id="130" name="직사각형 41">
                <a:extLst>
                  <a:ext uri="{FF2B5EF4-FFF2-40B4-BE49-F238E27FC236}">
                    <a16:creationId xmlns:a16="http://schemas.microsoft.com/office/drawing/2014/main" id="{856F35AC-3843-4E12-9B58-F2CBB4B130FB}"/>
                  </a:ext>
                </a:extLst>
              </p:cNvPr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31" name="직사각형 42">
                <a:extLst>
                  <a:ext uri="{FF2B5EF4-FFF2-40B4-BE49-F238E27FC236}">
                    <a16:creationId xmlns:a16="http://schemas.microsoft.com/office/drawing/2014/main" id="{B8381F95-1EC4-4FFA-8418-D9850DCDD07D}"/>
                  </a:ext>
                </a:extLst>
              </p:cNvPr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32" name="직사각형 43">
                <a:extLst>
                  <a:ext uri="{FF2B5EF4-FFF2-40B4-BE49-F238E27FC236}">
                    <a16:creationId xmlns:a16="http://schemas.microsoft.com/office/drawing/2014/main" id="{57E480B7-3BC8-47A1-A80A-EAC4345B8933}"/>
                  </a:ext>
                </a:extLst>
              </p:cNvPr>
              <p:cNvSpPr/>
              <p:nvPr/>
            </p:nvSpPr>
            <p:spPr>
              <a:xfrm>
                <a:off x="5364088" y="204054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33" name="직사각형 44">
                <a:extLst>
                  <a:ext uri="{FF2B5EF4-FFF2-40B4-BE49-F238E27FC236}">
                    <a16:creationId xmlns:a16="http://schemas.microsoft.com/office/drawing/2014/main" id="{A80A28F9-87E6-499A-BB6E-33002CEC587C}"/>
                  </a:ext>
                </a:extLst>
              </p:cNvPr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34" name="직사각형 45">
                <a:extLst>
                  <a:ext uri="{FF2B5EF4-FFF2-40B4-BE49-F238E27FC236}">
                    <a16:creationId xmlns:a16="http://schemas.microsoft.com/office/drawing/2014/main" id="{28F4BD09-BFCC-4F8B-9537-FB0E7A73ABA6}"/>
                  </a:ext>
                </a:extLst>
              </p:cNvPr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35" name="직사각형 46">
                <a:extLst>
                  <a:ext uri="{FF2B5EF4-FFF2-40B4-BE49-F238E27FC236}">
                    <a16:creationId xmlns:a16="http://schemas.microsoft.com/office/drawing/2014/main" id="{1EE32923-B064-4830-B4A6-5AD3D80BBDC0}"/>
                  </a:ext>
                </a:extLst>
              </p:cNvPr>
              <p:cNvSpPr/>
              <p:nvPr/>
            </p:nvSpPr>
            <p:spPr>
              <a:xfrm>
                <a:off x="5364088" y="2904635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36" name="직사각형 47">
                <a:extLst>
                  <a:ext uri="{FF2B5EF4-FFF2-40B4-BE49-F238E27FC236}">
                    <a16:creationId xmlns:a16="http://schemas.microsoft.com/office/drawing/2014/main" id="{80B1F696-13EE-472A-86F3-5478192370E7}"/>
                  </a:ext>
                </a:extLst>
              </p:cNvPr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37" name="직사각형 48">
                <a:extLst>
                  <a:ext uri="{FF2B5EF4-FFF2-40B4-BE49-F238E27FC236}">
                    <a16:creationId xmlns:a16="http://schemas.microsoft.com/office/drawing/2014/main" id="{F9844881-0FFD-4F40-A76D-E78702AF7391}"/>
                  </a:ext>
                </a:extLst>
              </p:cNvPr>
              <p:cNvSpPr/>
              <p:nvPr/>
            </p:nvSpPr>
            <p:spPr>
              <a:xfrm>
                <a:off x="5364088" y="348070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38" name="직사각형 49">
                <a:extLst>
                  <a:ext uri="{FF2B5EF4-FFF2-40B4-BE49-F238E27FC236}">
                    <a16:creationId xmlns:a16="http://schemas.microsoft.com/office/drawing/2014/main" id="{F059D636-843B-418E-8D17-DDAA600F429B}"/>
                  </a:ext>
                </a:extLst>
              </p:cNvPr>
              <p:cNvSpPr/>
              <p:nvPr/>
            </p:nvSpPr>
            <p:spPr>
              <a:xfrm>
                <a:off x="5364088" y="376873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39" name="직사각형 50">
                <a:extLst>
                  <a:ext uri="{FF2B5EF4-FFF2-40B4-BE49-F238E27FC236}">
                    <a16:creationId xmlns:a16="http://schemas.microsoft.com/office/drawing/2014/main" id="{5D191FD3-73D9-4449-8B9C-FD105ADAA02A}"/>
                  </a:ext>
                </a:extLst>
              </p:cNvPr>
              <p:cNvSpPr/>
              <p:nvPr/>
            </p:nvSpPr>
            <p:spPr>
              <a:xfrm>
                <a:off x="5364084" y="4056765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40" name="직사각형 51">
                <a:extLst>
                  <a:ext uri="{FF2B5EF4-FFF2-40B4-BE49-F238E27FC236}">
                    <a16:creationId xmlns:a16="http://schemas.microsoft.com/office/drawing/2014/main" id="{CA0EAE16-F6A7-474D-A300-4B84F10FADD4}"/>
                  </a:ext>
                </a:extLst>
              </p:cNvPr>
              <p:cNvSpPr/>
              <p:nvPr/>
            </p:nvSpPr>
            <p:spPr>
              <a:xfrm>
                <a:off x="5364084" y="434571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41" name="직사각형 52">
                <a:extLst>
                  <a:ext uri="{FF2B5EF4-FFF2-40B4-BE49-F238E27FC236}">
                    <a16:creationId xmlns:a16="http://schemas.microsoft.com/office/drawing/2014/main" id="{5CE394D6-1FED-4519-99CB-0DF6FE751571}"/>
                  </a:ext>
                </a:extLst>
              </p:cNvPr>
              <p:cNvSpPr/>
              <p:nvPr/>
            </p:nvSpPr>
            <p:spPr>
              <a:xfrm>
                <a:off x="5364088" y="463374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42" name="직사각형 53">
                <a:extLst>
                  <a:ext uri="{FF2B5EF4-FFF2-40B4-BE49-F238E27FC236}">
                    <a16:creationId xmlns:a16="http://schemas.microsoft.com/office/drawing/2014/main" id="{FFCAFB1A-F3E5-472E-B10B-8029445104EC}"/>
                  </a:ext>
                </a:extLst>
              </p:cNvPr>
              <p:cNvSpPr/>
              <p:nvPr/>
            </p:nvSpPr>
            <p:spPr>
              <a:xfrm>
                <a:off x="5364088" y="49217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43" name="직사각형 54">
                <a:extLst>
                  <a:ext uri="{FF2B5EF4-FFF2-40B4-BE49-F238E27FC236}">
                    <a16:creationId xmlns:a16="http://schemas.microsoft.com/office/drawing/2014/main" id="{99EB32D7-883C-439E-8C51-4AE1CE454579}"/>
                  </a:ext>
                </a:extLst>
              </p:cNvPr>
              <p:cNvSpPr/>
              <p:nvPr/>
            </p:nvSpPr>
            <p:spPr>
              <a:xfrm>
                <a:off x="5364088" y="520889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  <p:grpSp>
          <p:nvGrpSpPr>
            <p:cNvPr id="118" name="그룹 29">
              <a:extLst>
                <a:ext uri="{FF2B5EF4-FFF2-40B4-BE49-F238E27FC236}">
                  <a16:creationId xmlns:a16="http://schemas.microsoft.com/office/drawing/2014/main" id="{F49B000F-CC15-4030-9978-132CC17CD497}"/>
                </a:ext>
              </a:extLst>
            </p:cNvPr>
            <p:cNvGrpSpPr/>
            <p:nvPr/>
          </p:nvGrpSpPr>
          <p:grpSpPr>
            <a:xfrm>
              <a:off x="5364083" y="2898498"/>
              <a:ext cx="2016228" cy="2516459"/>
              <a:chOff x="5364084" y="-23947"/>
              <a:chExt cx="1872212" cy="4697391"/>
            </a:xfrm>
          </p:grpSpPr>
          <p:sp>
            <p:nvSpPr>
              <p:cNvPr id="119" name="직사각형 30">
                <a:extLst>
                  <a:ext uri="{FF2B5EF4-FFF2-40B4-BE49-F238E27FC236}">
                    <a16:creationId xmlns:a16="http://schemas.microsoft.com/office/drawing/2014/main" id="{24F3E465-04EC-4A85-A584-948D24037F18}"/>
                  </a:ext>
                </a:extLst>
              </p:cNvPr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20" name="직사각형 31">
                <a:extLst>
                  <a:ext uri="{FF2B5EF4-FFF2-40B4-BE49-F238E27FC236}">
                    <a16:creationId xmlns:a16="http://schemas.microsoft.com/office/drawing/2014/main" id="{9ED0263B-A704-479E-813C-77C4F7B9B61A}"/>
                  </a:ext>
                </a:extLst>
              </p:cNvPr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21" name="직사각형 32">
                <a:extLst>
                  <a:ext uri="{FF2B5EF4-FFF2-40B4-BE49-F238E27FC236}">
                    <a16:creationId xmlns:a16="http://schemas.microsoft.com/office/drawing/2014/main" id="{A3A01633-A6DB-4429-8F98-20241A5D7205}"/>
                  </a:ext>
                </a:extLst>
              </p:cNvPr>
              <p:cNvSpPr/>
              <p:nvPr/>
            </p:nvSpPr>
            <p:spPr>
              <a:xfrm>
                <a:off x="5364088" y="2040539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22" name="직사각형 33">
                <a:extLst>
                  <a:ext uri="{FF2B5EF4-FFF2-40B4-BE49-F238E27FC236}">
                    <a16:creationId xmlns:a16="http://schemas.microsoft.com/office/drawing/2014/main" id="{960912F3-C90D-431C-BB11-246AD939B468}"/>
                  </a:ext>
                </a:extLst>
              </p:cNvPr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23" name="직사각형 34">
                <a:extLst>
                  <a:ext uri="{FF2B5EF4-FFF2-40B4-BE49-F238E27FC236}">
                    <a16:creationId xmlns:a16="http://schemas.microsoft.com/office/drawing/2014/main" id="{6F9F5C70-5C87-4439-8914-52C6E9C8231F}"/>
                  </a:ext>
                </a:extLst>
              </p:cNvPr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24" name="직사각형 35">
                <a:extLst>
                  <a:ext uri="{FF2B5EF4-FFF2-40B4-BE49-F238E27FC236}">
                    <a16:creationId xmlns:a16="http://schemas.microsoft.com/office/drawing/2014/main" id="{89B42B73-ED4F-4392-8A7A-D83DB159BA9A}"/>
                  </a:ext>
                </a:extLst>
              </p:cNvPr>
              <p:cNvSpPr/>
              <p:nvPr/>
            </p:nvSpPr>
            <p:spPr>
              <a:xfrm>
                <a:off x="5364088" y="290463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25" name="직사각형 36">
                <a:extLst>
                  <a:ext uri="{FF2B5EF4-FFF2-40B4-BE49-F238E27FC236}">
                    <a16:creationId xmlns:a16="http://schemas.microsoft.com/office/drawing/2014/main" id="{D63C8163-AF09-4D6E-9C53-2FF014988224}"/>
                  </a:ext>
                </a:extLst>
              </p:cNvPr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26" name="직사각형 37">
                <a:extLst>
                  <a:ext uri="{FF2B5EF4-FFF2-40B4-BE49-F238E27FC236}">
                    <a16:creationId xmlns:a16="http://schemas.microsoft.com/office/drawing/2014/main" id="{FB3C3D4C-C571-4FB5-9767-4CB68041B700}"/>
                  </a:ext>
                </a:extLst>
              </p:cNvPr>
              <p:cNvSpPr/>
              <p:nvPr/>
            </p:nvSpPr>
            <p:spPr>
              <a:xfrm>
                <a:off x="5364088" y="348069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27" name="직사각형 38">
                <a:extLst>
                  <a:ext uri="{FF2B5EF4-FFF2-40B4-BE49-F238E27FC236}">
                    <a16:creationId xmlns:a16="http://schemas.microsoft.com/office/drawing/2014/main" id="{E34005F7-9BEE-4AB6-A468-10DEA9A13BD5}"/>
                  </a:ext>
                </a:extLst>
              </p:cNvPr>
              <p:cNvSpPr/>
              <p:nvPr/>
            </p:nvSpPr>
            <p:spPr>
              <a:xfrm>
                <a:off x="5364088" y="376873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28" name="직사각형 39">
                <a:extLst>
                  <a:ext uri="{FF2B5EF4-FFF2-40B4-BE49-F238E27FC236}">
                    <a16:creationId xmlns:a16="http://schemas.microsoft.com/office/drawing/2014/main" id="{B33C5685-DB57-4824-85AB-AFF70D086FAD}"/>
                  </a:ext>
                </a:extLst>
              </p:cNvPr>
              <p:cNvSpPr/>
              <p:nvPr/>
            </p:nvSpPr>
            <p:spPr>
              <a:xfrm>
                <a:off x="5364088" y="4056763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129" name="직사각형 40">
                <a:extLst>
                  <a:ext uri="{FF2B5EF4-FFF2-40B4-BE49-F238E27FC236}">
                    <a16:creationId xmlns:a16="http://schemas.microsoft.com/office/drawing/2014/main" id="{2EC7FC43-C4A2-4973-8BC0-1D7CCED36EA9}"/>
                  </a:ext>
                </a:extLst>
              </p:cNvPr>
              <p:cNvSpPr/>
              <p:nvPr/>
            </p:nvSpPr>
            <p:spPr>
              <a:xfrm>
                <a:off x="5364084" y="-23947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</p:grpSp>
      <p:sp>
        <p:nvSpPr>
          <p:cNvPr id="144" name="직사각형 55">
            <a:extLst>
              <a:ext uri="{FF2B5EF4-FFF2-40B4-BE49-F238E27FC236}">
                <a16:creationId xmlns:a16="http://schemas.microsoft.com/office/drawing/2014/main" id="{BFC46FC7-A943-4492-BF58-4130DC265481}"/>
              </a:ext>
            </a:extLst>
          </p:cNvPr>
          <p:cNvSpPr/>
          <p:nvPr/>
        </p:nvSpPr>
        <p:spPr>
          <a:xfrm>
            <a:off x="4542363" y="5858887"/>
            <a:ext cx="1008112" cy="1635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45" name="직선 화살표 연결선 86">
            <a:extLst>
              <a:ext uri="{FF2B5EF4-FFF2-40B4-BE49-F238E27FC236}">
                <a16:creationId xmlns:a16="http://schemas.microsoft.com/office/drawing/2014/main" id="{8CAA7C67-B390-4151-8D5D-3D38059A1435}"/>
              </a:ext>
            </a:extLst>
          </p:cNvPr>
          <p:cNvCxnSpPr>
            <a:cxnSpLocks/>
          </p:cNvCxnSpPr>
          <p:nvPr/>
        </p:nvCxnSpPr>
        <p:spPr>
          <a:xfrm>
            <a:off x="3582195" y="2413487"/>
            <a:ext cx="919075" cy="1126464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88">
            <a:extLst>
              <a:ext uri="{FF2B5EF4-FFF2-40B4-BE49-F238E27FC236}">
                <a16:creationId xmlns:a16="http://schemas.microsoft.com/office/drawing/2014/main" id="{4F02F5A2-30A1-4386-AE11-AF44C10833E6}"/>
              </a:ext>
            </a:extLst>
          </p:cNvPr>
          <p:cNvCxnSpPr>
            <a:cxnSpLocks/>
          </p:cNvCxnSpPr>
          <p:nvPr/>
        </p:nvCxnSpPr>
        <p:spPr>
          <a:xfrm flipV="1">
            <a:off x="3719620" y="2462288"/>
            <a:ext cx="774828" cy="3157286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91">
            <a:extLst>
              <a:ext uri="{FF2B5EF4-FFF2-40B4-BE49-F238E27FC236}">
                <a16:creationId xmlns:a16="http://schemas.microsoft.com/office/drawing/2014/main" id="{27EB65AD-3E41-4B20-B88F-A6623AF04E52}"/>
              </a:ext>
            </a:extLst>
          </p:cNvPr>
          <p:cNvCxnSpPr>
            <a:cxnSpLocks/>
          </p:cNvCxnSpPr>
          <p:nvPr/>
        </p:nvCxnSpPr>
        <p:spPr>
          <a:xfrm>
            <a:off x="3597141" y="3352265"/>
            <a:ext cx="904129" cy="93555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93">
            <a:extLst>
              <a:ext uri="{FF2B5EF4-FFF2-40B4-BE49-F238E27FC236}">
                <a16:creationId xmlns:a16="http://schemas.microsoft.com/office/drawing/2014/main" id="{74801DB2-3A04-4CEF-879C-38F438CBC9C3}"/>
              </a:ext>
            </a:extLst>
          </p:cNvPr>
          <p:cNvCxnSpPr>
            <a:cxnSpLocks/>
          </p:cNvCxnSpPr>
          <p:nvPr/>
        </p:nvCxnSpPr>
        <p:spPr>
          <a:xfrm flipV="1">
            <a:off x="3719620" y="5646745"/>
            <a:ext cx="774828" cy="256973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직사각형 95">
            <a:extLst>
              <a:ext uri="{FF2B5EF4-FFF2-40B4-BE49-F238E27FC236}">
                <a16:creationId xmlns:a16="http://schemas.microsoft.com/office/drawing/2014/main" id="{A93CDDE6-C421-4D05-9806-5980BD4D7F65}"/>
              </a:ext>
            </a:extLst>
          </p:cNvPr>
          <p:cNvSpPr/>
          <p:nvPr/>
        </p:nvSpPr>
        <p:spPr>
          <a:xfrm>
            <a:off x="3597141" y="2454038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</a:t>
            </a:r>
            <a:endParaRPr lang="ko-KR" altLang="en-US" sz="11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84E5440-30ED-4154-B3BD-0CBF0FF5C72D}"/>
              </a:ext>
            </a:extLst>
          </p:cNvPr>
          <p:cNvSpPr txBox="1"/>
          <p:nvPr/>
        </p:nvSpPr>
        <p:spPr>
          <a:xfrm>
            <a:off x="2077404" y="1889610"/>
            <a:ext cx="1865036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Virtual Address</a:t>
            </a:r>
          </a:p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Space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3A0F711-14AD-4D2E-BCF0-5B8B593E94F2}"/>
              </a:ext>
            </a:extLst>
          </p:cNvPr>
          <p:cNvSpPr txBox="1"/>
          <p:nvPr/>
        </p:nvSpPr>
        <p:spPr>
          <a:xfrm>
            <a:off x="4137201" y="1631989"/>
            <a:ext cx="1755379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</a:p>
        </p:txBody>
      </p:sp>
      <p:sp>
        <p:nvSpPr>
          <p:cNvPr id="152" name="직사각형 55">
            <a:extLst>
              <a:ext uri="{FF2B5EF4-FFF2-40B4-BE49-F238E27FC236}">
                <a16:creationId xmlns:a16="http://schemas.microsoft.com/office/drawing/2014/main" id="{044A0EE4-ED49-4B13-8C76-D525C4530008}"/>
              </a:ext>
            </a:extLst>
          </p:cNvPr>
          <p:cNvSpPr/>
          <p:nvPr/>
        </p:nvSpPr>
        <p:spPr>
          <a:xfrm>
            <a:off x="4548865" y="3476369"/>
            <a:ext cx="1008112" cy="1635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E5F8B3E4-FEF9-4EA9-8C23-3DB66940E898}"/>
              </a:ext>
            </a:extLst>
          </p:cNvPr>
          <p:cNvCxnSpPr/>
          <p:nvPr/>
        </p:nvCxnSpPr>
        <p:spPr>
          <a:xfrm>
            <a:off x="2591735" y="5720069"/>
            <a:ext cx="8399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직사각형 37">
            <a:extLst>
              <a:ext uri="{FF2B5EF4-FFF2-40B4-BE49-F238E27FC236}">
                <a16:creationId xmlns:a16="http://schemas.microsoft.com/office/drawing/2014/main" id="{4EAEDC6C-1EE6-4342-A3EB-0CFAF0970E6F}"/>
              </a:ext>
            </a:extLst>
          </p:cNvPr>
          <p:cNvSpPr/>
          <p:nvPr/>
        </p:nvSpPr>
        <p:spPr>
          <a:xfrm>
            <a:off x="4543388" y="5696928"/>
            <a:ext cx="1008112" cy="33855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5" name="직사각형 85">
            <a:extLst>
              <a:ext uri="{FF2B5EF4-FFF2-40B4-BE49-F238E27FC236}">
                <a16:creationId xmlns:a16="http://schemas.microsoft.com/office/drawing/2014/main" id="{B6D98751-8F54-42C4-BA2D-291C7FD0F159}"/>
              </a:ext>
            </a:extLst>
          </p:cNvPr>
          <p:cNvSpPr/>
          <p:nvPr/>
        </p:nvSpPr>
        <p:spPr>
          <a:xfrm>
            <a:off x="5285447" y="1803648"/>
            <a:ext cx="612068" cy="4455066"/>
          </a:xfrm>
          <a:prstGeom prst="rect">
            <a:avLst/>
          </a:prstGeom>
          <a:noFill/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25</a:t>
            </a:r>
          </a:p>
          <a:p>
            <a:pPr algn="ctr"/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253489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내용 개체 틀 2"/>
          <p:cNvSpPr txBox="1">
            <a:spLocks/>
          </p:cNvSpPr>
          <p:nvPr/>
        </p:nvSpPr>
        <p:spPr bwMode="auto">
          <a:xfrm>
            <a:off x="1738313" y="88007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Most of the page table is </a:t>
            </a:r>
            <a:r>
              <a:rPr lang="en-US" altLang="ko-KR" b="1" dirty="0">
                <a:solidFill>
                  <a:srgbClr val="FF0000"/>
                </a:solidFill>
                <a:latin typeface="Oswald" pitchFamily="2" charset="0"/>
              </a:rPr>
              <a:t>unused</a:t>
            </a:r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, full of invalid entries</a:t>
            </a:r>
            <a:endParaRPr lang="ko-KR" altLang="en-US" dirty="0">
              <a:solidFill>
                <a:prstClr val="black"/>
              </a:solidFill>
              <a:latin typeface="Oswald" pitchFamily="2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Problem</a:t>
            </a:r>
            <a:endParaRPr lang="ko-KR" altLang="en-US"/>
          </a:p>
        </p:txBody>
      </p:sp>
      <p:graphicFrame>
        <p:nvGraphicFramePr>
          <p:cNvPr id="8" name="내용 개체 틀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5746223"/>
              </p:ext>
            </p:extLst>
          </p:nvPr>
        </p:nvGraphicFramePr>
        <p:xfrm>
          <a:off x="2591735" y="2304025"/>
          <a:ext cx="1224136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312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</a:p>
                    <a:p>
                      <a:pPr latinLnBrk="1"/>
                      <a:endParaRPr lang="en-US" altLang="ko-KR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067512" y="2232018"/>
            <a:ext cx="52450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code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042062" y="3168122"/>
            <a:ext cx="5293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035650" y="5256354"/>
            <a:ext cx="53572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4542362" y="1893599"/>
            <a:ext cx="1008116" cy="3970224"/>
            <a:chOff x="5364083" y="1540769"/>
            <a:chExt cx="2016231" cy="3874188"/>
          </a:xfrm>
        </p:grpSpPr>
        <p:grpSp>
          <p:nvGrpSpPr>
            <p:cNvPr id="29" name="그룹 28"/>
            <p:cNvGrpSpPr/>
            <p:nvPr/>
          </p:nvGrpSpPr>
          <p:grpSpPr>
            <a:xfrm>
              <a:off x="5364085" y="1540769"/>
              <a:ext cx="2016229" cy="2336302"/>
              <a:chOff x="5364084" y="1464476"/>
              <a:chExt cx="1872212" cy="4361097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5364088" y="204054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5364088" y="2904635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5364088" y="348070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5364088" y="376873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5364084" y="4056765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5364084" y="434571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5364088" y="463374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5364088" y="49217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5364088" y="520889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5364083" y="2898498"/>
              <a:ext cx="2016228" cy="2516459"/>
              <a:chOff x="5364084" y="-23947"/>
              <a:chExt cx="1872212" cy="4697391"/>
            </a:xfrm>
          </p:grpSpPr>
          <p:sp>
            <p:nvSpPr>
              <p:cNvPr id="31" name="직사각형 30"/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5364088" y="2040539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5364088" y="290463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5364088" y="348069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5364088" y="376873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5364088" y="4056763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5364084" y="-23947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</p:grpSp>
      <p:sp>
        <p:nvSpPr>
          <p:cNvPr id="56" name="직사각형 55"/>
          <p:cNvSpPr/>
          <p:nvPr/>
        </p:nvSpPr>
        <p:spPr>
          <a:xfrm>
            <a:off x="4542363" y="5858887"/>
            <a:ext cx="1008112" cy="1635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5285447" y="1803648"/>
            <a:ext cx="612068" cy="4455066"/>
          </a:xfrm>
          <a:prstGeom prst="rect">
            <a:avLst/>
          </a:prstGeom>
          <a:noFill/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25</a:t>
            </a:r>
          </a:p>
          <a:p>
            <a:pPr algn="ctr"/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87" name="직선 화살표 연결선 86"/>
          <p:cNvCxnSpPr>
            <a:cxnSpLocks/>
          </p:cNvCxnSpPr>
          <p:nvPr/>
        </p:nvCxnSpPr>
        <p:spPr>
          <a:xfrm>
            <a:off x="3582195" y="2413487"/>
            <a:ext cx="919075" cy="1126464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cxnSpLocks/>
          </p:cNvCxnSpPr>
          <p:nvPr/>
        </p:nvCxnSpPr>
        <p:spPr>
          <a:xfrm flipV="1">
            <a:off x="3719620" y="2462288"/>
            <a:ext cx="774828" cy="3157286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>
            <a:cxnSpLocks/>
          </p:cNvCxnSpPr>
          <p:nvPr/>
        </p:nvCxnSpPr>
        <p:spPr>
          <a:xfrm>
            <a:off x="3597141" y="3352265"/>
            <a:ext cx="904129" cy="93555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>
            <a:cxnSpLocks/>
          </p:cNvCxnSpPr>
          <p:nvPr/>
        </p:nvCxnSpPr>
        <p:spPr>
          <a:xfrm flipV="1">
            <a:off x="3719620" y="5646745"/>
            <a:ext cx="774828" cy="256973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3597141" y="2454038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</a:t>
            </a:r>
            <a:endParaRPr lang="ko-KR" altLang="en-US" sz="11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2077404" y="1889610"/>
            <a:ext cx="1865036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Virtual Address</a:t>
            </a:r>
          </a:p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Space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137201" y="1631989"/>
            <a:ext cx="1755379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221499" y="6289575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16KB Address Space with 1KB Pages</a:t>
            </a:r>
          </a:p>
        </p:txBody>
      </p:sp>
      <p:graphicFrame>
        <p:nvGraphicFramePr>
          <p:cNvPr id="101" name="표 100"/>
          <p:cNvGraphicFramePr>
            <a:graphicFrameLocks noGrp="1"/>
          </p:cNvGraphicFramePr>
          <p:nvPr/>
        </p:nvGraphicFramePr>
        <p:xfrm>
          <a:off x="6244135" y="2085461"/>
          <a:ext cx="3744415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9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present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dirty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r-x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6131719" y="4995698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Page Table For 16KB Address Space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6243383" y="3799141"/>
            <a:ext cx="3750918" cy="48867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237632" y="2706536"/>
            <a:ext cx="3750918" cy="79063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9" name="직사각형 55">
            <a:extLst>
              <a:ext uri="{FF2B5EF4-FFF2-40B4-BE49-F238E27FC236}">
                <a16:creationId xmlns:a16="http://schemas.microsoft.com/office/drawing/2014/main" id="{4D4B71FB-23F7-42E2-9118-9EA42B4E7C98}"/>
              </a:ext>
            </a:extLst>
          </p:cNvPr>
          <p:cNvSpPr/>
          <p:nvPr/>
        </p:nvSpPr>
        <p:spPr>
          <a:xfrm>
            <a:off x="4548865" y="3476369"/>
            <a:ext cx="1008112" cy="1635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6983DB-6EF4-426C-B1B6-E473904DBAA2}"/>
              </a:ext>
            </a:extLst>
          </p:cNvPr>
          <p:cNvCxnSpPr/>
          <p:nvPr/>
        </p:nvCxnSpPr>
        <p:spPr>
          <a:xfrm>
            <a:off x="2591735" y="5720069"/>
            <a:ext cx="8399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37">
            <a:extLst>
              <a:ext uri="{FF2B5EF4-FFF2-40B4-BE49-F238E27FC236}">
                <a16:creationId xmlns:a16="http://schemas.microsoft.com/office/drawing/2014/main" id="{7B807953-B8C2-4FF7-B346-3CD09D8B0EA2}"/>
              </a:ext>
            </a:extLst>
          </p:cNvPr>
          <p:cNvSpPr/>
          <p:nvPr/>
        </p:nvSpPr>
        <p:spPr>
          <a:xfrm>
            <a:off x="4543388" y="5696928"/>
            <a:ext cx="1008112" cy="33855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358473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Hybrid Approach: Paging and Segments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 order to reduce the memory overhead of page tables</a:t>
            </a:r>
          </a:p>
          <a:p>
            <a:pPr lvl="1"/>
            <a:r>
              <a:rPr lang="en-US" altLang="ko-KR" dirty="0"/>
              <a:t>Using base </a:t>
            </a:r>
            <a:r>
              <a:rPr lang="en-US" altLang="ko-KR" dirty="0" err="1"/>
              <a:t>regster</a:t>
            </a:r>
            <a:r>
              <a:rPr lang="en-US" altLang="ko-KR" dirty="0"/>
              <a:t> not to point to the segment itself but rather to hold the </a:t>
            </a:r>
            <a:r>
              <a:rPr lang="en-US" altLang="ko-KR" dirty="0">
                <a:solidFill>
                  <a:schemeClr val="accent6"/>
                </a:solidFill>
              </a:rPr>
              <a:t>physical address of the page table </a:t>
            </a:r>
            <a:r>
              <a:rPr lang="en-US" altLang="ko-KR" dirty="0"/>
              <a:t>of that segment</a:t>
            </a:r>
            <a:endParaRPr lang="ko-KR" altLang="en-US" dirty="0"/>
          </a:p>
          <a:p>
            <a:pPr lvl="1"/>
            <a:r>
              <a:rPr lang="en-US" altLang="ko-KR" dirty="0"/>
              <a:t>The bounds register is used to indicate the end of the page table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4060845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Example of Hybrid Approach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cs typeface="Courier New" pitchFamily="49" charset="0"/>
              </a:rPr>
              <a:t>Each process has </a:t>
            </a:r>
            <a:r>
              <a:rPr lang="en-US" altLang="ko-KR" dirty="0">
                <a:solidFill>
                  <a:srgbClr val="FF0000"/>
                </a:solidFill>
                <a:cs typeface="Courier New" pitchFamily="49" charset="0"/>
              </a:rPr>
              <a:t>three</a:t>
            </a:r>
            <a:r>
              <a:rPr lang="en-US" altLang="ko-KR" dirty="0">
                <a:cs typeface="Courier New" pitchFamily="49" charset="0"/>
              </a:rPr>
              <a:t> page tables associated with it, one for each segment</a:t>
            </a:r>
          </a:p>
          <a:p>
            <a:pPr lvl="1"/>
            <a:r>
              <a:rPr lang="en-US" altLang="ko-KR" dirty="0"/>
              <a:t>When process is running, the </a:t>
            </a:r>
            <a:r>
              <a:rPr lang="en-US" altLang="ko-KR" dirty="0">
                <a:solidFill>
                  <a:schemeClr val="accent1"/>
                </a:solidFill>
              </a:rPr>
              <a:t>base register for each of these segments</a:t>
            </a:r>
            <a:r>
              <a:rPr lang="en-US" altLang="ko-KR" dirty="0"/>
              <a:t> contains the </a:t>
            </a:r>
            <a:r>
              <a:rPr lang="en-US" altLang="ko-KR" dirty="0">
                <a:solidFill>
                  <a:schemeClr val="accent4"/>
                </a:solidFill>
              </a:rPr>
              <a:t>physical address of a linear page table for that segment</a:t>
            </a:r>
          </a:p>
          <a:p>
            <a:endParaRPr lang="ko-KR" altLang="en-US" dirty="0"/>
          </a:p>
        </p:txBody>
      </p:sp>
      <p:graphicFrame>
        <p:nvGraphicFramePr>
          <p:cNvPr id="6" name="내용 개체 틀 11"/>
          <p:cNvGraphicFramePr>
            <a:graphicFrameLocks/>
          </p:cNvGraphicFramePr>
          <p:nvPr/>
        </p:nvGraphicFramePr>
        <p:xfrm>
          <a:off x="2362624" y="2898681"/>
          <a:ext cx="70294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54612" y="3366615"/>
            <a:ext cx="648072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SN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2362624" y="3258721"/>
            <a:ext cx="0" cy="18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2794672" y="3263512"/>
            <a:ext cx="0" cy="18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2362624" y="3356992"/>
            <a:ext cx="432048" cy="0"/>
          </a:xfrm>
          <a:prstGeom prst="straightConnector1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2794672" y="3366615"/>
            <a:ext cx="3744416" cy="0"/>
          </a:xfrm>
          <a:prstGeom prst="straightConnector1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6530754" y="3268344"/>
            <a:ext cx="0" cy="18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34832" y="3366615"/>
            <a:ext cx="648072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</a:p>
        </p:txBody>
      </p:sp>
      <p:cxnSp>
        <p:nvCxnSpPr>
          <p:cNvPr id="19" name="직선 연결선 18"/>
          <p:cNvCxnSpPr/>
          <p:nvPr/>
        </p:nvCxnSpPr>
        <p:spPr>
          <a:xfrm>
            <a:off x="9390833" y="3284984"/>
            <a:ext cx="0" cy="18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6539089" y="3366615"/>
            <a:ext cx="2851745" cy="0"/>
          </a:xfrm>
          <a:prstGeom prst="straightConnector1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40924" y="3356992"/>
            <a:ext cx="648072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3714" y="2637072"/>
            <a:ext cx="7279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31 30 29 28 27 26 25 24 23 22 21 20 19 18 17 16 15 14 13 12 11 10 9   8   7  6  5   4   3  2  1   0 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939732"/>
              </p:ext>
            </p:extLst>
          </p:nvPr>
        </p:nvGraphicFramePr>
        <p:xfrm>
          <a:off x="4151784" y="4289837"/>
          <a:ext cx="345399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2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1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6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SN</a:t>
                      </a:r>
                      <a:r>
                        <a:rPr lang="en-US" altLang="ko-KR" sz="1200" baseline="0" dirty="0">
                          <a:latin typeface="맑은 고딕" pitchFamily="50" charset="-127"/>
                          <a:ea typeface="맑은 고딕" pitchFamily="50" charset="-127"/>
                        </a:rPr>
                        <a:t> value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Content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unused</a:t>
                      </a:r>
                      <a:r>
                        <a:rPr lang="en-US" altLang="ko-KR" sz="1200" baseline="0" dirty="0">
                          <a:latin typeface="맑은 고딕" pitchFamily="50" charset="-127"/>
                          <a:ea typeface="맑은 고딕" pitchFamily="50" charset="-127"/>
                        </a:rPr>
                        <a:t> segment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맑은 고딕" pitchFamily="50" charset="-127"/>
                          <a:ea typeface="맑은 고딕" pitchFamily="50" charset="-127"/>
                        </a:rPr>
                        <a:t>heap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stack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939383" y="3834786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32-bit Virtual address space with 4KB pages</a:t>
            </a:r>
          </a:p>
        </p:txBody>
      </p:sp>
    </p:spTree>
    <p:extLst>
      <p:ext uri="{BB962C8B-B14F-4D97-AF65-F5344CB8AC3E}">
        <p14:creationId xmlns:p14="http://schemas.microsoft.com/office/powerpoint/2010/main" val="1710435478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miss on Hybrid Approach (Hardware-managed TLB)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hardware uses the </a:t>
            </a:r>
            <a:r>
              <a:rPr lang="en-US" altLang="ko-KR" dirty="0">
                <a:solidFill>
                  <a:schemeClr val="accent2"/>
                </a:solidFill>
              </a:rPr>
              <a:t>segment bits(SN) </a:t>
            </a:r>
            <a:r>
              <a:rPr lang="en-US" altLang="ko-KR" dirty="0"/>
              <a:t>to determine which base </a:t>
            </a:r>
            <a:r>
              <a:rPr lang="en-US" altLang="ko-KR" dirty="0" err="1"/>
              <a:t>reegister</a:t>
            </a:r>
            <a:r>
              <a:rPr lang="en-US" altLang="ko-KR" dirty="0"/>
              <a:t> and bounds pair to use</a:t>
            </a:r>
          </a:p>
          <a:p>
            <a:r>
              <a:rPr lang="en-US" altLang="ko-KR" dirty="0"/>
              <a:t>The hardware then takes the </a:t>
            </a:r>
            <a:r>
              <a:rPr lang="en-US" altLang="ko-KR" dirty="0">
                <a:solidFill>
                  <a:schemeClr val="accent3"/>
                </a:solidFill>
              </a:rPr>
              <a:t>physical address </a:t>
            </a:r>
            <a:r>
              <a:rPr lang="en-US" altLang="ko-KR" dirty="0"/>
              <a:t>therein and combines it with the </a:t>
            </a:r>
            <a:r>
              <a:rPr lang="en-US" altLang="ko-KR" dirty="0">
                <a:solidFill>
                  <a:schemeClr val="accent5"/>
                </a:solidFill>
              </a:rPr>
              <a:t>VPN</a:t>
            </a:r>
            <a:r>
              <a:rPr lang="en-US" altLang="ko-KR" dirty="0"/>
              <a:t> as follows to form the address of the </a:t>
            </a:r>
            <a:r>
              <a:rPr lang="en-US" altLang="ko-KR" dirty="0">
                <a:solidFill>
                  <a:schemeClr val="accent4"/>
                </a:solidFill>
              </a:rPr>
              <a:t>page table entry(PTE) 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711624" y="3439845"/>
            <a:ext cx="6264696" cy="106182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01:	SN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SEG_MASK) &gt;&gt; SN_SHIFT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02:	VPN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VPN_MASK) &gt;&gt; VPN_SHIFT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03: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AddressOfPTE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Base[SN] + (VPN *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(PTE))</a:t>
            </a:r>
          </a:p>
        </p:txBody>
      </p:sp>
    </p:spTree>
    <p:extLst>
      <p:ext uri="{BB962C8B-B14F-4D97-AF65-F5344CB8AC3E}">
        <p14:creationId xmlns:p14="http://schemas.microsoft.com/office/powerpoint/2010/main" val="1629810129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If we have a large but sparsely-used heap, we can still end up with a lot of page table waste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External fragmentation can arise again because page tables can be arbitrary in size</a:t>
            </a:r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Problems of Hybrid Approach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9428902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Turns the linear page table into something like a tree</a:t>
            </a:r>
          </a:p>
          <a:p>
            <a:pPr lvl="1"/>
            <a:r>
              <a:rPr lang="en-US" altLang="ko-KR" dirty="0"/>
              <a:t>Chop up the page table into page-sized units</a:t>
            </a:r>
          </a:p>
          <a:p>
            <a:pPr lvl="1"/>
            <a:r>
              <a:rPr lang="en-US" altLang="ko-KR" dirty="0"/>
              <a:t>If an entire page of page-table entries is invalid, don’t allocate that page of the page table at all</a:t>
            </a:r>
          </a:p>
          <a:p>
            <a:pPr lvl="1"/>
            <a:r>
              <a:rPr lang="en-US" altLang="ko-KR" dirty="0"/>
              <a:t>To track whether a page of the page table is valid, use a new structure, called </a:t>
            </a:r>
            <a:r>
              <a:rPr lang="en-US" altLang="ko-KR" dirty="0">
                <a:solidFill>
                  <a:schemeClr val="accent6"/>
                </a:solidFill>
              </a:rPr>
              <a:t>page directory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1636354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내용 개체 틀 2"/>
          <p:cNvSpPr txBox="1">
            <a:spLocks/>
          </p:cNvSpPr>
          <p:nvPr/>
        </p:nvSpPr>
        <p:spPr bwMode="auto">
          <a:xfrm>
            <a:off x="1755428" y="880070"/>
            <a:ext cx="8786812" cy="4205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Tables: Page directory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389193" y="1412777"/>
            <a:ext cx="1779910" cy="2845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75521" y="1362254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PTBR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63553" y="1052737"/>
            <a:ext cx="2309627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Linear Page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90560" y="1052737"/>
            <a:ext cx="231760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Multi-level Page Table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2095556" y="2039562"/>
            <a:ext cx="587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valid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 rot="16200000">
            <a:off x="2482262" y="2061686"/>
            <a:ext cx="546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74798" y="2113112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88" name="표 87"/>
          <p:cNvGraphicFramePr>
            <a:graphicFrameLocks noGrp="1"/>
          </p:cNvGraphicFramePr>
          <p:nvPr/>
        </p:nvGraphicFramePr>
        <p:xfrm>
          <a:off x="2291145" y="2445986"/>
          <a:ext cx="163699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90" name="직선 연결선 89"/>
          <p:cNvCxnSpPr/>
          <p:nvPr/>
        </p:nvCxnSpPr>
        <p:spPr>
          <a:xfrm>
            <a:off x="2112736" y="2445986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>
            <a:off x="2112736" y="3548502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>
            <a:off x="2083777" y="4624502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4191634" y="1555054"/>
            <a:ext cx="32874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/>
          <p:nvPr/>
        </p:nvCxnSpPr>
        <p:spPr>
          <a:xfrm>
            <a:off x="4511824" y="1555054"/>
            <a:ext cx="0" cy="89093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 flipH="1">
            <a:off x="4151784" y="2437994"/>
            <a:ext cx="360040" cy="417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 rot="16200000">
            <a:off x="3766236" y="2868380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 rot="16200000">
            <a:off x="3724483" y="3941032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PFN202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 rot="16200000">
            <a:off x="3724482" y="4998566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PFN203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0" name="직선 연결선 119"/>
          <p:cNvCxnSpPr/>
          <p:nvPr/>
        </p:nvCxnSpPr>
        <p:spPr>
          <a:xfrm>
            <a:off x="7342123" y="1563242"/>
            <a:ext cx="20976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/>
          <p:nvPr/>
        </p:nvCxnSpPr>
        <p:spPr>
          <a:xfrm>
            <a:off x="7550265" y="1562143"/>
            <a:ext cx="0" cy="97856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 flipH="1">
            <a:off x="7018752" y="2532575"/>
            <a:ext cx="531514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/>
          <p:nvPr/>
        </p:nvCxnSpPr>
        <p:spPr>
          <a:xfrm>
            <a:off x="5283516" y="2551625"/>
            <a:ext cx="173523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5" name="표 124"/>
          <p:cNvGraphicFramePr>
            <a:graphicFrameLocks noGrp="1"/>
          </p:cNvGraphicFramePr>
          <p:nvPr/>
        </p:nvGraphicFramePr>
        <p:xfrm>
          <a:off x="5761161" y="2568514"/>
          <a:ext cx="113294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4" name="직선 연결선 123"/>
          <p:cNvCxnSpPr/>
          <p:nvPr/>
        </p:nvCxnSpPr>
        <p:spPr>
          <a:xfrm>
            <a:off x="5283516" y="3678148"/>
            <a:ext cx="173523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4943872" y="3704189"/>
            <a:ext cx="2376264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Page Directory</a:t>
            </a:r>
          </a:p>
        </p:txBody>
      </p:sp>
      <p:cxnSp>
        <p:nvCxnSpPr>
          <p:cNvPr id="128" name="직선 연결선 127"/>
          <p:cNvCxnSpPr/>
          <p:nvPr/>
        </p:nvCxnSpPr>
        <p:spPr>
          <a:xfrm>
            <a:off x="6960097" y="2680690"/>
            <a:ext cx="1037071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 rot="16200000">
            <a:off x="5109936" y="2958448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PFN200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9" name="TextBox 138"/>
          <p:cNvSpPr txBox="1"/>
          <p:nvPr/>
        </p:nvSpPr>
        <p:spPr>
          <a:xfrm rot="16200000">
            <a:off x="5575165" y="2156649"/>
            <a:ext cx="587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valid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6175210" y="2257128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41" name="표 140"/>
          <p:cNvGraphicFramePr>
            <a:graphicFrameLocks noGrp="1"/>
          </p:cNvGraphicFramePr>
          <p:nvPr/>
        </p:nvGraphicFramePr>
        <p:xfrm>
          <a:off x="8141184" y="2573258"/>
          <a:ext cx="163699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7" name="TextBox 146"/>
          <p:cNvSpPr txBox="1"/>
          <p:nvPr/>
        </p:nvSpPr>
        <p:spPr>
          <a:xfrm rot="16200000">
            <a:off x="9533105" y="302385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8" name="TextBox 147"/>
          <p:cNvSpPr txBox="1"/>
          <p:nvPr/>
        </p:nvSpPr>
        <p:spPr>
          <a:xfrm rot="16200000">
            <a:off x="7951968" y="2150718"/>
            <a:ext cx="587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valid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9" name="TextBox 148"/>
          <p:cNvSpPr txBox="1"/>
          <p:nvPr/>
        </p:nvSpPr>
        <p:spPr>
          <a:xfrm rot="16200000">
            <a:off x="8338674" y="2172842"/>
            <a:ext cx="546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9076903" y="2209536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7824192" y="3815836"/>
            <a:ext cx="252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[Page 1 of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PT:Not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Allocated]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824192" y="4391900"/>
            <a:ext cx="2952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[Page 2 of PT: Not Allocated]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7010048" y="3518856"/>
            <a:ext cx="984379" cy="1432978"/>
            <a:chOff x="6081232" y="3909161"/>
            <a:chExt cx="984379" cy="1432978"/>
          </a:xfrm>
        </p:grpSpPr>
        <p:cxnSp>
          <p:nvCxnSpPr>
            <p:cNvPr id="136" name="직선 연결선 135"/>
            <p:cNvCxnSpPr/>
            <p:nvPr/>
          </p:nvCxnSpPr>
          <p:spPr>
            <a:xfrm>
              <a:off x="6568243" y="5332614"/>
              <a:ext cx="497368" cy="0"/>
            </a:xfrm>
            <a:prstGeom prst="line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/>
            <p:cNvCxnSpPr/>
            <p:nvPr/>
          </p:nvCxnSpPr>
          <p:spPr>
            <a:xfrm>
              <a:off x="6081232" y="3909161"/>
              <a:ext cx="4820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/>
            <p:cNvCxnSpPr/>
            <p:nvPr/>
          </p:nvCxnSpPr>
          <p:spPr>
            <a:xfrm>
              <a:off x="6563232" y="3909161"/>
              <a:ext cx="0" cy="1432978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59" name="표 158"/>
          <p:cNvGraphicFramePr>
            <a:graphicFrameLocks noGrp="1"/>
          </p:cNvGraphicFramePr>
          <p:nvPr/>
        </p:nvGraphicFramePr>
        <p:xfrm>
          <a:off x="8111258" y="4843616"/>
          <a:ext cx="163699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0" name="TextBox 159"/>
          <p:cNvSpPr txBox="1"/>
          <p:nvPr/>
        </p:nvSpPr>
        <p:spPr>
          <a:xfrm rot="16200000">
            <a:off x="9537565" y="5236470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PFN204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>
            <a:off x="7980168" y="3660062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7975651" y="4248491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7979626" y="4830306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2083777" y="5730149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8000965" y="2564904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8000377" y="5949280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5559606" y="1419866"/>
            <a:ext cx="1779910" cy="2845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200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945934" y="1369343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PTBR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791288" y="6093296"/>
            <a:ext cx="632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Linear (Left) And Multi-Level (Right) Page Tables</a:t>
            </a:r>
            <a:endParaRPr lang="ko-KR" altLang="en-US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0542852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Tables: Page directory entries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page directory contains one entry per page of the page table</a:t>
            </a:r>
          </a:p>
          <a:p>
            <a:pPr lvl="1"/>
            <a:r>
              <a:rPr lang="en-US" altLang="ko-KR" dirty="0"/>
              <a:t>It consists of a number of</a:t>
            </a:r>
            <a:r>
              <a:rPr lang="en-US" altLang="ko-KR" dirty="0">
                <a:solidFill>
                  <a:schemeClr val="accent6"/>
                </a:solidFill>
              </a:rPr>
              <a:t> page directory entries(PDE)</a:t>
            </a:r>
          </a:p>
          <a:p>
            <a:r>
              <a:rPr lang="en-US" altLang="ko-KR" dirty="0"/>
              <a:t>PDE has </a:t>
            </a:r>
            <a:r>
              <a:rPr lang="en-US" altLang="ko-KR" b="1" dirty="0"/>
              <a:t>a valid bit</a:t>
            </a:r>
            <a:r>
              <a:rPr lang="en-US" altLang="ko-KR" dirty="0"/>
              <a:t> and </a:t>
            </a:r>
            <a:r>
              <a:rPr lang="en-US" altLang="ko-KR" b="1" dirty="0"/>
              <a:t>page frame number(PFN)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662388738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Tables: Advantage &amp; Disadvantage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Advantage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Only allocates page-table space in proportion to the amount of address space you are using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The OS can grab the next free page when it needs to allocate or grow a page table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Disadvantage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Multi-level page table is a small example of a </a:t>
            </a:r>
            <a:r>
              <a:rPr lang="en-US" altLang="ko-KR" dirty="0">
                <a:solidFill>
                  <a:schemeClr val="accent6"/>
                </a:solidFill>
              </a:rPr>
              <a:t>time-space trade-off</a:t>
            </a:r>
          </a:p>
          <a:p>
            <a:pPr marL="1200150" lvl="2" indent="-342900"/>
            <a:r>
              <a:rPr lang="en-US" altLang="ko-KR" dirty="0"/>
              <a:t>Page table size can be reduced at the expense of a little performance due to the use of page directory access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Complexity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6059622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Tables: Level of indirection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multi-level structure can adjust </a:t>
            </a:r>
            <a:r>
              <a:rPr lang="en-US" altLang="ko-KR" dirty="0">
                <a:solidFill>
                  <a:schemeClr val="accent6"/>
                </a:solidFill>
              </a:rPr>
              <a:t>level of indirection </a:t>
            </a:r>
            <a:r>
              <a:rPr lang="en-US" altLang="ko-KR" dirty="0"/>
              <a:t>through use of the page directory</a:t>
            </a:r>
          </a:p>
          <a:p>
            <a:pPr lvl="1"/>
            <a:r>
              <a:rPr lang="en-US" altLang="ko-KR" dirty="0"/>
              <a:t>Indirection place page-table pages wherever we would like in physical memory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0159259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/>
          <p:cNvSpPr txBox="1">
            <a:spLocks/>
          </p:cNvSpPr>
          <p:nvPr/>
        </p:nvSpPr>
        <p:spPr bwMode="auto">
          <a:xfrm>
            <a:off x="1738313" y="880070"/>
            <a:ext cx="8786812" cy="4205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To understand the idea behind multi-level page tables better, let’s see  an example</a:t>
            </a:r>
            <a:endParaRPr lang="ko-KR" altLang="en-US" dirty="0">
              <a:solidFill>
                <a:prstClr val="black"/>
              </a:solidFill>
              <a:latin typeface="Oswald" pitchFamily="2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Detailed Multi-Level Example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내용 개체 틀 1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06969628"/>
                  </p:ext>
                </p:extLst>
              </p:nvPr>
            </p:nvGraphicFramePr>
            <p:xfrm>
              <a:off x="4939180" y="2456568"/>
              <a:ext cx="4392488" cy="21270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962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962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1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Parameter</a:t>
                          </a:r>
                          <a:endParaRPr lang="ko-KR" altLang="en-US" sz="1200" b="1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1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Detail</a:t>
                          </a:r>
                          <a:endParaRPr lang="ko-KR" altLang="en-US" sz="1200" b="1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Address</a:t>
                          </a:r>
                          <a:r>
                            <a:rPr lang="en-US" altLang="ko-KR" sz="1200" b="0" baseline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space 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16 KB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Page</a:t>
                          </a:r>
                          <a:r>
                            <a:rPr lang="en-US" altLang="ko-KR" sz="1200" b="0" baseline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size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64</a:t>
                          </a:r>
                          <a:r>
                            <a:rPr lang="en-US" altLang="ko-KR" sz="1200" b="0" baseline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bytes 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Virtual</a:t>
                          </a:r>
                          <a:r>
                            <a:rPr lang="en-US" altLang="ko-KR" sz="1200" b="0" baseline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address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14 bits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 err="1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VPN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8 bits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Offset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6 bits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# of PTEs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8</m:t>
                                    </m:r>
                                  </m:sup>
                                </m:sSup>
                                <m:r>
                                  <a:rPr lang="en-US" altLang="ko-KR" sz="12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(256)</m:t>
                                </m:r>
                              </m:oMath>
                            </m:oMathPara>
                          </a14:m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내용 개체 틀 1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06969628"/>
                  </p:ext>
                </p:extLst>
              </p:nvPr>
            </p:nvGraphicFramePr>
            <p:xfrm>
              <a:off x="4939180" y="2456568"/>
              <a:ext cx="4392488" cy="21270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962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962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1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Parameter</a:t>
                          </a:r>
                          <a:endParaRPr lang="ko-KR" altLang="en-US" sz="1200" b="1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1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Detail</a:t>
                          </a:r>
                          <a:endParaRPr lang="ko-KR" altLang="en-US" sz="1200" b="1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Address</a:t>
                          </a:r>
                          <a:r>
                            <a:rPr lang="en-US" altLang="ko-KR" sz="1200" b="0" baseline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space 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16 KB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Page</a:t>
                          </a:r>
                          <a:r>
                            <a:rPr lang="en-US" altLang="ko-KR" sz="1200" b="0" baseline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size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64</a:t>
                          </a:r>
                          <a:r>
                            <a:rPr lang="en-US" altLang="ko-KR" sz="1200" b="0" baseline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bytes 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Virtual</a:t>
                          </a:r>
                          <a:r>
                            <a:rPr lang="en-US" altLang="ko-KR" sz="1200" b="0" baseline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address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14 bits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 err="1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VPN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8 bits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Offset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6 bits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# of PTEs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56" t="-602000" r="-556" b="-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458694" y="2207330"/>
          <a:ext cx="11521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heap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heap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stack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stack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939180" y="4645964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16-KB Address Space With 64-byte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4925" y="2285090"/>
            <a:ext cx="9188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0000 0000</a:t>
            </a:r>
          </a:p>
          <a:p>
            <a:endParaRPr lang="ko-KR" altLang="en-US" sz="1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34924" y="2492839"/>
            <a:ext cx="9188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0000 0001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   ...</a:t>
            </a:r>
            <a:endParaRPr lang="ko-KR" altLang="en-US" sz="1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34925" y="4661354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1111 1111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2647152" y="5446968"/>
          <a:ext cx="645604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222066" y="5951026"/>
            <a:ext cx="558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36161" y="5912095"/>
            <a:ext cx="710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H="1">
            <a:off x="2652178" y="5805265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6338793" y="5801705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2671226" y="5907924"/>
            <a:ext cx="3659846" cy="356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6354076" y="5912094"/>
            <a:ext cx="2766260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112963" y="5805874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E59D19-6735-4BCD-88CD-B993F9C2B716}"/>
              </a:ext>
            </a:extLst>
          </p:cNvPr>
          <p:cNvSpPr txBox="1"/>
          <p:nvPr/>
        </p:nvSpPr>
        <p:spPr>
          <a:xfrm>
            <a:off x="2617350" y="3308187"/>
            <a:ext cx="9188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0000 0100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   ...</a:t>
            </a:r>
            <a:endParaRPr lang="ko-KR" altLang="en-US" sz="1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1DA802-CECB-430A-9774-4F4E12D335E6}"/>
              </a:ext>
            </a:extLst>
          </p:cNvPr>
          <p:cNvSpPr txBox="1"/>
          <p:nvPr/>
        </p:nvSpPr>
        <p:spPr>
          <a:xfrm>
            <a:off x="2613116" y="3575256"/>
            <a:ext cx="9188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0000 0101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   ...</a:t>
            </a:r>
            <a:endParaRPr lang="ko-KR" altLang="en-US" sz="1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0358934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Detailed Multi-Level Example: Page Directory </a:t>
            </a:r>
            <a:r>
              <a:rPr lang="en-US" altLang="ko-KR" dirty="0" err="1"/>
              <a:t>Idx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7029" y="852370"/>
            <a:ext cx="11715749" cy="5501258"/>
          </a:xfrm>
        </p:spPr>
        <p:txBody>
          <a:bodyPr/>
          <a:lstStyle/>
          <a:p>
            <a:r>
              <a:rPr lang="en-US" altLang="ko-KR" dirty="0"/>
              <a:t>The page directory needs one entry per page of the page table</a:t>
            </a:r>
          </a:p>
          <a:p>
            <a:pPr lvl="1"/>
            <a:r>
              <a:rPr lang="en-US" altLang="ko-KR" dirty="0"/>
              <a:t>Assuming a 4-byte PTE, then the total space needed for the page table is 1024 (=4*256) since there are 256 PTE</a:t>
            </a:r>
          </a:p>
          <a:p>
            <a:pPr lvl="1"/>
            <a:r>
              <a:rPr lang="en-US" altLang="ko-KR" dirty="0"/>
              <a:t>Since the page size is 64 bytes, the number of entries is 16 (=1024/64)</a:t>
            </a:r>
          </a:p>
          <a:p>
            <a:r>
              <a:rPr lang="en-US" altLang="ko-KR" dirty="0"/>
              <a:t>If the page-directory entry is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invalid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ko-KR" dirty="0"/>
              <a:t>Raise an exception (The access is invalid)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120482" y="4489199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14-bits Virtual address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2711624" y="3716295"/>
          <a:ext cx="645604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286538" y="4220353"/>
            <a:ext cx="558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00633" y="4181422"/>
            <a:ext cx="710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 flipH="1">
            <a:off x="2716650" y="4074592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 flipH="1">
            <a:off x="6403265" y="4071032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2735698" y="4177251"/>
            <a:ext cx="3659846" cy="356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6418548" y="4181421"/>
            <a:ext cx="2766260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9177435" y="4075201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H="1">
            <a:off x="2715044" y="3527449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H="1">
            <a:off x="4565622" y="3505098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2715044" y="3602999"/>
            <a:ext cx="1850578" cy="178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73333" y="3296018"/>
            <a:ext cx="1734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Directory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2261926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Detailed Multi-Level Example: Page Table </a:t>
            </a:r>
            <a:r>
              <a:rPr lang="en-US" altLang="ko-KR" dirty="0" err="1"/>
              <a:t>Idx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 the PDE is valid, we have more work to do</a:t>
            </a:r>
          </a:p>
          <a:p>
            <a:pPr lvl="1"/>
            <a:r>
              <a:rPr lang="en-US" altLang="ko-KR" dirty="0"/>
              <a:t>To fetch the page table entry(PTE) from the page of the page table pointed to by this page directory entry</a:t>
            </a:r>
          </a:p>
          <a:p>
            <a:r>
              <a:rPr lang="en-US" altLang="ko-KR" dirty="0"/>
              <a:t>This </a:t>
            </a:r>
            <a:r>
              <a:rPr lang="en-US" altLang="ko-KR" dirty="0">
                <a:solidFill>
                  <a:schemeClr val="accent6"/>
                </a:solidFill>
              </a:rPr>
              <a:t>page table index (</a:t>
            </a:r>
            <a:r>
              <a:rPr lang="en-US" altLang="ko-KR" dirty="0" err="1">
                <a:solidFill>
                  <a:schemeClr val="accent6"/>
                </a:solidFill>
              </a:rPr>
              <a:t>PTIndex</a:t>
            </a:r>
            <a:r>
              <a:rPr lang="en-US" altLang="ko-KR" dirty="0">
                <a:solidFill>
                  <a:schemeClr val="accent6"/>
                </a:solidFill>
              </a:rPr>
              <a:t>)</a:t>
            </a:r>
            <a:r>
              <a:rPr lang="en-US" altLang="ko-KR" dirty="0"/>
              <a:t> can then be used to index into the page table itself</a:t>
            </a:r>
          </a:p>
          <a:p>
            <a:r>
              <a:rPr lang="en-PH" altLang="ko-KR" dirty="0"/>
              <a:t>Thus: </a:t>
            </a:r>
            <a:r>
              <a:rPr lang="en-PH" altLang="ko-KR" dirty="0" err="1"/>
              <a:t>PTEAddr</a:t>
            </a:r>
            <a:r>
              <a:rPr lang="en-PH" altLang="ko-KR" dirty="0"/>
              <a:t> = (PDE.PFN &lt;&lt; SHIFT) + (</a:t>
            </a:r>
            <a:r>
              <a:rPr lang="en-PH" altLang="ko-KR" dirty="0" err="1"/>
              <a:t>PTIndex</a:t>
            </a:r>
            <a:r>
              <a:rPr lang="en-PH" altLang="ko-KR" dirty="0"/>
              <a:t> * </a:t>
            </a:r>
            <a:r>
              <a:rPr lang="en-PH" altLang="ko-KR" dirty="0" err="1"/>
              <a:t>sizeof</a:t>
            </a:r>
            <a:r>
              <a:rPr lang="en-PH" altLang="ko-KR" dirty="0"/>
              <a:t>(PTE))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264498" y="4845707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14-bits Virtual address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2855640" y="4072803"/>
          <a:ext cx="645604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430554" y="4576861"/>
            <a:ext cx="558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44649" y="4537930"/>
            <a:ext cx="710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 flipH="1">
            <a:off x="2860666" y="4431100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6547281" y="4427540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2879714" y="4533759"/>
            <a:ext cx="3659846" cy="356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562564" y="4537929"/>
            <a:ext cx="2766260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9321451" y="4431709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2859060" y="3852697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4709638" y="3853791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2859060" y="3959507"/>
            <a:ext cx="1850578" cy="178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927649" y="3656058"/>
            <a:ext cx="1734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Directory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4705758" y="3961287"/>
            <a:ext cx="1850578" cy="178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6547280" y="3847376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948574" y="3653753"/>
            <a:ext cx="1435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Table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7176811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B07DB9-16AB-447A-AF0A-0917DB413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Detailed Multi-Level Example: Memory Usage</a:t>
            </a:r>
            <a:endParaRPr lang="en-P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6118E-C041-4E15-8267-C40F3F523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16C4CF-9527-48FB-B230-4D0664BA9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371" y="1021334"/>
            <a:ext cx="7252508" cy="495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78312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1888CF-681C-468C-BAEA-B3C0437FC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Detailed Multi-Level Example: Translation of virtual address </a:t>
            </a:r>
            <a:r>
              <a:rPr lang="en-PH" dirty="0"/>
              <a:t>0x3F80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CF314-181F-4CCF-B817-A9E09EF0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Binary = 11 1111 1000 0000</a:t>
            </a:r>
          </a:p>
          <a:p>
            <a:r>
              <a:rPr lang="en-PH" dirty="0"/>
              <a:t>VPN = 11111110</a:t>
            </a:r>
          </a:p>
          <a:p>
            <a:r>
              <a:rPr lang="en-PH" dirty="0"/>
              <a:t>Offset = 000000</a:t>
            </a:r>
          </a:p>
          <a:p>
            <a:r>
              <a:rPr lang="en-PH" dirty="0"/>
              <a:t>Page Directory Index = 1111, we obtain a valid PFN = 101</a:t>
            </a:r>
          </a:p>
          <a:p>
            <a:r>
              <a:rPr lang="en-PH" dirty="0"/>
              <a:t>Index into the page of PT @PFN:101 = 1110, we obtain a valid PFN = 55 = 0x37</a:t>
            </a:r>
          </a:p>
          <a:p>
            <a:r>
              <a:rPr lang="en-PH" dirty="0"/>
              <a:t>Add offset after shifting to left 6 bits to obtain the physical address: 00 1101 1100 0000 = 0x0DC0  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517467448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More than Two Level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 some cases, a deeper tree is possible</a:t>
            </a:r>
          </a:p>
          <a:p>
            <a:endParaRPr lang="ko-KR" altLang="en-US" dirty="0"/>
          </a:p>
        </p:txBody>
      </p:sp>
      <p:graphicFrame>
        <p:nvGraphicFramePr>
          <p:cNvPr id="17" name="내용 개체 틀 11"/>
          <p:cNvGraphicFramePr>
            <a:graphicFrameLocks/>
          </p:cNvGraphicFramePr>
          <p:nvPr/>
        </p:nvGraphicFramePr>
        <p:xfrm>
          <a:off x="2351585" y="1844824"/>
          <a:ext cx="659011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08657" y="1583215"/>
            <a:ext cx="7055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30 29 28 27 26 25 24 23 22 21 20 19 18 17 16 15 14 13 12 11 10 9  8  7  6  5  4   3   2  1   0 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1" name="내용 개체 틀 13"/>
          <p:cNvGraphicFramePr>
            <a:graphicFrameLocks/>
          </p:cNvGraphicFramePr>
          <p:nvPr/>
        </p:nvGraphicFramePr>
        <p:xfrm>
          <a:off x="3791744" y="3140968"/>
          <a:ext cx="439248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Flag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Detail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Virtual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address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Page size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512 byte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21 bit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Offset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 bit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608168" y="2744925"/>
            <a:ext cx="849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67808" y="2689177"/>
            <a:ext cx="849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 flipH="1">
            <a:off x="2351583" y="2204864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2351583" y="2636912"/>
            <a:ext cx="4608514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 flipH="1">
            <a:off x="6960095" y="2204864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flipH="1">
            <a:off x="8941814" y="2166369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6960096" y="2636912"/>
            <a:ext cx="1981719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96260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More than Two Level : Page Table Index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 some cases, a deeper tree is possible</a:t>
            </a:r>
          </a:p>
          <a:p>
            <a:endParaRPr lang="ko-KR" altLang="en-US" dirty="0"/>
          </a:p>
        </p:txBody>
      </p:sp>
      <p:graphicFrame>
        <p:nvGraphicFramePr>
          <p:cNvPr id="17" name="내용 개체 틀 11"/>
          <p:cNvGraphicFramePr>
            <a:graphicFrameLocks/>
          </p:cNvGraphicFramePr>
          <p:nvPr/>
        </p:nvGraphicFramePr>
        <p:xfrm>
          <a:off x="2351585" y="1844824"/>
          <a:ext cx="659011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08657" y="1583215"/>
            <a:ext cx="7055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30 29 28 27 26 25 24 23 22 21 20 19 18 17 16 15 14 13 12 11 10 9  8  7  6  5  4   3   2  1   0 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08168" y="2744925"/>
            <a:ext cx="849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1" name="내용 개체 틀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2922801"/>
              </p:ext>
            </p:extLst>
          </p:nvPr>
        </p:nvGraphicFramePr>
        <p:xfrm>
          <a:off x="3791744" y="3140968"/>
          <a:ext cx="439248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Flag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Detail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Virtual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address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bits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Page size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512 byte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21 bits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Offset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 bits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# of PTEs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128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PTEs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367808" y="2689177"/>
            <a:ext cx="849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616280" y="4614623"/>
                <a:ext cx="13681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128=7</m:t>
                          </m:r>
                        </m:e>
                      </m:func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280" y="4614623"/>
                <a:ext cx="1368152" cy="369332"/>
              </a:xfrm>
              <a:prstGeom prst="rect">
                <a:avLst/>
              </a:prstGeom>
              <a:blipFill>
                <a:blip r:embed="rId2"/>
                <a:stretch>
                  <a:fillRect l="-1333" r="-4444" b="-1475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연결선 7"/>
          <p:cNvCxnSpPr/>
          <p:nvPr/>
        </p:nvCxnSpPr>
        <p:spPr>
          <a:xfrm>
            <a:off x="7536160" y="4799289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71558" y="2336394"/>
            <a:ext cx="1613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79646"/>
                </a:solidFill>
                <a:latin typeface="맑은 고딕" pitchFamily="50" charset="-127"/>
                <a:ea typeface="맑은 고딕" pitchFamily="50" charset="-127"/>
              </a:rPr>
              <a:t>Page Table Index</a:t>
            </a:r>
            <a:endParaRPr lang="ko-KR" altLang="en-US" sz="1200" b="1" dirty="0">
              <a:solidFill>
                <a:srgbClr val="F7964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82403" y="2305628"/>
            <a:ext cx="17641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Directory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 flipH="1">
            <a:off x="2351583" y="2204864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2351583" y="2636912"/>
            <a:ext cx="4608514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6960095" y="2204864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8941814" y="2166369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6960096" y="2636912"/>
            <a:ext cx="1981719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5447926" y="2204865"/>
            <a:ext cx="2" cy="371085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2351586" y="2349674"/>
            <a:ext cx="3096341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>
            <a:off x="5455848" y="2349674"/>
            <a:ext cx="1496329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328218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More than Two Level : Page Directory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If our page directory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/>
                          </a:rPr>
                          <m:t>14</m:t>
                        </m:r>
                      </m:sup>
                    </m:sSup>
                  </m:oMath>
                </a14:m>
                <a:r>
                  <a:rPr lang="en-US" altLang="ko-KR" dirty="0"/>
                  <a:t>entries, it spans not one page but 128</a:t>
                </a:r>
              </a:p>
              <a:p>
                <a:r>
                  <a:rPr lang="en-US" altLang="ko-KR" dirty="0"/>
                  <a:t>To remedy this problem, we build a </a:t>
                </a:r>
                <a:r>
                  <a:rPr lang="en-US" altLang="ko-KR" dirty="0">
                    <a:solidFill>
                      <a:schemeClr val="accent6"/>
                    </a:solidFill>
                  </a:rPr>
                  <a:t>further level </a:t>
                </a:r>
                <a:r>
                  <a:rPr lang="en-US" altLang="ko-KR" dirty="0"/>
                  <a:t>of the tree, by splitting the page directory itself into multiple pages of the page directory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내용 개체 틀 11"/>
          <p:cNvGraphicFramePr>
            <a:graphicFrameLocks/>
          </p:cNvGraphicFramePr>
          <p:nvPr/>
        </p:nvGraphicFramePr>
        <p:xfrm>
          <a:off x="2566067" y="3426018"/>
          <a:ext cx="659011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323139" y="3164409"/>
            <a:ext cx="7055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30 29 28 27 26 25 24 23 22 21 20 19 18 17 16 15 14 13 12 11 10 9  8  7  6  5  4   3   2  1   0 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22650" y="4326119"/>
            <a:ext cx="849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82290" y="4270370"/>
            <a:ext cx="849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639617" y="3944090"/>
            <a:ext cx="1397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F79646"/>
                </a:solidFill>
                <a:latin typeface="맑은 고딕" pitchFamily="50" charset="-127"/>
                <a:ea typeface="맑은 고딕" pitchFamily="50" charset="-127"/>
              </a:rPr>
              <a:t>PD</a:t>
            </a:r>
            <a:r>
              <a:rPr lang="en-US" altLang="ko-KR" sz="1200" b="1" dirty="0">
                <a:solidFill>
                  <a:srgbClr val="F79646"/>
                </a:solidFill>
                <a:latin typeface="맑은 고딕" pitchFamily="50" charset="-127"/>
                <a:ea typeface="맑은 고딕" pitchFamily="50" charset="-127"/>
              </a:rPr>
              <a:t> Index 0</a:t>
            </a:r>
            <a:endParaRPr lang="ko-KR" altLang="en-US" sz="1200" b="1" dirty="0">
              <a:solidFill>
                <a:srgbClr val="F7964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22928" y="3938489"/>
            <a:ext cx="1397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F79646"/>
                </a:solidFill>
                <a:latin typeface="맑은 고딕" pitchFamily="50" charset="-127"/>
                <a:ea typeface="맑은 고딕" pitchFamily="50" charset="-127"/>
              </a:rPr>
              <a:t>PD</a:t>
            </a:r>
            <a:r>
              <a:rPr lang="en-US" altLang="ko-KR" sz="1200" b="1" dirty="0">
                <a:solidFill>
                  <a:srgbClr val="F79646"/>
                </a:solidFill>
                <a:latin typeface="맑은 고딕" pitchFamily="50" charset="-127"/>
                <a:ea typeface="맑은 고딕" pitchFamily="50" charset="-127"/>
              </a:rPr>
              <a:t> Index 1</a:t>
            </a:r>
            <a:endParaRPr lang="ko-KR" altLang="en-US" sz="1200" b="1" dirty="0">
              <a:solidFill>
                <a:srgbClr val="F7964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 flipH="1">
            <a:off x="2566065" y="3777536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2566065" y="4209584"/>
            <a:ext cx="4608514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7174577" y="3777536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9156296" y="3739041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7174578" y="4209584"/>
            <a:ext cx="1981719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87412" y="3934534"/>
            <a:ext cx="1613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Table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5" name="직선 연결선 34"/>
          <p:cNvCxnSpPr/>
          <p:nvPr/>
        </p:nvCxnSpPr>
        <p:spPr>
          <a:xfrm flipH="1">
            <a:off x="4102780" y="3783288"/>
            <a:ext cx="2" cy="371085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5648695" y="3934533"/>
            <a:ext cx="1525882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 flipH="1">
            <a:off x="5648695" y="3783288"/>
            <a:ext cx="2" cy="371085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2566067" y="3940211"/>
            <a:ext cx="1525882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4122813" y="3941026"/>
            <a:ext cx="1525882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244470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 Control Flow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935907" y="1052737"/>
            <a:ext cx="7992888" cy="297389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01: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VPN_MASK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&gt;&gt; SHIFT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02:	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Success,TlbEntry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TLB_Lookup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03: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(Success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True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</a:t>
            </a:r>
            <a:r>
              <a:rPr lang="en-US" altLang="ko-KR" sz="14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Hit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04:	  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CanAccess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== True)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05:		Offset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OFFSET_MASK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06: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PhysAddr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TlbEntry.PFN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&lt;&lt; SHIFT) | Offset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07:		Register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PhysAddr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08: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else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7030A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PROTECTION_FAULT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09: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perform the full multi-level lookup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1701815" y="4221088"/>
            <a:ext cx="8786812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(1 lines) extract the virtual page number(</a:t>
            </a:r>
            <a:r>
              <a:rPr lang="en-US" altLang="ko-KR" dirty="0" err="1">
                <a:solidFill>
                  <a:prstClr val="black"/>
                </a:solidFill>
                <a:latin typeface="Oswald" pitchFamily="2" charset="0"/>
              </a:rPr>
              <a:t>VPN</a:t>
            </a:r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)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(2 lines) check if the </a:t>
            </a:r>
            <a:r>
              <a:rPr lang="en-US" altLang="ko-KR" dirty="0" err="1">
                <a:solidFill>
                  <a:prstClr val="black"/>
                </a:solidFill>
                <a:latin typeface="Oswald" pitchFamily="2" charset="0"/>
              </a:rPr>
              <a:t>TLB</a:t>
            </a:r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 holds the </a:t>
            </a:r>
            <a:r>
              <a:rPr lang="en-US" altLang="ko-KR" dirty="0" err="1">
                <a:solidFill>
                  <a:prstClr val="black"/>
                </a:solidFill>
                <a:latin typeface="Oswald" pitchFamily="2" charset="0"/>
              </a:rPr>
              <a:t>transalation</a:t>
            </a:r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 for this </a:t>
            </a:r>
            <a:r>
              <a:rPr lang="en-US" altLang="ko-KR" dirty="0" err="1">
                <a:solidFill>
                  <a:prstClr val="black"/>
                </a:solidFill>
                <a:latin typeface="Oswald" pitchFamily="2" charset="0"/>
              </a:rPr>
              <a:t>VPN</a:t>
            </a:r>
            <a:endParaRPr lang="en-US" altLang="ko-KR" dirty="0">
              <a:solidFill>
                <a:prstClr val="black"/>
              </a:solidFill>
              <a:latin typeface="Oswald" pitchFamily="2" charset="0"/>
            </a:endParaRPr>
          </a:p>
          <a:p>
            <a:pPr lvl="1"/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(5-8 lines) extract the page frame number from the relevant </a:t>
            </a:r>
            <a:r>
              <a:rPr lang="en-US" altLang="ko-KR" dirty="0" err="1">
                <a:solidFill>
                  <a:prstClr val="black"/>
                </a:solidFill>
                <a:latin typeface="Oswald" pitchFamily="2" charset="0"/>
              </a:rPr>
              <a:t>TLB</a:t>
            </a:r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 entry, and form the desired physical address and access memory</a:t>
            </a:r>
          </a:p>
        </p:txBody>
      </p:sp>
    </p:spTree>
    <p:extLst>
      <p:ext uri="{BB962C8B-B14F-4D97-AF65-F5344CB8AC3E}">
        <p14:creationId xmlns:p14="http://schemas.microsoft.com/office/powerpoint/2010/main" val="3913043932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 Control Flow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935907" y="980728"/>
            <a:ext cx="7992888" cy="20082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11:	</a:t>
            </a:r>
            <a:r>
              <a:rPr lang="en-US" altLang="ko-KR" sz="12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12:	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PDIndex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PD_MASK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&gt;&gt;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PD_SHIFT</a:t>
            </a:r>
            <a:endParaRPr lang="en-US" altLang="ko-KR" sz="12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13:	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PDEAddr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PDBR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+ 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PDIndex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14:	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PDEAddr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15:		</a:t>
            </a:r>
            <a:r>
              <a:rPr lang="en-US" altLang="ko-KR" sz="12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PDE.Valid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== </a:t>
            </a:r>
            <a:r>
              <a:rPr lang="en-US" altLang="ko-KR" sz="12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False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16:		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SEGMENTATION_FAULT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17:		</a:t>
            </a:r>
            <a:r>
              <a:rPr lang="en-US" altLang="ko-KR" sz="12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is Valid: now fetch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from PT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1935907" y="3068960"/>
            <a:ext cx="8786812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(11 lines) extract the Page Directory Index(</a:t>
            </a:r>
            <a:r>
              <a:rPr lang="en-US" altLang="ko-KR" dirty="0" err="1">
                <a:solidFill>
                  <a:prstClr val="black"/>
                </a:solidFill>
                <a:latin typeface="Oswald" pitchFamily="2" charset="0"/>
              </a:rPr>
              <a:t>PDIndex</a:t>
            </a:r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) 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(13 lines) get Page Directory Entry(PDE)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(15-17 lines) Check </a:t>
            </a:r>
            <a:r>
              <a:rPr lang="en-US" altLang="ko-KR" dirty="0" err="1">
                <a:solidFill>
                  <a:prstClr val="black"/>
                </a:solidFill>
                <a:latin typeface="Oswald" pitchFamily="2" charset="0"/>
              </a:rPr>
              <a:t>PDE</a:t>
            </a:r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 valid flag. If valid flag is true, fetch Page Table entry from Page Table</a:t>
            </a:r>
          </a:p>
        </p:txBody>
      </p:sp>
    </p:spTree>
    <p:extLst>
      <p:ext uri="{BB962C8B-B14F-4D97-AF65-F5344CB8AC3E}">
        <p14:creationId xmlns:p14="http://schemas.microsoft.com/office/powerpoint/2010/main" val="1379073154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Translation Process: Remember the </a:t>
            </a:r>
            <a:r>
              <a:rPr lang="en-US" altLang="ko-KR" dirty="0" err="1"/>
              <a:t>TLB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991544" y="980728"/>
            <a:ext cx="7992888" cy="3297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18: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PTIndex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PT_MASK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&gt;&gt;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PT_SHIFT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19: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PDE.PFN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&lt;&lt; SHIFT) +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PTIndex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20: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PTE.Valid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== False)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SEGMENTATION_FAULT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 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CanAccess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== False)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PROTECTION_FAULT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TLB_Insert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RetryInstruction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50471098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Inverted Page Tables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Keeping a single page table that has an entry for each </a:t>
            </a:r>
            <a:r>
              <a:rPr lang="en-US" altLang="ko-KR" u="sng" dirty="0"/>
              <a:t>physical page frame </a:t>
            </a:r>
            <a:r>
              <a:rPr lang="en-US" altLang="ko-KR" dirty="0"/>
              <a:t>of the system</a:t>
            </a:r>
          </a:p>
          <a:p>
            <a:r>
              <a:rPr lang="en-US" altLang="ko-KR" dirty="0"/>
              <a:t>The entry tells us which process is using this page, and which virtual page of that process maps to this physical page</a:t>
            </a:r>
          </a:p>
          <a:p>
            <a:r>
              <a:rPr lang="en-US" altLang="ko-KR" dirty="0"/>
              <a:t>PowerPC uses inverted page tables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4101786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04.The_abstraction_the_process" id="{5B801708-C11A-406D-95E1-D700B4E34BA4}" vid="{C8ED2E06-4ECF-4161-8C72-D82D328D32F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OSTEP_Slides_Template</Template>
  <TotalTime>227</TotalTime>
  <Words>2268</Words>
  <Application>Microsoft Office PowerPoint</Application>
  <PresentationFormat>Widescreen</PresentationFormat>
  <Paragraphs>601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맑은 고딕</vt:lpstr>
      <vt:lpstr>Cambria Math</vt:lpstr>
      <vt:lpstr>Courier New</vt:lpstr>
      <vt:lpstr>HY견고딕</vt:lpstr>
      <vt:lpstr>Oswald</vt:lpstr>
      <vt:lpstr>Oswald</vt:lpstr>
      <vt:lpstr>Wingdings</vt:lpstr>
      <vt:lpstr>양식_공청회_발표자료-총괄-양식</vt:lpstr>
      <vt:lpstr>CMSC 125: Operating Systems</vt:lpstr>
      <vt:lpstr>Resources</vt:lpstr>
      <vt:lpstr>Acknowledgement</vt:lpstr>
      <vt:lpstr>PowerPoint Presentation</vt:lpstr>
      <vt:lpstr>Paging: Linear Page Tables</vt:lpstr>
      <vt:lpstr>Paging: Smaller Tables by using Bigger Pages</vt:lpstr>
      <vt:lpstr>Problem</vt:lpstr>
      <vt:lpstr>Problem</vt:lpstr>
      <vt:lpstr>Hybrid Approach: Paging and Segments </vt:lpstr>
      <vt:lpstr>Simple Example of Hybrid Approach</vt:lpstr>
      <vt:lpstr>TLB miss on Hybrid Approach (Hardware-managed TLB)</vt:lpstr>
      <vt:lpstr>Problems of Hybrid Approach</vt:lpstr>
      <vt:lpstr>Multi-level Page Tables</vt:lpstr>
      <vt:lpstr>Multi-level Page Tables: Page directory</vt:lpstr>
      <vt:lpstr>Multi-level Page Tables: Page directory entries</vt:lpstr>
      <vt:lpstr>Multi-level Page Tables: Advantage &amp; Disadvantage</vt:lpstr>
      <vt:lpstr>Multi-level Page Tables: Level of indirection</vt:lpstr>
      <vt:lpstr>A Detailed Multi-Level Example</vt:lpstr>
      <vt:lpstr>A Detailed Multi-Level Example: Page Directory Idx</vt:lpstr>
      <vt:lpstr>A Detailed Multi-Level Example: Page Table Idx</vt:lpstr>
      <vt:lpstr>A Detailed Multi-Level Example: Memory Usage</vt:lpstr>
      <vt:lpstr>A Detailed Multi-Level Example: Translation of virtual address 0x3F80</vt:lpstr>
      <vt:lpstr>More than Two Level</vt:lpstr>
      <vt:lpstr>More than Two Level : Page Table Index</vt:lpstr>
      <vt:lpstr>More than Two Level : Page Directory</vt:lpstr>
      <vt:lpstr>Multi-level Page Table Control Flow</vt:lpstr>
      <vt:lpstr>Multi-level Page Table Control Flow</vt:lpstr>
      <vt:lpstr>The Translation Process: Remember the TLB</vt:lpstr>
      <vt:lpstr>Inverted Page Tables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Anthony Hermocilla</dc:creator>
  <cp:lastModifiedBy>Joseph Anthony Hermocilla</cp:lastModifiedBy>
  <cp:revision>50</cp:revision>
  <cp:lastPrinted>2015-03-03T01:48:46Z</cp:lastPrinted>
  <dcterms:created xsi:type="dcterms:W3CDTF">2021-07-20T07:53:19Z</dcterms:created>
  <dcterms:modified xsi:type="dcterms:W3CDTF">2024-10-10T09:43:23Z</dcterms:modified>
</cp:coreProperties>
</file>