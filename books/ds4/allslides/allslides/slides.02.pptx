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240" d="100"/>
          <a:sy n="240" d="100"/>
        </p:scale>
        <p:origin x="156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999105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194" y="1369435"/>
            <a:ext cx="3929379" cy="1256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BucketName.s3.amazonaws.com/ObjectName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7.xml"/><Relationship Id="rId4" Type="http://schemas.openxmlformats.org/officeDocument/2006/relationships/image" Target="../media/image1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7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9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9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1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1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image" Target="../media/image2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4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0.xml"/><Relationship Id="rId4" Type="http://schemas.openxmlformats.org/officeDocument/2006/relationships/image" Target="../media/image26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1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4.xml"/><Relationship Id="rId4" Type="http://schemas.openxmlformats.org/officeDocument/2006/relationships/image" Target="../media/image29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7.xml"/><Relationship Id="rId4" Type="http://schemas.openxmlformats.org/officeDocument/2006/relationships/image" Target="../media/image30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7.xml"/><Relationship Id="rId4" Type="http://schemas.openxmlformats.org/officeDocument/2006/relationships/image" Target="../media/image30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7.xml"/><Relationship Id="rId4" Type="http://schemas.openxmlformats.org/officeDocument/2006/relationships/image" Target="../media/image31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7.xml"/><Relationship Id="rId4" Type="http://schemas.openxmlformats.org/officeDocument/2006/relationships/image" Target="../media/image32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7.xml"/><Relationship Id="rId4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26847"/>
            <a:ext cx="1783714" cy="5822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4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4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(4th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edition,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01)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2435" y="2409530"/>
            <a:ext cx="2103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Chapter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02: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Architectures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999865" cy="2248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Architectural</a:t>
            </a:r>
            <a:r>
              <a:rPr sz="12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styles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style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formulated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terms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Apple Symbols"/>
              <a:buChar char="•"/>
              <a:tabLst>
                <a:tab pos="552450" algn="l"/>
              </a:tabLst>
            </a:pPr>
            <a:r>
              <a:rPr sz="900" spc="-10" dirty="0">
                <a:latin typeface="Arial"/>
                <a:cs typeface="Arial"/>
              </a:rPr>
              <a:t>(replaceable)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0" dirty="0">
                <a:latin typeface="Arial"/>
                <a:cs typeface="Arial"/>
              </a:rPr>
              <a:t> well-</a:t>
            </a:r>
            <a:r>
              <a:rPr sz="900" dirty="0">
                <a:latin typeface="Arial"/>
                <a:cs typeface="Arial"/>
              </a:rPr>
              <a:t>defined</a:t>
            </a:r>
            <a:r>
              <a:rPr sz="900" spc="-10" dirty="0">
                <a:latin typeface="Arial"/>
                <a:cs typeface="Arial"/>
              </a:rPr>
              <a:t> interfaces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 marL="555625" marR="63500" indent="-120650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connectors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jointly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configured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system.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Connector</a:t>
            </a:r>
            <a:endParaRPr sz="1000">
              <a:latin typeface="Arial"/>
              <a:cs typeface="Arial"/>
            </a:endParaRPr>
          </a:p>
          <a:p>
            <a:pPr marL="302260" marR="177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mediates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coordination,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cooperation </a:t>
            </a:r>
            <a:r>
              <a:rPr sz="900" dirty="0">
                <a:latin typeface="Arial"/>
                <a:cs typeface="Arial"/>
              </a:rPr>
              <a:t>among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facilities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(remote)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procedure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call, </a:t>
            </a:r>
            <a:r>
              <a:rPr sz="900" dirty="0">
                <a:latin typeface="Arial"/>
                <a:cs typeface="Arial"/>
              </a:rPr>
              <a:t>messaging,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streaming.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831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Layered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layered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107" y="811420"/>
            <a:ext cx="873549" cy="17595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1500" y="888581"/>
            <a:ext cx="874814" cy="16671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5991" y="1207340"/>
            <a:ext cx="1040110" cy="11384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4714" y="265336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7909" y="265336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78082" y="2653367"/>
            <a:ext cx="158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(c)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38823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service,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interface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790" y="791886"/>
            <a:ext cx="3084625" cy="159326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271520" cy="95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Two-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party</a:t>
            </a:r>
            <a:r>
              <a:rPr sz="12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ts val="116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endParaRPr sz="1000">
              <a:latin typeface="Arial"/>
              <a:cs typeface="Arial"/>
            </a:endParaRPr>
          </a:p>
          <a:p>
            <a:pPr marL="26479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84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48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1050" spc="22" baseline="-7936" dirty="0">
                <a:latin typeface="Times New Roman"/>
                <a:cs typeface="Times New Roman"/>
              </a:rPr>
              <a:t>*</a:t>
            </a:r>
            <a:endParaRPr sz="1050" baseline="-7936">
              <a:latin typeface="Times New Roman"/>
              <a:cs typeface="Times New Roman"/>
            </a:endParaRPr>
          </a:p>
          <a:p>
            <a:pPr marL="26479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264795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220" dirty="0">
                <a:latin typeface="Times New Roman"/>
                <a:cs typeface="Times New Roman"/>
              </a:rPr>
              <a:t>  </a:t>
            </a: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socket(AF_INET,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SOCK_STREAM)</a:t>
            </a:r>
            <a:endParaRPr sz="700">
              <a:latin typeface="Times New Roman"/>
              <a:cs typeface="Times New Roman"/>
            </a:endParaRPr>
          </a:p>
          <a:p>
            <a:pPr marL="26479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47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(conn,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addr)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s.accept()</a:t>
            </a:r>
            <a:r>
              <a:rPr sz="700" spc="484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returns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new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socket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addr.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client</a:t>
            </a:r>
            <a:endParaRPr sz="700">
              <a:latin typeface="Times New Roman"/>
              <a:cs typeface="Times New Roman"/>
            </a:endParaRPr>
          </a:p>
          <a:p>
            <a:pPr marL="264795">
              <a:lnSpc>
                <a:spcPts val="780"/>
              </a:lnSpc>
              <a:tabLst>
                <a:tab pos="1569720" algn="l"/>
              </a:tabLst>
            </a:pPr>
            <a:r>
              <a:rPr sz="500" dirty="0">
                <a:latin typeface="Times New Roman"/>
                <a:cs typeface="Times New Roman"/>
              </a:rPr>
              <a:t>5</a:t>
            </a:r>
            <a:r>
              <a:rPr sz="500" spc="245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14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forever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298" y="1111824"/>
            <a:ext cx="310261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780"/>
              </a:lnSpc>
              <a:spcBef>
                <a:spcPts val="95"/>
              </a:spcBef>
            </a:pPr>
            <a:r>
              <a:rPr sz="700" spc="80" dirty="0">
                <a:latin typeface="Times New Roman"/>
                <a:cs typeface="Times New Roman"/>
              </a:rPr>
              <a:t>data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conn.recv(1024)</a:t>
            </a:r>
            <a:r>
              <a:rPr sz="700" spc="470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receive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data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from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client</a:t>
            </a:r>
            <a:endParaRPr sz="700">
              <a:latin typeface="Times New Roman"/>
              <a:cs typeface="Times New Roman"/>
            </a:endParaRPr>
          </a:p>
          <a:p>
            <a:pPr marL="38735">
              <a:lnSpc>
                <a:spcPts val="715"/>
              </a:lnSpc>
              <a:tabLst>
                <a:tab pos="1147445" algn="l"/>
              </a:tabLst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not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data: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b="1" spc="-10" dirty="0">
                <a:solidFill>
                  <a:srgbClr val="FF0059"/>
                </a:solidFill>
                <a:latin typeface="Times New Roman"/>
                <a:cs typeface="Times New Roman"/>
              </a:rPr>
              <a:t>break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stop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if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client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stopped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80"/>
              </a:lnSpc>
            </a:pPr>
            <a:r>
              <a:rPr sz="700" dirty="0">
                <a:latin typeface="Times New Roman"/>
                <a:cs typeface="Times New Roman"/>
              </a:rPr>
              <a:t>msg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data.decode()+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</a:t>
            </a:r>
            <a:r>
              <a:rPr sz="1050" spc="75" baseline="-7936" dirty="0">
                <a:solidFill>
                  <a:srgbClr val="C80000"/>
                </a:solidFill>
                <a:latin typeface="Times New Roman"/>
                <a:cs typeface="Times New Roman"/>
              </a:rPr>
              <a:t>*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</a:t>
            </a:r>
            <a:r>
              <a:rPr sz="700" spc="165" dirty="0">
                <a:solidFill>
                  <a:srgbClr val="C80000"/>
                </a:solidFill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process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incoming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data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into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response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346" y="1121947"/>
            <a:ext cx="63500" cy="3898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4698" y="1385115"/>
            <a:ext cx="20777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conn.send(msg.encode())</a:t>
            </a:r>
            <a:r>
              <a:rPr sz="700" spc="350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5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return</a:t>
            </a:r>
            <a:r>
              <a:rPr sz="700" i="1" spc="229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2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response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546" y="1476212"/>
            <a:ext cx="3168650" cy="121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1368425" algn="l"/>
              </a:tabLst>
            </a:pPr>
            <a:r>
              <a:rPr sz="500" dirty="0">
                <a:latin typeface="Times New Roman"/>
                <a:cs typeface="Times New Roman"/>
              </a:rPr>
              <a:t>10</a:t>
            </a:r>
            <a:r>
              <a:rPr sz="500" spc="190" dirty="0">
                <a:latin typeface="Times New Roman"/>
                <a:cs typeface="Times New Roman"/>
              </a:rPr>
              <a:t>  </a:t>
            </a:r>
            <a:r>
              <a:rPr sz="700" spc="55" dirty="0">
                <a:latin typeface="Times New Roman"/>
                <a:cs typeface="Times New Roman"/>
              </a:rPr>
              <a:t>conn.close()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close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connection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 marL="100965">
              <a:lnSpc>
                <a:spcPts val="116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endParaRPr sz="1000">
              <a:latin typeface="Arial"/>
              <a:cs typeface="Arial"/>
            </a:endParaRPr>
          </a:p>
          <a:p>
            <a:pPr marL="635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84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from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socket</a:t>
            </a:r>
            <a:r>
              <a:rPr sz="700" spc="480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1050" spc="22" baseline="-7936" dirty="0">
                <a:latin typeface="Times New Roman"/>
                <a:cs typeface="Times New Roman"/>
              </a:rPr>
              <a:t>*</a:t>
            </a:r>
            <a:endParaRPr sz="1050" baseline="-7936">
              <a:latin typeface="Times New Roman"/>
              <a:cs typeface="Times New Roman"/>
            </a:endParaRPr>
          </a:p>
          <a:p>
            <a:pPr marL="6350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63500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3</a:t>
            </a:r>
            <a:r>
              <a:rPr sz="500" spc="220" dirty="0">
                <a:latin typeface="Times New Roman"/>
                <a:cs typeface="Times New Roman"/>
              </a:rPr>
              <a:t>  </a:t>
            </a:r>
            <a:r>
              <a:rPr sz="700" spc="140" dirty="0">
                <a:latin typeface="Times New Roman"/>
                <a:cs typeface="Times New Roman"/>
              </a:rPr>
              <a:t>s</a:t>
            </a:r>
            <a:r>
              <a:rPr sz="700" spc="1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socket(AF_INET,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SOCK_STREAM)</a:t>
            </a:r>
            <a:endParaRPr sz="700">
              <a:latin typeface="Times New Roman"/>
              <a:cs typeface="Times New Roman"/>
            </a:endParaRPr>
          </a:p>
          <a:p>
            <a:pPr marL="635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210" dirty="0">
                <a:latin typeface="Times New Roman"/>
                <a:cs typeface="Times New Roman"/>
              </a:rPr>
              <a:t>  </a:t>
            </a:r>
            <a:r>
              <a:rPr sz="700" dirty="0">
                <a:latin typeface="Times New Roman"/>
                <a:cs typeface="Times New Roman"/>
              </a:rPr>
              <a:t>s.connect((HOST,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PORT))</a:t>
            </a:r>
            <a:r>
              <a:rPr sz="700" spc="14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connect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server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(block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until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accepted)</a:t>
            </a:r>
            <a:endParaRPr sz="700">
              <a:latin typeface="Times New Roman"/>
              <a:cs typeface="Times New Roman"/>
            </a:endParaRPr>
          </a:p>
          <a:p>
            <a:pPr marL="63500">
              <a:lnSpc>
                <a:spcPts val="715"/>
              </a:lnSpc>
              <a:tabLst>
                <a:tab pos="1235075" algn="l"/>
              </a:tabLst>
            </a:pPr>
            <a:r>
              <a:rPr sz="500" dirty="0">
                <a:latin typeface="Times New Roman"/>
                <a:cs typeface="Times New Roman"/>
              </a:rPr>
              <a:t>5</a:t>
            </a:r>
            <a:r>
              <a:rPr sz="500" spc="44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"Hello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-10" dirty="0">
                <a:solidFill>
                  <a:srgbClr val="C80000"/>
                </a:solidFill>
                <a:latin typeface="Times New Roman"/>
                <a:cs typeface="Times New Roman"/>
              </a:rPr>
              <a:t>World"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compose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endParaRPr sz="700">
              <a:latin typeface="Times New Roman"/>
              <a:cs typeface="Times New Roman"/>
            </a:endParaRPr>
          </a:p>
          <a:p>
            <a:pPr marL="63500">
              <a:lnSpc>
                <a:spcPts val="715"/>
              </a:lnSpc>
              <a:tabLst>
                <a:tab pos="1235075" algn="l"/>
              </a:tabLst>
            </a:pPr>
            <a:r>
              <a:rPr sz="500" dirty="0">
                <a:latin typeface="Times New Roman"/>
                <a:cs typeface="Times New Roman"/>
              </a:rPr>
              <a:t>6</a:t>
            </a:r>
            <a:r>
              <a:rPr sz="500" spc="480" dirty="0"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s.send(msg.encode())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endParaRPr sz="700">
              <a:latin typeface="Times New Roman"/>
              <a:cs typeface="Times New Roman"/>
            </a:endParaRPr>
          </a:p>
          <a:p>
            <a:pPr marL="63500">
              <a:lnSpc>
                <a:spcPts val="715"/>
              </a:lnSpc>
              <a:tabLst>
                <a:tab pos="1235075" algn="l"/>
              </a:tabLst>
            </a:pPr>
            <a:r>
              <a:rPr sz="500" dirty="0">
                <a:latin typeface="Times New Roman"/>
                <a:cs typeface="Times New Roman"/>
              </a:rPr>
              <a:t>7</a:t>
            </a:r>
            <a:r>
              <a:rPr sz="500" spc="445" dirty="0"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data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s.recv(1024)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receive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response</a:t>
            </a:r>
            <a:endParaRPr sz="700">
              <a:latin typeface="Times New Roman"/>
              <a:cs typeface="Times New Roman"/>
            </a:endParaRPr>
          </a:p>
          <a:p>
            <a:pPr marL="63500">
              <a:lnSpc>
                <a:spcPts val="715"/>
              </a:lnSpc>
              <a:tabLst>
                <a:tab pos="1235075" algn="l"/>
              </a:tabLst>
            </a:pPr>
            <a:r>
              <a:rPr sz="500" dirty="0">
                <a:latin typeface="Times New Roman"/>
                <a:cs typeface="Times New Roman"/>
              </a:rPr>
              <a:t>8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b="1" spc="50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spc="50" dirty="0">
                <a:latin typeface="Times New Roman"/>
                <a:cs typeface="Times New Roman"/>
              </a:rPr>
              <a:t>(data.decode())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print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result</a:t>
            </a:r>
            <a:endParaRPr sz="700">
              <a:latin typeface="Times New Roman"/>
              <a:cs typeface="Times New Roman"/>
            </a:endParaRPr>
          </a:p>
          <a:p>
            <a:pPr marL="63500">
              <a:lnSpc>
                <a:spcPts val="780"/>
              </a:lnSpc>
              <a:tabLst>
                <a:tab pos="1235075" algn="l"/>
              </a:tabLst>
            </a:pPr>
            <a:r>
              <a:rPr sz="500" dirty="0">
                <a:latin typeface="Times New Roman"/>
                <a:cs typeface="Times New Roman"/>
              </a:rPr>
              <a:t>9</a:t>
            </a:r>
            <a:r>
              <a:rPr sz="500" spc="480" dirty="0"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s.close()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close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connection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Application</a:t>
            </a:r>
            <a:r>
              <a:rPr spc="-65" dirty="0"/>
              <a:t> </a:t>
            </a:r>
            <a:r>
              <a:rPr spc="-10" dirty="0"/>
              <a:t>Layering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514774"/>
            <a:ext cx="3941445" cy="1169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Traditional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three-layered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endParaRPr sz="1000">
              <a:latin typeface="Arial"/>
              <a:cs typeface="Arial"/>
            </a:endParaRPr>
          </a:p>
          <a:p>
            <a:pPr marL="281940" marR="337820" indent="-120650">
              <a:lnSpc>
                <a:spcPct val="111600"/>
              </a:lnSpc>
              <a:spcBef>
                <a:spcPts val="575"/>
              </a:spcBef>
              <a:buFont typeface="Apple Symbols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Application-interface layer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or </a:t>
            </a:r>
            <a:r>
              <a:rPr sz="900" dirty="0">
                <a:latin typeface="Arial"/>
                <a:cs typeface="Arial"/>
              </a:rPr>
              <a:t>external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endParaRPr sz="900">
              <a:latin typeface="Arial"/>
              <a:cs typeface="Arial"/>
            </a:endParaRPr>
          </a:p>
          <a:p>
            <a:pPr marL="281940" marR="183515" indent="-120650">
              <a:lnSpc>
                <a:spcPct val="111600"/>
              </a:lnSpc>
              <a:buFont typeface="Apple Symbols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Processing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without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buFont typeface="Apple Symbols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manipulate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Application</a:t>
            </a:r>
            <a:r>
              <a:rPr spc="-65" dirty="0"/>
              <a:t> </a:t>
            </a:r>
            <a:r>
              <a:rPr spc="-10" dirty="0"/>
              <a:t>Layering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7982" y="514774"/>
            <a:ext cx="3966845" cy="1802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Traditional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three-layered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endParaRPr sz="1000">
              <a:latin typeface="Arial"/>
              <a:cs typeface="Arial"/>
            </a:endParaRPr>
          </a:p>
          <a:p>
            <a:pPr marL="294640" marR="350520" indent="-120650">
              <a:lnSpc>
                <a:spcPct val="111600"/>
              </a:lnSpc>
              <a:spcBef>
                <a:spcPts val="575"/>
              </a:spcBef>
              <a:buFont typeface="Apple Symbols"/>
              <a:buChar char="•"/>
              <a:tabLst>
                <a:tab pos="2952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Application-interface layer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or </a:t>
            </a:r>
            <a:r>
              <a:rPr sz="900" dirty="0">
                <a:latin typeface="Arial"/>
                <a:cs typeface="Arial"/>
              </a:rPr>
              <a:t>external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endParaRPr sz="900">
              <a:latin typeface="Arial"/>
              <a:cs typeface="Arial"/>
            </a:endParaRPr>
          </a:p>
          <a:p>
            <a:pPr marL="294640" marR="196215" indent="-120650">
              <a:lnSpc>
                <a:spcPct val="111600"/>
              </a:lnSpc>
              <a:buFont typeface="Apple Symbols"/>
              <a:buChar char="•"/>
              <a:tabLst>
                <a:tab pos="2952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Processing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without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marL="294640" marR="30480" indent="-120650">
              <a:lnSpc>
                <a:spcPct val="111600"/>
              </a:lnSpc>
              <a:buFont typeface="Apple Symbols"/>
              <a:buChar char="•"/>
              <a:tabLst>
                <a:tab pos="2952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layer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manipulate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41910" marR="28575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layering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found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information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traditional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technology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accompanying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4947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Application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Layering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search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engine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268" y="797506"/>
            <a:ext cx="3088934" cy="173167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630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Layered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Object-</a:t>
            </a:r>
            <a:r>
              <a:rPr dirty="0"/>
              <a:t>based</a:t>
            </a:r>
            <a:r>
              <a:rPr spc="-10" dirty="0"/>
              <a:t> style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3504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Components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procedure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calls. </a:t>
            </a:r>
            <a:r>
              <a:rPr sz="900" dirty="0">
                <a:latin typeface="Arial"/>
                <a:cs typeface="Arial"/>
              </a:rPr>
              <a:t>Objects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machines;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network.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371" y="1407741"/>
            <a:ext cx="1863692" cy="8437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5874" y="1376629"/>
            <a:ext cx="1283893" cy="8748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342989"/>
            <a:ext cx="3845560" cy="5473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Encapsulation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Objects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encapsulate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methods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that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without revealing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internal</a:t>
            </a:r>
            <a:r>
              <a:rPr sz="900" spc="-10" dirty="0">
                <a:latin typeface="Arial"/>
                <a:cs typeface="Arial"/>
              </a:rPr>
              <a:t> implementation.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RESTful</a:t>
            </a:r>
            <a:r>
              <a:rPr spc="-50" dirty="0"/>
              <a:t> </a:t>
            </a:r>
            <a:r>
              <a:rPr spc="-10" dirty="0"/>
              <a:t>architectures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20490" cy="17970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View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individually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by </a:t>
            </a:r>
            <a:r>
              <a:rPr sz="900" dirty="0">
                <a:latin typeface="Arial"/>
                <a:cs typeface="Arial"/>
              </a:rPr>
              <a:t>components.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retrieved,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by </a:t>
            </a:r>
            <a:r>
              <a:rPr sz="900" dirty="0">
                <a:latin typeface="Arial"/>
                <a:cs typeface="Arial"/>
              </a:rPr>
              <a:t>(remote)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  <a:p>
            <a:pPr marL="269240" indent="-158750">
              <a:lnSpc>
                <a:spcPct val="100000"/>
              </a:lnSpc>
              <a:spcBef>
                <a:spcPts val="455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Resources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scheme</a:t>
            </a:r>
            <a:endParaRPr sz="900">
              <a:latin typeface="Arial"/>
              <a:cs typeface="Arial"/>
            </a:endParaRPr>
          </a:p>
          <a:p>
            <a:pPr marL="265430" indent="-15494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interface</a:t>
            </a:r>
            <a:endParaRPr sz="900">
              <a:latin typeface="Arial"/>
              <a:cs typeface="Arial"/>
            </a:endParaRPr>
          </a:p>
          <a:p>
            <a:pPr marL="269240" indent="-1587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Messages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self-described</a:t>
            </a:r>
            <a:endParaRPr sz="900">
              <a:latin typeface="Arial"/>
              <a:cs typeface="Arial"/>
            </a:endParaRPr>
          </a:p>
          <a:p>
            <a:pPr marL="269240" marR="389890" indent="-158750">
              <a:lnSpc>
                <a:spcPct val="111600"/>
              </a:lnSpc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forgets everything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caller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553999"/>
              </p:ext>
            </p:extLst>
          </p:nvPr>
        </p:nvGraphicFramePr>
        <p:xfrm>
          <a:off x="856691" y="2396248"/>
          <a:ext cx="2889885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541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Operation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7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marL="71755">
                        <a:lnSpc>
                          <a:spcPts val="1010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lang="en-US" sz="1000" spc="-25" dirty="0">
                          <a:latin typeface="Times New Roman"/>
                          <a:cs typeface="Times New Roman"/>
                        </a:rPr>
                        <a:t>OST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Create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new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resource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139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430">
                <a:tc>
                  <a:txBody>
                    <a:bodyPr/>
                    <a:lstStyle/>
                    <a:p>
                      <a:pPr marL="71755">
                        <a:lnSpc>
                          <a:spcPts val="955"/>
                        </a:lnSpc>
                      </a:pP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GET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700" spc="-10" dirty="0">
                          <a:latin typeface="Arial"/>
                          <a:cs typeface="Arial"/>
                        </a:rPr>
                        <a:t>Retrieve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some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representation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430">
                <a:tc>
                  <a:txBody>
                    <a:bodyPr/>
                    <a:lstStyle/>
                    <a:p>
                      <a:pPr marL="71755">
                        <a:lnSpc>
                          <a:spcPts val="955"/>
                        </a:lnSpc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DELETE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Delete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resource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30">
                <a:tc>
                  <a:txBody>
                    <a:bodyPr/>
                    <a:lstStyle/>
                    <a:p>
                      <a:pPr marL="71755">
                        <a:lnSpc>
                          <a:spcPts val="955"/>
                        </a:lnSpc>
                      </a:pPr>
                      <a:r>
                        <a:rPr sz="1000" spc="-2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lang="en-US" sz="1000" spc="-20">
                          <a:latin typeface="Times New Roman"/>
                          <a:cs typeface="Times New Roman"/>
                        </a:rPr>
                        <a:t>UT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700" dirty="0">
                          <a:latin typeface="Arial"/>
                          <a:cs typeface="Arial"/>
                        </a:rPr>
                        <a:t>Modify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transferring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7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new</a:t>
                      </a:r>
                      <a:r>
                        <a:rPr sz="7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spc="-20" dirty="0">
                          <a:latin typeface="Arial"/>
                          <a:cs typeface="Arial"/>
                        </a:rPr>
                        <a:t>state</a:t>
                      </a:r>
                      <a:endParaRPr sz="700" dirty="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15" dirty="0"/>
              <a:t> </a:t>
            </a:r>
            <a:r>
              <a:rPr spc="-10" dirty="0"/>
              <a:t>Amazon’s</a:t>
            </a:r>
            <a:r>
              <a:rPr spc="-50" dirty="0"/>
              <a:t> </a:t>
            </a:r>
            <a:r>
              <a:rPr dirty="0"/>
              <a:t>Simple</a:t>
            </a:r>
            <a:r>
              <a:rPr spc="-55" dirty="0"/>
              <a:t> </a:t>
            </a:r>
            <a:r>
              <a:rPr dirty="0"/>
              <a:t>Storage</a:t>
            </a:r>
            <a:r>
              <a:rPr spc="-5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282" y="499476"/>
            <a:ext cx="3968115" cy="1968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54610" marR="17780">
              <a:lnSpc>
                <a:spcPct val="105600"/>
              </a:lnSpc>
              <a:spcBef>
                <a:spcPts val="45"/>
              </a:spcBef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Objects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buckets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directories).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Buckets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cannot</a:t>
            </a:r>
            <a:r>
              <a:rPr sz="900" spc="-25" dirty="0">
                <a:latin typeface="Arial"/>
                <a:cs typeface="Arial"/>
              </a:rPr>
              <a:t> be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buckets.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ObjectName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bucket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BucketName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identifier:</a:t>
            </a:r>
            <a:endParaRPr sz="900">
              <a:latin typeface="Arial"/>
              <a:cs typeface="Arial"/>
            </a:endParaRPr>
          </a:p>
          <a:p>
            <a:pPr marL="22860" algn="ctr">
              <a:lnSpc>
                <a:spcPct val="100000"/>
              </a:lnSpc>
              <a:spcBef>
                <a:spcPts val="819"/>
              </a:spcBef>
            </a:pPr>
            <a:r>
              <a:rPr sz="1000" spc="-10" dirty="0">
                <a:latin typeface="Times New Roman"/>
                <a:cs typeface="Times New Roman"/>
                <a:hlinkClick r:id="rId3"/>
              </a:rPr>
              <a:t>http://BucketName.s3.amazonaws.com/ObjectName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00"/>
              </a:spcBef>
            </a:pP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Typical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carried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HTTP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requests:</a:t>
            </a:r>
            <a:endParaRPr sz="900">
              <a:latin typeface="Arial"/>
              <a:cs typeface="Arial"/>
            </a:endParaRPr>
          </a:p>
          <a:p>
            <a:pPr marL="30734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307975" algn="l"/>
              </a:tabLst>
            </a:pPr>
            <a:r>
              <a:rPr sz="900" dirty="0">
                <a:latin typeface="Arial"/>
                <a:cs typeface="Arial"/>
              </a:rPr>
              <a:t>Create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bucket/object:</a:t>
            </a:r>
            <a:r>
              <a:rPr sz="900" spc="200" dirty="0">
                <a:latin typeface="Arial"/>
                <a:cs typeface="Arial"/>
              </a:rPr>
              <a:t> </a:t>
            </a:r>
            <a:r>
              <a:rPr sz="1000" spc="-100" dirty="0">
                <a:latin typeface="Times New Roman"/>
                <a:cs typeface="Times New Roman"/>
              </a:rPr>
              <a:t>PUT</a:t>
            </a:r>
            <a:r>
              <a:rPr sz="900" spc="-1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URI</a:t>
            </a:r>
            <a:endParaRPr sz="900">
              <a:latin typeface="Arial"/>
              <a:cs typeface="Arial"/>
            </a:endParaRPr>
          </a:p>
          <a:p>
            <a:pPr marL="307340" indent="-120650">
              <a:lnSpc>
                <a:spcPct val="100000"/>
              </a:lnSpc>
              <a:spcBef>
                <a:spcPts val="5"/>
              </a:spcBef>
              <a:buClr>
                <a:srgbClr val="3333B2"/>
              </a:buClr>
              <a:buFont typeface="Apple Symbols"/>
              <a:buChar char="•"/>
              <a:tabLst>
                <a:tab pos="307975" algn="l"/>
              </a:tabLst>
            </a:pPr>
            <a:r>
              <a:rPr sz="900" dirty="0">
                <a:latin typeface="Arial"/>
                <a:cs typeface="Arial"/>
              </a:rPr>
              <a:t>Listing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objects:</a:t>
            </a:r>
            <a:r>
              <a:rPr sz="900" spc="210" dirty="0">
                <a:latin typeface="Arial"/>
                <a:cs typeface="Arial"/>
              </a:rPr>
              <a:t> </a:t>
            </a:r>
            <a:r>
              <a:rPr sz="1000" spc="-130" dirty="0">
                <a:latin typeface="Times New Roman"/>
                <a:cs typeface="Times New Roman"/>
              </a:rPr>
              <a:t>GET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bucket</a:t>
            </a:r>
            <a:r>
              <a:rPr sz="900" spc="-20" dirty="0">
                <a:latin typeface="Arial"/>
                <a:cs typeface="Arial"/>
              </a:rPr>
              <a:t> name</a:t>
            </a:r>
            <a:endParaRPr sz="900">
              <a:latin typeface="Arial"/>
              <a:cs typeface="Arial"/>
            </a:endParaRPr>
          </a:p>
          <a:p>
            <a:pPr marL="307340" indent="-120650">
              <a:lnSpc>
                <a:spcPct val="100000"/>
              </a:lnSpc>
              <a:spcBef>
                <a:spcPts val="5"/>
              </a:spcBef>
              <a:buClr>
                <a:srgbClr val="3333B2"/>
              </a:buClr>
              <a:buFont typeface="Apple Symbols"/>
              <a:buChar char="•"/>
              <a:tabLst>
                <a:tab pos="307975" algn="l"/>
              </a:tabLst>
            </a:pPr>
            <a:r>
              <a:rPr sz="900" dirty="0">
                <a:latin typeface="Arial"/>
                <a:cs typeface="Arial"/>
              </a:rPr>
              <a:t>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object:</a:t>
            </a:r>
            <a:r>
              <a:rPr sz="900" spc="220" dirty="0">
                <a:latin typeface="Arial"/>
                <a:cs typeface="Arial"/>
              </a:rPr>
              <a:t> </a:t>
            </a:r>
            <a:r>
              <a:rPr sz="1000" spc="-130" dirty="0">
                <a:latin typeface="Times New Roman"/>
                <a:cs typeface="Times New Roman"/>
              </a:rPr>
              <a:t>GET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URI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interfaces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99476"/>
            <a:ext cx="3916045" cy="7518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people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like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RESTful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approaches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because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so </a:t>
            </a:r>
            <a:r>
              <a:rPr sz="900" dirty="0">
                <a:latin typeface="Arial"/>
                <a:cs typeface="Arial"/>
              </a:rPr>
              <a:t>simple.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catch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parameter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Amazon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S3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SOAP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interface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7549" y="1330620"/>
            <a:ext cx="3130155" cy="9236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interfaces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89362"/>
            <a:ext cx="3917315" cy="5334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Simplifications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interface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bucket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rial"/>
                <a:cs typeface="Arial"/>
              </a:rPr>
              <a:t>offering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create</a:t>
            </a:r>
            <a:r>
              <a:rPr sz="900" spc="85" dirty="0">
                <a:latin typeface="Arial"/>
                <a:cs typeface="Arial"/>
              </a:rPr>
              <a:t>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input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215" dirty="0">
                <a:latin typeface="Arial"/>
                <a:cs typeface="Arial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mybucket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bucket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“mybucket.”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interfaces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89362"/>
            <a:ext cx="3917315" cy="10864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Simplifications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interface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bucket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rial"/>
                <a:cs typeface="Arial"/>
              </a:rPr>
              <a:t>offering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create</a:t>
            </a:r>
            <a:r>
              <a:rPr sz="900" spc="85" dirty="0">
                <a:latin typeface="Arial"/>
                <a:cs typeface="Arial"/>
              </a:rPr>
              <a:t>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input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215" dirty="0">
                <a:latin typeface="Arial"/>
                <a:cs typeface="Arial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mybucket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bucket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“mybucket.”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ts val="1180"/>
              </a:lnSpc>
              <a:spcBef>
                <a:spcPts val="800"/>
              </a:spcBef>
            </a:pP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SOAP</a:t>
            </a:r>
            <a:endParaRPr sz="1000">
              <a:latin typeface="Arial"/>
              <a:cs typeface="Arial"/>
            </a:endParaRPr>
          </a:p>
          <a:p>
            <a:pPr marL="269240" marR="2045335" indent="-6350">
              <a:lnSpc>
                <a:spcPts val="1210"/>
              </a:lnSpc>
              <a:spcBef>
                <a:spcPts val="10"/>
              </a:spcBef>
            </a:pPr>
            <a:r>
              <a:rPr sz="1000" i="1" spc="65" dirty="0">
                <a:latin typeface="Times New Roman"/>
                <a:cs typeface="Times New Roman"/>
              </a:rPr>
              <a:t>import</a:t>
            </a:r>
            <a:r>
              <a:rPr sz="1000" i="1" spc="200" dirty="0">
                <a:latin typeface="Times New Roman"/>
                <a:cs typeface="Times New Roman"/>
              </a:rPr>
              <a:t> </a:t>
            </a:r>
            <a:r>
              <a:rPr sz="1000" i="1" spc="65" dirty="0">
                <a:latin typeface="Times New Roman"/>
                <a:cs typeface="Times New Roman"/>
              </a:rPr>
              <a:t>bucket </a:t>
            </a:r>
            <a:r>
              <a:rPr sz="1000" i="1" spc="60" dirty="0">
                <a:latin typeface="Times New Roman"/>
                <a:cs typeface="Times New Roman"/>
              </a:rPr>
              <a:t>bucket.create("mybucket")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interfaces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89362"/>
            <a:ext cx="3917315" cy="155321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Simplifications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interface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bucket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rial"/>
                <a:cs typeface="Arial"/>
              </a:rPr>
              <a:t>offering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create</a:t>
            </a:r>
            <a:r>
              <a:rPr sz="900" spc="85" dirty="0">
                <a:latin typeface="Arial"/>
                <a:cs typeface="Arial"/>
              </a:rPr>
              <a:t>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input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215" dirty="0">
                <a:latin typeface="Arial"/>
                <a:cs typeface="Arial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mybucket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bucket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“mybucket.”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ts val="1180"/>
              </a:lnSpc>
              <a:spcBef>
                <a:spcPts val="800"/>
              </a:spcBef>
            </a:pP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SOAP</a:t>
            </a:r>
            <a:endParaRPr sz="1000">
              <a:latin typeface="Arial"/>
              <a:cs typeface="Arial"/>
            </a:endParaRPr>
          </a:p>
          <a:p>
            <a:pPr marL="269240" marR="2045335" indent="-6350">
              <a:lnSpc>
                <a:spcPts val="1210"/>
              </a:lnSpc>
              <a:spcBef>
                <a:spcPts val="10"/>
              </a:spcBef>
            </a:pPr>
            <a:r>
              <a:rPr sz="1000" i="1" spc="65" dirty="0">
                <a:latin typeface="Times New Roman"/>
                <a:cs typeface="Times New Roman"/>
              </a:rPr>
              <a:t>import</a:t>
            </a:r>
            <a:r>
              <a:rPr sz="1000" i="1" spc="200" dirty="0">
                <a:latin typeface="Times New Roman"/>
                <a:cs typeface="Times New Roman"/>
              </a:rPr>
              <a:t> </a:t>
            </a:r>
            <a:r>
              <a:rPr sz="1000" i="1" spc="65" dirty="0">
                <a:latin typeface="Times New Roman"/>
                <a:cs typeface="Times New Roman"/>
              </a:rPr>
              <a:t>bucket </a:t>
            </a:r>
            <a:r>
              <a:rPr sz="1000" i="1" spc="60" dirty="0">
                <a:latin typeface="Times New Roman"/>
                <a:cs typeface="Times New Roman"/>
              </a:rPr>
              <a:t>bucket.create("mybucket")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15875">
              <a:lnSpc>
                <a:spcPts val="1165"/>
              </a:lnSpc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RESTful</a:t>
            </a:r>
            <a:endParaRPr sz="1000">
              <a:latin typeface="Arial"/>
              <a:cs typeface="Arial"/>
            </a:endParaRPr>
          </a:p>
          <a:p>
            <a:pPr marL="262890">
              <a:lnSpc>
                <a:spcPts val="1165"/>
              </a:lnSpc>
            </a:pPr>
            <a:r>
              <a:rPr sz="1000" i="1" spc="-60" dirty="0">
                <a:latin typeface="Times New Roman"/>
                <a:cs typeface="Times New Roman"/>
              </a:rPr>
              <a:t>PUT</a:t>
            </a:r>
            <a:r>
              <a:rPr sz="1000" i="1" spc="55" dirty="0">
                <a:latin typeface="Times New Roman"/>
                <a:cs typeface="Times New Roman"/>
              </a:rPr>
              <a:t> "https://mybucket.s3.amazonsws.com/"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795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interfaces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89362"/>
            <a:ext cx="3917315" cy="20275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Simplifications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interface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65" dirty="0">
                <a:latin typeface="Times New Roman"/>
                <a:cs typeface="Times New Roman"/>
              </a:rPr>
              <a:t>bucket</a:t>
            </a:r>
            <a:r>
              <a:rPr sz="1000" spc="-80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Arial"/>
                <a:cs typeface="Arial"/>
              </a:rPr>
              <a:t>offering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1000" spc="85" dirty="0">
                <a:latin typeface="Times New Roman"/>
                <a:cs typeface="Times New Roman"/>
              </a:rPr>
              <a:t>create</a:t>
            </a:r>
            <a:r>
              <a:rPr sz="900" spc="85" dirty="0">
                <a:latin typeface="Arial"/>
                <a:cs typeface="Arial"/>
              </a:rPr>
              <a:t>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input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215" dirty="0">
                <a:latin typeface="Arial"/>
                <a:cs typeface="Arial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mybucket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bucket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“mybucket.”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ts val="1180"/>
              </a:lnSpc>
              <a:spcBef>
                <a:spcPts val="800"/>
              </a:spcBef>
            </a:pP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SOAP</a:t>
            </a:r>
            <a:endParaRPr sz="1000">
              <a:latin typeface="Arial"/>
              <a:cs typeface="Arial"/>
            </a:endParaRPr>
          </a:p>
          <a:p>
            <a:pPr marL="269240" marR="2045335" indent="-6350">
              <a:lnSpc>
                <a:spcPts val="1210"/>
              </a:lnSpc>
              <a:spcBef>
                <a:spcPts val="10"/>
              </a:spcBef>
            </a:pPr>
            <a:r>
              <a:rPr sz="1000" i="1" spc="65" dirty="0">
                <a:latin typeface="Times New Roman"/>
                <a:cs typeface="Times New Roman"/>
              </a:rPr>
              <a:t>import</a:t>
            </a:r>
            <a:r>
              <a:rPr sz="1000" i="1" spc="200" dirty="0">
                <a:latin typeface="Times New Roman"/>
                <a:cs typeface="Times New Roman"/>
              </a:rPr>
              <a:t> </a:t>
            </a:r>
            <a:r>
              <a:rPr sz="1000" i="1" spc="65" dirty="0">
                <a:latin typeface="Times New Roman"/>
                <a:cs typeface="Times New Roman"/>
              </a:rPr>
              <a:t>bucket </a:t>
            </a:r>
            <a:r>
              <a:rPr sz="1000" i="1" spc="60" dirty="0">
                <a:latin typeface="Times New Roman"/>
                <a:cs typeface="Times New Roman"/>
              </a:rPr>
              <a:t>bucket.create("mybucket")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15875">
              <a:lnSpc>
                <a:spcPts val="1165"/>
              </a:lnSpc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RESTful</a:t>
            </a:r>
            <a:endParaRPr sz="1000">
              <a:latin typeface="Arial"/>
              <a:cs typeface="Arial"/>
            </a:endParaRPr>
          </a:p>
          <a:p>
            <a:pPr marL="262890">
              <a:lnSpc>
                <a:spcPts val="1165"/>
              </a:lnSpc>
            </a:pPr>
            <a:r>
              <a:rPr sz="1000" i="1" spc="-60" dirty="0">
                <a:latin typeface="Times New Roman"/>
                <a:cs typeface="Times New Roman"/>
              </a:rPr>
              <a:t>PUT</a:t>
            </a:r>
            <a:r>
              <a:rPr sz="1000" i="1" spc="55" dirty="0">
                <a:latin typeface="Times New Roman"/>
                <a:cs typeface="Times New Roman"/>
              </a:rPr>
              <a:t> "https://mybucket.s3.amazonsws.com/"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Conclusions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draw?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686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Service-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oriented</a:t>
            </a:r>
            <a:r>
              <a:rPr sz="500" spc="5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3804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Coordination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Temporal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referential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coupling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880" y="793788"/>
          <a:ext cx="3521075" cy="42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91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Temporally</a:t>
                      </a:r>
                      <a:r>
                        <a:rPr sz="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coupled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Temporally</a:t>
                      </a:r>
                      <a:r>
                        <a:rPr sz="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coupled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Referentially</a:t>
                      </a:r>
                      <a:r>
                        <a:rPr sz="800" b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coupled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Direct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Mailbox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R="77470" algn="r">
                        <a:lnSpc>
                          <a:spcPts val="91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Referentially</a:t>
                      </a:r>
                      <a:r>
                        <a:rPr sz="800" b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decoupled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91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Event-based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Shared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space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7294" y="1439651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Shared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715" y="1849299"/>
            <a:ext cx="1772595" cy="98190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30242" y="1850542"/>
            <a:ext cx="1468082" cy="105576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9042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Publish-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subscribe</a:t>
            </a:r>
            <a:r>
              <a:rPr sz="500" spc="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165" cy="2016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Linda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tuple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>
              <a:latin typeface="Arial"/>
              <a:cs typeface="Arial"/>
            </a:endParaRPr>
          </a:p>
          <a:p>
            <a:pPr marL="549910" indent="-114935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pple Symbols"/>
              <a:buChar char="•"/>
              <a:tabLst>
                <a:tab pos="550545" algn="l"/>
              </a:tabLst>
            </a:pPr>
            <a:r>
              <a:rPr sz="900" spc="120" dirty="0">
                <a:latin typeface="Times New Roman"/>
                <a:cs typeface="Times New Roman"/>
              </a:rPr>
              <a:t>in(t)</a:t>
            </a:r>
            <a:r>
              <a:rPr sz="900" spc="12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remove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tuple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template</a:t>
            </a:r>
            <a:r>
              <a:rPr sz="900" spc="160" dirty="0">
                <a:latin typeface="Arial"/>
                <a:cs typeface="Arial"/>
              </a:rPr>
              <a:t> </a:t>
            </a:r>
            <a:r>
              <a:rPr sz="900" spc="235" dirty="0">
                <a:latin typeface="Times New Roman"/>
                <a:cs typeface="Times New Roman"/>
              </a:rPr>
              <a:t>t</a:t>
            </a:r>
            <a:endParaRPr sz="900">
              <a:latin typeface="Times New Roman"/>
              <a:cs typeface="Times New Roman"/>
            </a:endParaRPr>
          </a:p>
          <a:p>
            <a:pPr marL="549910" indent="-11493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0545" algn="l"/>
              </a:tabLst>
            </a:pPr>
            <a:r>
              <a:rPr sz="900" spc="110" dirty="0">
                <a:latin typeface="Times New Roman"/>
                <a:cs typeface="Times New Roman"/>
              </a:rPr>
              <a:t>rd(t)</a:t>
            </a:r>
            <a:r>
              <a:rPr sz="900" spc="1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tuple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template</a:t>
            </a:r>
            <a:r>
              <a:rPr sz="900" spc="150" dirty="0">
                <a:latin typeface="Arial"/>
                <a:cs typeface="Arial"/>
              </a:rPr>
              <a:t> </a:t>
            </a:r>
            <a:r>
              <a:rPr sz="900" spc="235" dirty="0">
                <a:latin typeface="Times New Roman"/>
                <a:cs typeface="Times New Roman"/>
              </a:rPr>
              <a:t>t</a:t>
            </a:r>
            <a:endParaRPr sz="900">
              <a:latin typeface="Times New Roman"/>
              <a:cs typeface="Times New Roman"/>
            </a:endParaRPr>
          </a:p>
          <a:p>
            <a:pPr marL="549910" indent="-11493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0545" algn="l"/>
              </a:tabLst>
            </a:pPr>
            <a:r>
              <a:rPr sz="900" spc="100" dirty="0">
                <a:latin typeface="Times New Roman"/>
                <a:cs typeface="Times New Roman"/>
              </a:rPr>
              <a:t>out(t)</a:t>
            </a:r>
            <a:r>
              <a:rPr sz="900" spc="1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tuple</a:t>
            </a:r>
            <a:r>
              <a:rPr sz="900" spc="170" dirty="0">
                <a:latin typeface="Arial"/>
                <a:cs typeface="Arial"/>
              </a:rPr>
              <a:t> </a:t>
            </a:r>
            <a:r>
              <a:rPr sz="900" spc="285" dirty="0">
                <a:latin typeface="Times New Roman"/>
                <a:cs typeface="Times New Roman"/>
              </a:rPr>
              <a:t>t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tuple</a:t>
            </a:r>
            <a:r>
              <a:rPr sz="900" spc="-10" dirty="0">
                <a:latin typeface="Arial"/>
                <a:cs typeface="Arial"/>
              </a:rPr>
              <a:t> space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Apple Symbols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details</a:t>
            </a:r>
            <a:endParaRPr sz="1000">
              <a:latin typeface="Arial"/>
              <a:cs typeface="Arial"/>
            </a:endParaRPr>
          </a:p>
          <a:p>
            <a:pPr marL="555625" marR="4953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Calling</a:t>
            </a:r>
            <a:r>
              <a:rPr sz="900" spc="155" dirty="0">
                <a:latin typeface="Arial"/>
                <a:cs typeface="Arial"/>
              </a:rPr>
              <a:t> </a:t>
            </a:r>
            <a:r>
              <a:rPr sz="900" spc="125" dirty="0">
                <a:latin typeface="Times New Roman"/>
                <a:cs typeface="Times New Roman"/>
              </a:rPr>
              <a:t>out(t)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twice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row,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two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tuple</a:t>
            </a:r>
            <a:r>
              <a:rPr sz="900" spc="160" dirty="0">
                <a:latin typeface="Arial"/>
                <a:cs typeface="Arial"/>
              </a:rPr>
              <a:t> </a:t>
            </a:r>
            <a:r>
              <a:rPr sz="900" spc="285" dirty="0">
                <a:latin typeface="Times New Roman"/>
                <a:cs typeface="Times New Roman"/>
              </a:rPr>
              <a:t>t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spc="295" dirty="0">
                <a:latin typeface="Apple Symbols"/>
                <a:cs typeface="Apple Symbols"/>
              </a:rPr>
              <a:t>⇒</a:t>
            </a:r>
            <a:r>
              <a:rPr sz="900" spc="-65" dirty="0">
                <a:latin typeface="Apple Symbols"/>
                <a:cs typeface="Apple Symbols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tuple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multiset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Both</a:t>
            </a:r>
            <a:r>
              <a:rPr sz="900" spc="155" dirty="0">
                <a:latin typeface="Arial"/>
                <a:cs typeface="Arial"/>
              </a:rPr>
              <a:t> </a:t>
            </a:r>
            <a:r>
              <a:rPr sz="900" spc="140" dirty="0">
                <a:latin typeface="Times New Roman"/>
                <a:cs typeface="Times New Roman"/>
              </a:rPr>
              <a:t>in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160" dirty="0">
                <a:latin typeface="Arial"/>
                <a:cs typeface="Arial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rd</a:t>
            </a:r>
            <a:r>
              <a:rPr sz="900" spc="-5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blocking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matching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found,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042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Publish-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subscribe</a:t>
            </a:r>
            <a:r>
              <a:rPr sz="500" spc="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214" y="868154"/>
            <a:ext cx="2597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Bob</a:t>
            </a:r>
            <a:r>
              <a:rPr sz="900" spc="-2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300" y="92311"/>
            <a:ext cx="2798445" cy="84518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889635" algn="ctr">
              <a:lnSpc>
                <a:spcPct val="100000"/>
              </a:lnSpc>
              <a:spcBef>
                <a:spcPts val="92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Linda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tuple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  <a:p>
            <a:pPr marL="938530">
              <a:lnSpc>
                <a:spcPts val="780"/>
              </a:lnSpc>
              <a:spcBef>
                <a:spcPts val="480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linda</a:t>
            </a:r>
            <a:endParaRPr sz="700">
              <a:latin typeface="Times New Roman"/>
              <a:cs typeface="Times New Roman"/>
            </a:endParaRPr>
          </a:p>
          <a:p>
            <a:pPr marL="93853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linda.connect()</a:t>
            </a:r>
            <a:endParaRPr sz="700">
              <a:latin typeface="Times New Roman"/>
              <a:cs typeface="Times New Roman"/>
            </a:endParaRPr>
          </a:p>
          <a:p>
            <a:pPr marR="875030" algn="ctr">
              <a:lnSpc>
                <a:spcPts val="560"/>
              </a:lnSpc>
              <a:spcBef>
                <a:spcPts val="75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938530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45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blog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linda.TupleSpace()</a:t>
            </a:r>
            <a:endParaRPr sz="700">
              <a:latin typeface="Times New Roman"/>
              <a:cs typeface="Times New Roman"/>
            </a:endParaRPr>
          </a:p>
          <a:p>
            <a:pPr marL="93853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5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linda.universe._out((</a:t>
            </a:r>
            <a:r>
              <a:rPr sz="700" spc="45" dirty="0">
                <a:solidFill>
                  <a:srgbClr val="C80000"/>
                </a:solidFill>
                <a:latin typeface="Times New Roman"/>
                <a:cs typeface="Times New Roman"/>
              </a:rPr>
              <a:t>"MicroBlog"</a:t>
            </a:r>
            <a:r>
              <a:rPr sz="700" spc="45" dirty="0">
                <a:latin typeface="Times New Roman"/>
                <a:cs typeface="Times New Roman"/>
              </a:rPr>
              <a:t>,blog))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3475" y="922181"/>
            <a:ext cx="3017520" cy="56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ts val="560"/>
              </a:lnSpc>
              <a:spcBef>
                <a:spcPts val="95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7</a:t>
            </a:r>
            <a:r>
              <a:rPr sz="500" spc="48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blog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linda.universe._rd((</a:t>
            </a:r>
            <a:r>
              <a:rPr sz="700" spc="40" dirty="0">
                <a:solidFill>
                  <a:srgbClr val="C80000"/>
                </a:solidFill>
                <a:latin typeface="Times New Roman"/>
                <a:cs typeface="Times New Roman"/>
              </a:rPr>
              <a:t>"MicroBlog"</a:t>
            </a:r>
            <a:r>
              <a:rPr sz="700" spc="40" dirty="0">
                <a:latin typeface="Times New Roman"/>
                <a:cs typeface="Times New Roman"/>
              </a:rPr>
              <a:t>,linda.TupleSpace))[1]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9</a:t>
            </a:r>
            <a:r>
              <a:rPr sz="500" spc="185" dirty="0">
                <a:latin typeface="Times New Roman"/>
                <a:cs typeface="Times New Roman"/>
              </a:rPr>
              <a:t>  </a:t>
            </a:r>
            <a:r>
              <a:rPr sz="700" spc="65" dirty="0">
                <a:latin typeface="Times New Roman"/>
                <a:cs typeface="Times New Roman"/>
              </a:rPr>
              <a:t>blog._out((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"bob"</a:t>
            </a:r>
            <a:r>
              <a:rPr sz="700" spc="65" dirty="0">
                <a:latin typeface="Times New Roman"/>
                <a:cs typeface="Times New Roman"/>
              </a:rPr>
              <a:t>,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"distsys"</a:t>
            </a:r>
            <a:r>
              <a:rPr sz="700" spc="65" dirty="0">
                <a:latin typeface="Times New Roman"/>
                <a:cs typeface="Times New Roman"/>
              </a:rPr>
              <a:t>,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"I</a:t>
            </a:r>
            <a:r>
              <a:rPr sz="700" spc="14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am</a:t>
            </a:r>
            <a:r>
              <a:rPr sz="700" spc="10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studying</a:t>
            </a:r>
            <a:r>
              <a:rPr sz="700" spc="9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chap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2"</a:t>
            </a:r>
            <a:r>
              <a:rPr sz="700" spc="70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10</a:t>
            </a:r>
            <a:r>
              <a:rPr sz="500" spc="240" dirty="0">
                <a:latin typeface="Times New Roman"/>
                <a:cs typeface="Times New Roman"/>
              </a:rPr>
              <a:t>  </a:t>
            </a:r>
            <a:r>
              <a:rPr sz="700" spc="55" dirty="0">
                <a:latin typeface="Times New Roman"/>
                <a:cs typeface="Times New Roman"/>
              </a:rPr>
              <a:t>blog._out((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"bob"</a:t>
            </a:r>
            <a:r>
              <a:rPr sz="700" spc="55" dirty="0">
                <a:latin typeface="Times New Roman"/>
                <a:cs typeface="Times New Roman"/>
              </a:rPr>
              <a:t>,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"distsys"</a:t>
            </a:r>
            <a:r>
              <a:rPr sz="700" spc="55" dirty="0">
                <a:latin typeface="Times New Roman"/>
                <a:cs typeface="Times New Roman"/>
              </a:rPr>
              <a:t>,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"The</a:t>
            </a:r>
            <a:r>
              <a:rPr sz="700" spc="15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85" dirty="0">
                <a:solidFill>
                  <a:srgbClr val="C80000"/>
                </a:solidFill>
                <a:latin typeface="Times New Roman"/>
                <a:cs typeface="Times New Roman"/>
              </a:rPr>
              <a:t>linda</a:t>
            </a:r>
            <a:r>
              <a:rPr sz="700" spc="13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example’s</a:t>
            </a:r>
            <a:r>
              <a:rPr sz="700" spc="16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solidFill>
                  <a:srgbClr val="C80000"/>
                </a:solidFill>
                <a:latin typeface="Times New Roman"/>
                <a:cs typeface="Times New Roman"/>
              </a:rPr>
              <a:t>pretty</a:t>
            </a:r>
            <a:r>
              <a:rPr sz="700" spc="13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simple"</a:t>
            </a:r>
            <a:r>
              <a:rPr sz="700" spc="55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11</a:t>
            </a:r>
            <a:r>
              <a:rPr sz="500" spc="210" dirty="0">
                <a:latin typeface="Times New Roman"/>
                <a:cs typeface="Times New Roman"/>
              </a:rPr>
              <a:t>  </a:t>
            </a:r>
            <a:r>
              <a:rPr sz="700" spc="50" dirty="0">
                <a:latin typeface="Times New Roman"/>
                <a:cs typeface="Times New Roman"/>
              </a:rPr>
              <a:t>blog._out((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"bob"</a:t>
            </a:r>
            <a:r>
              <a:rPr sz="700" spc="50" dirty="0">
                <a:latin typeface="Times New Roman"/>
                <a:cs typeface="Times New Roman"/>
              </a:rPr>
              <a:t>,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"gtcn"</a:t>
            </a:r>
            <a:r>
              <a:rPr sz="700" spc="50" dirty="0">
                <a:latin typeface="Times New Roman"/>
                <a:cs typeface="Times New Roman"/>
              </a:rPr>
              <a:t>,</a:t>
            </a:r>
            <a:r>
              <a:rPr sz="700" spc="50" dirty="0">
                <a:solidFill>
                  <a:srgbClr val="C80000"/>
                </a:solidFill>
                <a:latin typeface="Times New Roman"/>
                <a:cs typeface="Times New Roman"/>
              </a:rPr>
              <a:t>"Cool</a:t>
            </a:r>
            <a:r>
              <a:rPr sz="700" spc="12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45" dirty="0">
                <a:solidFill>
                  <a:srgbClr val="C80000"/>
                </a:solidFill>
                <a:latin typeface="Times New Roman"/>
                <a:cs typeface="Times New Roman"/>
              </a:rPr>
              <a:t>book!"</a:t>
            </a:r>
            <a:r>
              <a:rPr sz="700" spc="45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1483487"/>
            <a:ext cx="3742690" cy="0"/>
          </a:xfrm>
          <a:custGeom>
            <a:avLst/>
            <a:gdLst/>
            <a:ahLst/>
            <a:cxnLst/>
            <a:rect l="l" t="t" r="r" b="b"/>
            <a:pathLst>
              <a:path w="3742690">
                <a:moveTo>
                  <a:pt x="0" y="0"/>
                </a:moveTo>
                <a:lnTo>
                  <a:pt x="374238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3214" y="1720425"/>
            <a:ext cx="3041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Alice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1435" y="1475857"/>
            <a:ext cx="3023870" cy="678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linda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linda.connect()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48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blog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linda.universe._rd((</a:t>
            </a:r>
            <a:r>
              <a:rPr sz="700" spc="40" dirty="0">
                <a:solidFill>
                  <a:srgbClr val="C80000"/>
                </a:solidFill>
                <a:latin typeface="Times New Roman"/>
                <a:cs typeface="Times New Roman"/>
              </a:rPr>
              <a:t>"MicroBlog"</a:t>
            </a:r>
            <a:r>
              <a:rPr sz="700" spc="40" dirty="0">
                <a:latin typeface="Times New Roman"/>
                <a:cs typeface="Times New Roman"/>
              </a:rPr>
              <a:t>,linda.TupleSpace))[1]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560"/>
              </a:lnSpc>
              <a:spcBef>
                <a:spcPts val="75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6</a:t>
            </a:r>
            <a:r>
              <a:rPr sz="500" spc="200" dirty="0">
                <a:latin typeface="Times New Roman"/>
                <a:cs typeface="Times New Roman"/>
              </a:rPr>
              <a:t>  </a:t>
            </a:r>
            <a:r>
              <a:rPr sz="700" spc="65" dirty="0">
                <a:latin typeface="Times New Roman"/>
                <a:cs typeface="Times New Roman"/>
              </a:rPr>
              <a:t>blog._out((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"alice"</a:t>
            </a:r>
            <a:r>
              <a:rPr sz="700" spc="65" dirty="0">
                <a:latin typeface="Times New Roman"/>
                <a:cs typeface="Times New Roman"/>
              </a:rPr>
              <a:t>,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"gtcn"</a:t>
            </a:r>
            <a:r>
              <a:rPr sz="700" spc="65" dirty="0">
                <a:latin typeface="Times New Roman"/>
                <a:cs typeface="Times New Roman"/>
              </a:rPr>
              <a:t>,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"This</a:t>
            </a:r>
            <a:r>
              <a:rPr sz="700" spc="114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graph</a:t>
            </a:r>
            <a:r>
              <a:rPr sz="700" spc="10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theory</a:t>
            </a:r>
            <a:r>
              <a:rPr sz="700" spc="10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10" dirty="0">
                <a:solidFill>
                  <a:srgbClr val="C80000"/>
                </a:solidFill>
                <a:latin typeface="Times New Roman"/>
                <a:cs typeface="Times New Roman"/>
              </a:rPr>
              <a:t>stuff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55" dirty="0">
                <a:solidFill>
                  <a:srgbClr val="C80000"/>
                </a:solidFill>
                <a:latin typeface="Times New Roman"/>
                <a:cs typeface="Times New Roman"/>
              </a:rPr>
              <a:t>is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solidFill>
                  <a:srgbClr val="C80000"/>
                </a:solidFill>
                <a:latin typeface="Times New Roman"/>
                <a:cs typeface="Times New Roman"/>
              </a:rPr>
              <a:t>not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easy"</a:t>
            </a:r>
            <a:r>
              <a:rPr sz="700" spc="60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7</a:t>
            </a:r>
            <a:r>
              <a:rPr sz="500" spc="220" dirty="0">
                <a:latin typeface="Times New Roman"/>
                <a:cs typeface="Times New Roman"/>
              </a:rPr>
              <a:t>  </a:t>
            </a:r>
            <a:r>
              <a:rPr sz="700" spc="75" dirty="0">
                <a:latin typeface="Times New Roman"/>
                <a:cs typeface="Times New Roman"/>
              </a:rPr>
              <a:t>blog._out((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"alice"</a:t>
            </a:r>
            <a:r>
              <a:rPr sz="700" spc="75" dirty="0">
                <a:latin typeface="Times New Roman"/>
                <a:cs typeface="Times New Roman"/>
              </a:rPr>
              <a:t>,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"distsys"</a:t>
            </a:r>
            <a:r>
              <a:rPr sz="700" spc="75" dirty="0">
                <a:latin typeface="Times New Roman"/>
                <a:cs typeface="Times New Roman"/>
              </a:rPr>
              <a:t>,</a:t>
            </a:r>
            <a:r>
              <a:rPr sz="700" spc="75" dirty="0">
                <a:solidFill>
                  <a:srgbClr val="C80000"/>
                </a:solidFill>
                <a:latin typeface="Times New Roman"/>
                <a:cs typeface="Times New Roman"/>
              </a:rPr>
              <a:t>"I</a:t>
            </a:r>
            <a:r>
              <a:rPr sz="700" spc="155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105" dirty="0">
                <a:solidFill>
                  <a:srgbClr val="C80000"/>
                </a:solidFill>
                <a:latin typeface="Times New Roman"/>
                <a:cs typeface="Times New Roman"/>
              </a:rPr>
              <a:t>like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systems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solidFill>
                  <a:srgbClr val="C80000"/>
                </a:solidFill>
                <a:latin typeface="Times New Roman"/>
                <a:cs typeface="Times New Roman"/>
              </a:rPr>
              <a:t>more</a:t>
            </a:r>
            <a:r>
              <a:rPr sz="700" spc="13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solidFill>
                  <a:srgbClr val="C80000"/>
                </a:solidFill>
                <a:latin typeface="Times New Roman"/>
                <a:cs typeface="Times New Roman"/>
              </a:rPr>
              <a:t>than</a:t>
            </a:r>
            <a:r>
              <a:rPr sz="700" spc="120" dirty="0">
                <a:solidFill>
                  <a:srgbClr val="C80000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graphs"</a:t>
            </a:r>
            <a:r>
              <a:rPr sz="700" spc="55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9994" y="2153564"/>
            <a:ext cx="3742690" cy="0"/>
          </a:xfrm>
          <a:custGeom>
            <a:avLst/>
            <a:gdLst/>
            <a:ahLst/>
            <a:cxnLst/>
            <a:rect l="l" t="t" r="r" b="b"/>
            <a:pathLst>
              <a:path w="3742690">
                <a:moveTo>
                  <a:pt x="0" y="0"/>
                </a:moveTo>
                <a:lnTo>
                  <a:pt x="374238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3214" y="2618239"/>
            <a:ext cx="3778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Chuck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3475" y="2145921"/>
            <a:ext cx="2841625" cy="1134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ts val="78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204" dirty="0">
                <a:latin typeface="Times New Roman"/>
                <a:cs typeface="Times New Roman"/>
              </a:rPr>
              <a:t> 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import</a:t>
            </a:r>
            <a:r>
              <a:rPr sz="7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linda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2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linda.connect()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ts val="800"/>
              </a:lnSpc>
            </a:pPr>
            <a:r>
              <a:rPr sz="500" dirty="0">
                <a:latin typeface="Times New Roman"/>
                <a:cs typeface="Times New Roman"/>
              </a:rPr>
              <a:t>4</a:t>
            </a:r>
            <a:r>
              <a:rPr sz="500" spc="480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blog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linda.universe._rd((</a:t>
            </a:r>
            <a:r>
              <a:rPr sz="700" spc="40" dirty="0">
                <a:solidFill>
                  <a:srgbClr val="C80000"/>
                </a:solidFill>
                <a:latin typeface="Times New Roman"/>
                <a:cs typeface="Times New Roman"/>
              </a:rPr>
              <a:t>"MicroBlog"</a:t>
            </a:r>
            <a:r>
              <a:rPr sz="700" spc="40" dirty="0">
                <a:latin typeface="Times New Roman"/>
                <a:cs typeface="Times New Roman"/>
              </a:rPr>
              <a:t>,linda.TupleSpace))[1]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560"/>
              </a:lnSpc>
              <a:spcBef>
                <a:spcPts val="75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6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t1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blog._rd((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"bob"</a:t>
            </a:r>
            <a:r>
              <a:rPr sz="700" spc="60" dirty="0">
                <a:latin typeface="Times New Roman"/>
                <a:cs typeface="Times New Roman"/>
              </a:rPr>
              <a:t>,</a:t>
            </a:r>
            <a:r>
              <a:rPr sz="700" spc="60" dirty="0">
                <a:solidFill>
                  <a:srgbClr val="C80000"/>
                </a:solidFill>
                <a:latin typeface="Times New Roman"/>
                <a:cs typeface="Times New Roman"/>
              </a:rPr>
              <a:t>"distsys"</a:t>
            </a:r>
            <a:r>
              <a:rPr sz="700" spc="60" dirty="0">
                <a:latin typeface="Times New Roman"/>
                <a:cs typeface="Times New Roman"/>
              </a:rPr>
              <a:t>,</a:t>
            </a: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60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7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t2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blog._rd((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"alice"</a:t>
            </a:r>
            <a:r>
              <a:rPr sz="700" spc="65" dirty="0">
                <a:latin typeface="Times New Roman"/>
                <a:cs typeface="Times New Roman"/>
              </a:rPr>
              <a:t>,</a:t>
            </a:r>
            <a:r>
              <a:rPr sz="700" spc="65" dirty="0">
                <a:solidFill>
                  <a:srgbClr val="C80000"/>
                </a:solidFill>
                <a:latin typeface="Times New Roman"/>
                <a:cs typeface="Times New Roman"/>
              </a:rPr>
              <a:t>"gtcn"</a:t>
            </a:r>
            <a:r>
              <a:rPr sz="700" spc="65" dirty="0">
                <a:latin typeface="Times New Roman"/>
                <a:cs typeface="Times New Roman"/>
              </a:rPr>
              <a:t>,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65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8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t3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blog._rd((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"bob"</a:t>
            </a:r>
            <a:r>
              <a:rPr sz="700" spc="55" dirty="0">
                <a:latin typeface="Times New Roman"/>
                <a:cs typeface="Times New Roman"/>
              </a:rPr>
              <a:t>,</a:t>
            </a:r>
            <a:r>
              <a:rPr sz="700" spc="55" dirty="0">
                <a:solidFill>
                  <a:srgbClr val="C80000"/>
                </a:solidFill>
                <a:latin typeface="Times New Roman"/>
                <a:cs typeface="Times New Roman"/>
              </a:rPr>
              <a:t>"gtcn"</a:t>
            </a:r>
            <a:r>
              <a:rPr sz="700" spc="55" dirty="0">
                <a:latin typeface="Times New Roman"/>
                <a:cs typeface="Times New Roman"/>
              </a:rPr>
              <a:t>,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str</a:t>
            </a:r>
            <a:r>
              <a:rPr sz="700" spc="55" dirty="0"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50165">
              <a:lnSpc>
                <a:spcPts val="560"/>
              </a:lnSpc>
              <a:spcBef>
                <a:spcPts val="80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ts val="735"/>
              </a:lnSpc>
            </a:pPr>
            <a:r>
              <a:rPr sz="500" dirty="0">
                <a:latin typeface="Times New Roman"/>
                <a:cs typeface="Times New Roman"/>
              </a:rPr>
              <a:t>10</a:t>
            </a:r>
            <a:r>
              <a:rPr sz="500" spc="475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t1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15"/>
              </a:lnSpc>
            </a:pPr>
            <a:r>
              <a:rPr sz="500" dirty="0">
                <a:latin typeface="Times New Roman"/>
                <a:cs typeface="Times New Roman"/>
              </a:rPr>
              <a:t>11</a:t>
            </a:r>
            <a:r>
              <a:rPr sz="500" spc="475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t2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latin typeface="Times New Roman"/>
                <a:cs typeface="Times New Roman"/>
              </a:rPr>
              <a:t>12</a:t>
            </a:r>
            <a:r>
              <a:rPr sz="500" spc="475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print</a:t>
            </a:r>
            <a:r>
              <a:rPr sz="7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t3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5" name="object 15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467" y="3349927"/>
            <a:ext cx="9042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Publish-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subscribe</a:t>
            </a:r>
            <a:r>
              <a:rPr sz="500" spc="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8925" y="-1515"/>
            <a:ext cx="5556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Architectural</a:t>
            </a:r>
            <a:r>
              <a:rPr sz="500" spc="9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styles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749040" cy="1077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Publish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subscribe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Issue: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match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events?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Apple Symbols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described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(attribute,value)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pairs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topic-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subscription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attribute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=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value</a:t>
            </a:r>
            <a:r>
              <a:rPr sz="900" dirty="0">
                <a:latin typeface="Arial"/>
                <a:cs typeface="Arial"/>
              </a:rPr>
              <a:t>”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series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5435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content-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subscription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attribute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75" dirty="0">
                <a:solidFill>
                  <a:srgbClr val="3333B2"/>
                </a:solidFill>
                <a:latin typeface="Apple Symbols"/>
                <a:cs typeface="Apple Symbols"/>
              </a:rPr>
              <a:t>∈</a:t>
            </a:r>
            <a:r>
              <a:rPr sz="900" spc="-75" dirty="0">
                <a:solidFill>
                  <a:srgbClr val="3333B2"/>
                </a:solidFill>
                <a:latin typeface="Apple Symbols"/>
                <a:cs typeface="Apple Symbols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range</a:t>
            </a:r>
            <a:r>
              <a:rPr sz="900" dirty="0">
                <a:latin typeface="Arial"/>
                <a:cs typeface="Arial"/>
              </a:rPr>
              <a:t>”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series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734" y="1386415"/>
            <a:ext cx="3144591" cy="10928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547" y="2565169"/>
            <a:ext cx="373697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 indent="317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Content-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subscriptions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serious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scalability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 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why?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042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Publish-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subscribe</a:t>
            </a:r>
            <a:r>
              <a:rPr sz="500" spc="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6167" y="-1515"/>
            <a:ext cx="10287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Middleware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and distributed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733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Middleware: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OS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128" y="452761"/>
            <a:ext cx="3178743" cy="158660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350" y="2103740"/>
            <a:ext cx="390271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does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contain?</a:t>
            </a:r>
            <a:endParaRPr sz="1000">
              <a:latin typeface="Arial"/>
              <a:cs typeface="Arial"/>
            </a:endParaRPr>
          </a:p>
          <a:p>
            <a:pPr marL="18415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Commonly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implemented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by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separately.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84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Middleware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and distributed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40" dirty="0"/>
              <a:t> </a:t>
            </a:r>
            <a:r>
              <a:rPr dirty="0"/>
              <a:t>legacy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build</a:t>
            </a:r>
            <a:r>
              <a:rPr spc="-40" dirty="0"/>
              <a:t> </a:t>
            </a:r>
            <a:r>
              <a:rPr spc="-10" dirty="0"/>
              <a:t>middleware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10553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interfaces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offered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legacy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component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likely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suitable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all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15875" marR="26034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wrapper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adapter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interface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acceptable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Its </a:t>
            </a:r>
            <a:r>
              <a:rPr sz="900" dirty="0">
                <a:latin typeface="Arial"/>
                <a:cs typeface="Arial"/>
              </a:rPr>
              <a:t>functions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transformed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09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Middleware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organization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6167" y="-1515"/>
            <a:ext cx="10287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Middleware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and distributed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838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Organizing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wrappers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solutions:</a:t>
            </a:r>
            <a:r>
              <a:rPr sz="1000" spc="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1-on-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through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broker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684" y="795077"/>
            <a:ext cx="1138807" cy="8684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34786" y="880582"/>
            <a:ext cx="874496" cy="7791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1894" y="1938787"/>
            <a:ext cx="2719705" cy="607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Complexity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N</a:t>
            </a:r>
            <a:r>
              <a:rPr sz="1000" i="1" spc="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applications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00"/>
              </a:spcBef>
              <a:buFont typeface="Apple Symbols"/>
              <a:buChar char="•"/>
              <a:tabLst>
                <a:tab pos="2914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1-on-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145" dirty="0">
                <a:latin typeface="Apple Symbols"/>
                <a:cs typeface="Apple Symbols"/>
              </a:rPr>
              <a:t>×</a:t>
            </a:r>
            <a:r>
              <a:rPr sz="900" spc="145" dirty="0">
                <a:latin typeface="Arial"/>
                <a:cs typeface="Arial"/>
              </a:rPr>
              <a:t>(</a:t>
            </a:r>
            <a:r>
              <a:rPr sz="900" i="1" spc="145" dirty="0">
                <a:latin typeface="Arial"/>
                <a:cs typeface="Arial"/>
              </a:rPr>
              <a:t>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spc="160" dirty="0">
                <a:latin typeface="Apple Symbols"/>
                <a:cs typeface="Apple Symbols"/>
              </a:rPr>
              <a:t>−</a:t>
            </a:r>
            <a:r>
              <a:rPr sz="900" spc="-155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1050" baseline="27777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wrappers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broker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O</a:t>
            </a:r>
            <a:r>
              <a:rPr sz="900" spc="50" dirty="0">
                <a:latin typeface="Arial"/>
                <a:cs typeface="Arial"/>
              </a:rPr>
              <a:t>(</a:t>
            </a:r>
            <a:r>
              <a:rPr sz="900" i="1" spc="50" dirty="0">
                <a:latin typeface="Arial"/>
                <a:cs typeface="Arial"/>
              </a:rPr>
              <a:t>N</a:t>
            </a:r>
            <a:r>
              <a:rPr sz="900" spc="50" dirty="0">
                <a:latin typeface="Arial"/>
                <a:cs typeface="Arial"/>
              </a:rPr>
              <a:t>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wrappers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709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Middleware</a:t>
            </a:r>
            <a:r>
              <a:rPr sz="500" spc="4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organization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8487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Middleware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and distributed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Developing</a:t>
            </a:r>
            <a:r>
              <a:rPr spc="-60" dirty="0"/>
              <a:t> </a:t>
            </a:r>
            <a:r>
              <a:rPr dirty="0"/>
              <a:t>adaptable</a:t>
            </a:r>
            <a:r>
              <a:rPr spc="-60" dirty="0"/>
              <a:t> </a:t>
            </a:r>
            <a:r>
              <a:rPr spc="-10" dirty="0"/>
              <a:t>middleware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99476"/>
            <a:ext cx="392049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Middleware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solutions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good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most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295" dirty="0">
                <a:latin typeface="Apple Symbols"/>
                <a:cs typeface="Apple Symbols"/>
              </a:rPr>
              <a:t>⇒</a:t>
            </a:r>
            <a:r>
              <a:rPr sz="900" spc="-75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may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adapt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09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Middleware</a:t>
            </a:r>
            <a:r>
              <a:rPr sz="500" spc="4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organization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26167" y="-1515"/>
            <a:ext cx="10287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Middleware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and distributed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517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Intercept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usual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flow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control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435" y="774580"/>
            <a:ext cx="3185068" cy="237346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092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Middleware</a:t>
            </a:r>
            <a:r>
              <a:rPr sz="500" spc="4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organization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2608" y="-1515"/>
            <a:ext cx="85216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Layered-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547745" cy="1308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architectures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Client–Server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Characteristics: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Apple Symbols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offering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servers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clients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Clients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machines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Clients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request/reply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8631" y="1640771"/>
            <a:ext cx="2307406" cy="50841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29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2608" y="-1515"/>
            <a:ext cx="85216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Layered-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291840" cy="1311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Multi-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tiered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centralized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architectures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9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traditional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Single-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tiered:</a:t>
            </a:r>
            <a:r>
              <a:rPr sz="900" spc="9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dumb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terminal/mainframe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configuration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Two-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tiered:</a:t>
            </a:r>
            <a:r>
              <a:rPr sz="900" spc="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client/single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configuration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Three-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tiered:</a:t>
            </a:r>
            <a:r>
              <a:rPr sz="900" spc="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layer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machine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Traditional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two-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tiered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configurations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192" y="1614255"/>
            <a:ext cx="3735620" cy="137703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2538" y="301780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9744" y="301780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6836" y="3017807"/>
            <a:ext cx="158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(c)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07665" y="301780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(d)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4757" y="301780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(e)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7042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Multitiered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2608" y="-1515"/>
            <a:ext cx="85216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Layered-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3558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Being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same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Three-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tiered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0183" y="849914"/>
            <a:ext cx="2350221" cy="8753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042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Multitiered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6141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Layered-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Network</a:t>
            </a:r>
            <a:r>
              <a:rPr spc="-35" dirty="0"/>
              <a:t> </a:t>
            </a:r>
            <a:r>
              <a:rPr dirty="0"/>
              <a:t>File</a:t>
            </a:r>
            <a:r>
              <a:rPr spc="-35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99476"/>
            <a:ext cx="3816350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Foundations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NFS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standardized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view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each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regardless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implementation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NFS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remote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599" y="1540623"/>
            <a:ext cx="1568500" cy="8817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9293" y="1415386"/>
            <a:ext cx="1688105" cy="11334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6035" y="2643944"/>
            <a:ext cx="27082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16735" algn="l"/>
              </a:tabLst>
            </a:pPr>
            <a:r>
              <a:rPr sz="900" dirty="0">
                <a:latin typeface="Arial"/>
                <a:cs typeface="Arial"/>
              </a:rPr>
              <a:t>Remote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access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Upload/download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2721722"/>
            <a:ext cx="383794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FTP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typical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upload/download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said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systems </a:t>
            </a:r>
            <a:r>
              <a:rPr sz="900" dirty="0">
                <a:latin typeface="Arial"/>
                <a:cs typeface="Arial"/>
              </a:rPr>
              <a:t>like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Dropbox.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10179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The</a:t>
            </a:r>
            <a:r>
              <a:rPr sz="500" spc="-1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Network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File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2608" y="-1515"/>
            <a:ext cx="85216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Layered-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645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NFS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317" y="471858"/>
            <a:ext cx="3896568" cy="187145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0179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Network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File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2608" y="-1515"/>
            <a:ext cx="85216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Layered-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6502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old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days...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3298" y="714207"/>
            <a:ext cx="2612277" cy="1273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101804"/>
            <a:ext cx="3482340" cy="78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...life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was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simple:</a:t>
            </a:r>
            <a:endParaRPr sz="10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website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HTML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files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HTML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hyperlink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hyperlink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fetch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0148" y="2928127"/>
            <a:ext cx="8255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0"/>
              </a:lnSpc>
            </a:pPr>
            <a:r>
              <a:rPr sz="900" spc="105" dirty="0">
                <a:solidFill>
                  <a:srgbClr val="3333B2"/>
                </a:solidFill>
                <a:latin typeface="Apple Symbols"/>
                <a:cs typeface="Apple Symbols"/>
              </a:rPr>
              <a:t>•</a:t>
            </a:r>
            <a:endParaRPr sz="900">
              <a:latin typeface="Apple Symbols"/>
              <a:cs typeface="Apple Symbol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595" y="2920822"/>
            <a:ext cx="3115945" cy="166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took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rendering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67" y="3349927"/>
            <a:ext cx="5657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02608" y="-1515"/>
            <a:ext cx="85216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Layered-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594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(cnt’d):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Less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Still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old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days...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9775" y="716774"/>
            <a:ext cx="3103107" cy="10671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901538"/>
            <a:ext cx="3779520" cy="975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...life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became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bit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complicated:</a:t>
            </a:r>
            <a:endParaRPr sz="10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website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built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around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content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Webpage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could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referred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hyperlink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hyperlink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fetch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420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Common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Gateway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Interface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composed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page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0148" y="2928127"/>
            <a:ext cx="8255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0"/>
              </a:lnSpc>
            </a:pPr>
            <a:r>
              <a:rPr sz="900" spc="105" dirty="0">
                <a:solidFill>
                  <a:srgbClr val="3333B2"/>
                </a:solidFill>
                <a:latin typeface="Apple Symbols"/>
                <a:cs typeface="Apple Symbols"/>
              </a:rPr>
              <a:t>•</a:t>
            </a:r>
            <a:endParaRPr sz="900">
              <a:latin typeface="Apple Symbols"/>
              <a:cs typeface="Apple Symbol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6595" y="2920822"/>
            <a:ext cx="3115945" cy="166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took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rendering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467" y="3349927"/>
            <a:ext cx="5657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The</a:t>
            </a:r>
            <a:r>
              <a:rPr sz="500" spc="-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Alternative</a:t>
            </a:r>
            <a:r>
              <a:rPr spc="-70" dirty="0"/>
              <a:t> </a:t>
            </a:r>
            <a:r>
              <a:rPr spc="-10" dirty="0"/>
              <a:t>organizations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99476"/>
            <a:ext cx="3919854" cy="17919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Vertical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endParaRPr sz="1000">
              <a:latin typeface="Arial"/>
              <a:cs typeface="Arial"/>
            </a:endParaRPr>
          </a:p>
          <a:p>
            <a:pPr marL="16510" marR="22542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Comes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dividing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layers,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running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layer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(machine).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Horizontal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endParaRPr sz="1000">
              <a:latin typeface="Arial"/>
              <a:cs typeface="Arial"/>
            </a:endParaRPr>
          </a:p>
          <a:p>
            <a:pPr marL="16510" marR="22225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physically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split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equivalent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but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set.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74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Peer-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to-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peer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architectures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equal: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carried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spc="-10" dirty="0">
                <a:latin typeface="Arial"/>
                <a:cs typeface="Arial"/>
              </a:rPr>
              <a:t>represented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295" dirty="0">
                <a:latin typeface="Apple Symbols"/>
                <a:cs typeface="Apple Symbols"/>
              </a:rPr>
              <a:t>⇒</a:t>
            </a:r>
            <a:r>
              <a:rPr sz="900" spc="-70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servant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Structured</a:t>
            </a:r>
            <a:r>
              <a:rPr spc="-50" dirty="0"/>
              <a:t> </a:t>
            </a:r>
            <a:r>
              <a:rPr spc="-25" dirty="0"/>
              <a:t>P2P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3504" cy="112141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semantic-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free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index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uniquely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associated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key,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Common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practice: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hash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function</a:t>
            </a:r>
            <a:endParaRPr sz="900">
              <a:latin typeface="Arial"/>
              <a:cs typeface="Arial"/>
            </a:endParaRPr>
          </a:p>
          <a:p>
            <a:pPr marL="911860">
              <a:lnSpc>
                <a:spcPct val="100000"/>
              </a:lnSpc>
              <a:spcBef>
                <a:spcPts val="310"/>
              </a:spcBef>
            </a:pPr>
            <a:r>
              <a:rPr sz="900" i="1" dirty="0">
                <a:latin typeface="Arial"/>
                <a:cs typeface="Arial"/>
              </a:rPr>
              <a:t>key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 item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hash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 </a:t>
            </a:r>
            <a:r>
              <a:rPr sz="900" i="1" spc="-10" dirty="0">
                <a:latin typeface="Arial"/>
                <a:cs typeface="Arial"/>
              </a:rPr>
              <a:t>item’s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value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i="1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900" dirty="0">
                <a:latin typeface="Arial"/>
                <a:cs typeface="Arial"/>
              </a:rPr>
              <a:t>P2P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responsible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key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i="1" spc="-10" dirty="0">
                <a:latin typeface="Arial"/>
                <a:cs typeface="Arial"/>
              </a:rPr>
              <a:t>value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pairs.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Simple</a:t>
            </a:r>
            <a:r>
              <a:rPr sz="1000" spc="-5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example:</a:t>
            </a:r>
            <a:r>
              <a:rPr sz="1000" spc="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hypercube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652" y="1725067"/>
            <a:ext cx="2547548" cy="9869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7804" y="2747407"/>
            <a:ext cx="3900170" cy="33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3810">
              <a:lnSpc>
                <a:spcPct val="111600"/>
              </a:lnSpc>
              <a:spcBef>
                <a:spcPts val="100"/>
              </a:spcBef>
            </a:pPr>
            <a:r>
              <a:rPr sz="900" dirty="0">
                <a:latin typeface="Arial"/>
                <a:cs typeface="Arial"/>
              </a:rPr>
              <a:t>Looking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spc="75" dirty="0">
                <a:latin typeface="Apple Symbols"/>
                <a:cs typeface="Apple Symbols"/>
              </a:rPr>
              <a:t>∈</a:t>
            </a:r>
            <a:r>
              <a:rPr sz="900" spc="-100" dirty="0">
                <a:latin typeface="Apple Symbols"/>
                <a:cs typeface="Apple Symbols"/>
              </a:rPr>
              <a:t> </a:t>
            </a:r>
            <a:r>
              <a:rPr sz="900" dirty="0">
                <a:latin typeface="Apple Symbols"/>
                <a:cs typeface="Apple Symbols"/>
              </a:rPr>
              <a:t>{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60" dirty="0">
                <a:latin typeface="Arial"/>
                <a:cs typeface="Arial"/>
              </a:rPr>
              <a:t>2</a:t>
            </a:r>
            <a:r>
              <a:rPr sz="900" i="1" spc="60" dirty="0">
                <a:latin typeface="Arial"/>
                <a:cs typeface="Arial"/>
              </a:rPr>
              <a:t>,...,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1050" baseline="27777" dirty="0">
                <a:latin typeface="Arial"/>
                <a:cs typeface="Arial"/>
              </a:rPr>
              <a:t>4</a:t>
            </a:r>
            <a:r>
              <a:rPr sz="1050" spc="-44" baseline="27777" dirty="0">
                <a:latin typeface="Arial"/>
                <a:cs typeface="Arial"/>
              </a:rPr>
              <a:t> </a:t>
            </a:r>
            <a:r>
              <a:rPr sz="900" spc="160" dirty="0">
                <a:latin typeface="Apple Symbols"/>
                <a:cs typeface="Apple Symbols"/>
              </a:rPr>
              <a:t>−</a:t>
            </a:r>
            <a:r>
              <a:rPr sz="900" spc="-180" dirty="0">
                <a:latin typeface="Apple Symbols"/>
                <a:cs typeface="Apple Symbols"/>
              </a:rPr>
              <a:t> </a:t>
            </a:r>
            <a:r>
              <a:rPr sz="900" spc="75" dirty="0">
                <a:latin typeface="Arial"/>
                <a:cs typeface="Arial"/>
              </a:rPr>
              <a:t>1</a:t>
            </a:r>
            <a:r>
              <a:rPr sz="900" spc="75" dirty="0">
                <a:latin typeface="Apple Symbols"/>
                <a:cs typeface="Apple Symbols"/>
              </a:rPr>
              <a:t>}</a:t>
            </a:r>
            <a:r>
              <a:rPr sz="900" spc="-55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node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identifier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334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Structured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peer-to-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peer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15" dirty="0"/>
              <a:t> </a:t>
            </a:r>
            <a:r>
              <a:rPr spc="-10" dirty="0"/>
              <a:t>Chord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60495" cy="101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logically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ring.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identifier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-bit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259079" indent="-120650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Data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id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114" dirty="0">
                <a:latin typeface="Apple Symbols"/>
                <a:cs typeface="Apple Symbols"/>
              </a:rPr>
              <a:t>≥</a:t>
            </a:r>
            <a:r>
              <a:rPr sz="900" spc="-105" dirty="0">
                <a:latin typeface="Apple Symbols"/>
                <a:cs typeface="Apple Symbols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,</a:t>
            </a:r>
            <a:r>
              <a:rPr sz="900" dirty="0">
                <a:latin typeface="Arial"/>
                <a:cs typeface="Arial"/>
              </a:rPr>
              <a:t> called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successor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pple Symbols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extended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various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shortcut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links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334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Structured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peer-to-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peer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27832" y="-1515"/>
            <a:ext cx="13271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239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Chord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6431" y="678294"/>
            <a:ext cx="3725499" cy="239702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61782" y="3115762"/>
            <a:ext cx="13220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25" dirty="0">
                <a:latin typeface="Arial"/>
                <a:cs typeface="Arial"/>
              </a:rPr>
              <a:t>lookup</a:t>
            </a:r>
            <a:r>
              <a:rPr sz="900" spc="-25" dirty="0">
                <a:latin typeface="Arial"/>
                <a:cs typeface="Arial"/>
              </a:rPr>
              <a:t>(3)@9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28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245" dirty="0">
                <a:latin typeface="Apple Symbols"/>
                <a:cs typeface="Apple Symbols"/>
              </a:rPr>
              <a:t>→</a:t>
            </a:r>
            <a:r>
              <a:rPr sz="900" spc="-95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245" dirty="0">
                <a:latin typeface="Apple Symbols"/>
                <a:cs typeface="Apple Symbols"/>
              </a:rPr>
              <a:t>→</a:t>
            </a:r>
            <a:r>
              <a:rPr sz="900" spc="-95" dirty="0">
                <a:latin typeface="Apple Symbols"/>
                <a:cs typeface="Apple Symbols"/>
              </a:rPr>
              <a:t> </a:t>
            </a:r>
            <a:r>
              <a:rPr sz="900" spc="-50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334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Structured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peer-to-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peer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Unstructured</a:t>
            </a:r>
            <a:r>
              <a:rPr spc="-60" dirty="0"/>
              <a:t> </a:t>
            </a:r>
            <a:r>
              <a:rPr spc="-25" dirty="0"/>
              <a:t>P2P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40810" cy="21012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overlay </a:t>
            </a:r>
            <a:r>
              <a:rPr sz="900" spc="-20" dirty="0">
                <a:latin typeface="Arial"/>
                <a:cs typeface="Arial"/>
              </a:rPr>
              <a:t>resembles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random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graph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edge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pple Symbols"/>
                <a:cs typeface="Apple Symbols"/>
              </a:rPr>
              <a:t>⟨</a:t>
            </a:r>
            <a:r>
              <a:rPr sz="900" i="1" dirty="0">
                <a:latin typeface="Arial"/>
                <a:cs typeface="Arial"/>
              </a:rPr>
              <a:t>u,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pple Symbols"/>
                <a:cs typeface="Apple Symbols"/>
              </a:rPr>
              <a:t>⟩</a:t>
            </a:r>
            <a:r>
              <a:rPr sz="900" spc="-75" dirty="0">
                <a:latin typeface="Apple Symbols"/>
                <a:cs typeface="Apple Symbols"/>
              </a:rPr>
              <a:t> </a:t>
            </a:r>
            <a:r>
              <a:rPr sz="900" spc="-10" dirty="0">
                <a:latin typeface="Arial"/>
                <a:cs typeface="Arial"/>
              </a:rPr>
              <a:t>exists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probability </a:t>
            </a:r>
            <a:r>
              <a:rPr sz="900" dirty="0">
                <a:latin typeface="Arial"/>
                <a:cs typeface="Arial"/>
              </a:rPr>
              <a:t>P[</a:t>
            </a:r>
            <a:r>
              <a:rPr sz="900" dirty="0">
                <a:latin typeface="Apple Symbols"/>
                <a:cs typeface="Apple Symbols"/>
              </a:rPr>
              <a:t>⟨</a:t>
            </a:r>
            <a:r>
              <a:rPr sz="900" i="1" dirty="0">
                <a:latin typeface="Arial"/>
                <a:cs typeface="Arial"/>
              </a:rPr>
              <a:t>u,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25" dirty="0">
                <a:latin typeface="Apple Symbols"/>
                <a:cs typeface="Apple Symbols"/>
              </a:rPr>
              <a:t>⟩</a:t>
            </a:r>
            <a:r>
              <a:rPr sz="900" spc="-25" dirty="0">
                <a:latin typeface="Arial"/>
                <a:cs typeface="Arial"/>
              </a:rPr>
              <a:t>].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Searching</a:t>
            </a:r>
            <a:endParaRPr sz="1000">
              <a:latin typeface="Arial"/>
              <a:cs typeface="Arial"/>
            </a:endParaRPr>
          </a:p>
          <a:p>
            <a:pPr marL="278130" marR="3937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Flooding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ignored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Otherwise,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v</a:t>
            </a:r>
            <a:r>
              <a:rPr sz="900" i="1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(recursively).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limited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Time-</a:t>
            </a:r>
            <a:r>
              <a:rPr sz="900" spc="-50" dirty="0">
                <a:solidFill>
                  <a:srgbClr val="C80000"/>
                </a:solidFill>
                <a:latin typeface="Arial"/>
                <a:cs typeface="Arial"/>
              </a:rPr>
              <a:t>To-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Live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maximum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hops.</a:t>
            </a:r>
            <a:endParaRPr sz="900">
              <a:latin typeface="Arial"/>
              <a:cs typeface="Arial"/>
            </a:endParaRPr>
          </a:p>
          <a:p>
            <a:pPr marL="278130" marR="6096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Random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walk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neighbor,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0" dirty="0">
                <a:latin typeface="Arial"/>
                <a:cs typeface="Arial"/>
              </a:rPr>
              <a:t> forwards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its </a:t>
            </a:r>
            <a:r>
              <a:rPr sz="900" dirty="0">
                <a:latin typeface="Arial"/>
                <a:cs typeface="Arial"/>
              </a:rPr>
              <a:t>randomly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chosen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039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Unstructured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peer-to-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peer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Flooding</a:t>
            </a:r>
            <a:r>
              <a:rPr spc="-65" dirty="0"/>
              <a:t> </a:t>
            </a:r>
            <a:r>
              <a:rPr dirty="0"/>
              <a:t>versus</a:t>
            </a:r>
            <a:r>
              <a:rPr spc="-60" dirty="0"/>
              <a:t> </a:t>
            </a:r>
            <a:r>
              <a:rPr dirty="0"/>
              <a:t>random</a:t>
            </a:r>
            <a:r>
              <a:rPr spc="-60" dirty="0"/>
              <a:t> </a:t>
            </a:r>
            <a:r>
              <a:rPr spc="-20" dirty="0"/>
              <a:t>walk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710304" cy="9023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randomly </a:t>
            </a:r>
            <a:r>
              <a:rPr sz="900" dirty="0">
                <a:latin typeface="Arial"/>
                <a:cs typeface="Arial"/>
              </a:rPr>
              <a:t>chosen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Random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walk</a:t>
            </a:r>
            <a:endParaRPr sz="10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latin typeface="Arial"/>
                <a:cs typeface="Arial"/>
              </a:rPr>
              <a:t>P[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found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attempts: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9016" y="1526890"/>
            <a:ext cx="11499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latin typeface="Arial"/>
                <a:cs typeface="Arial"/>
              </a:rPr>
              <a:t>P[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90" dirty="0">
                <a:latin typeface="Arial"/>
                <a:cs typeface="Arial"/>
              </a:rPr>
              <a:t> </a:t>
            </a:r>
            <a:r>
              <a:rPr sz="1350" u="sng" spc="-97" baseline="3703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i="1" u="sng" baseline="3703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350" i="1" u="sng" spc="37" baseline="3703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i="1" spc="-195" baseline="3703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160" dirty="0">
                <a:latin typeface="Apple Symbols"/>
                <a:cs typeface="Apple Symbols"/>
              </a:rPr>
              <a:t>−</a:t>
            </a:r>
            <a:r>
              <a:rPr sz="900" spc="-45" dirty="0">
                <a:latin typeface="Apple Symbols"/>
                <a:cs typeface="Apple Symbols"/>
              </a:rPr>
              <a:t> </a:t>
            </a:r>
            <a:r>
              <a:rPr sz="1350" u="sng" spc="-97" baseline="3703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50" i="1" u="sng" baseline="3703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350" i="1" u="sng" spc="37" baseline="3703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i="1" spc="-187" baseline="3703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1050" i="1" baseline="27777" dirty="0">
                <a:latin typeface="Arial"/>
                <a:cs typeface="Arial"/>
              </a:rPr>
              <a:t>k</a:t>
            </a:r>
            <a:r>
              <a:rPr sz="1050" i="1" spc="-187" baseline="27777" dirty="0">
                <a:latin typeface="Arial"/>
                <a:cs typeface="Arial"/>
              </a:rPr>
              <a:t> </a:t>
            </a:r>
            <a:r>
              <a:rPr sz="1050" spc="44" baseline="27777" dirty="0">
                <a:latin typeface="Apple Symbols"/>
                <a:cs typeface="Apple Symbols"/>
              </a:rPr>
              <a:t>−</a:t>
            </a:r>
            <a:r>
              <a:rPr sz="1050" spc="44" baseline="27777" dirty="0">
                <a:latin typeface="Arial"/>
                <a:cs typeface="Arial"/>
              </a:rPr>
              <a:t>1</a:t>
            </a:r>
            <a:r>
              <a:rPr sz="900" i="1" spc="3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1537541"/>
            <a:ext cx="3562985" cy="4337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34975" algn="ctr">
              <a:lnSpc>
                <a:spcPct val="100000"/>
              </a:lnSpc>
              <a:spcBef>
                <a:spcPts val="625"/>
              </a:spcBef>
              <a:tabLst>
                <a:tab pos="784860" algn="l"/>
              </a:tabLst>
            </a:pPr>
            <a:r>
              <a:rPr sz="900" i="1" spc="-50" dirty="0">
                <a:latin typeface="Arial"/>
                <a:cs typeface="Arial"/>
              </a:rPr>
              <a:t>N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spc="-50" dirty="0"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(“search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size”)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expected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probed: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6515" y="2300391"/>
            <a:ext cx="201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8928" y="2053744"/>
            <a:ext cx="7569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9450" algn="l"/>
              </a:tabLst>
            </a:pPr>
            <a:r>
              <a:rPr sz="700" i="1" spc="-50" dirty="0">
                <a:latin typeface="Arial"/>
                <a:cs typeface="Arial"/>
              </a:rPr>
              <a:t>N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50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798" y="2300391"/>
            <a:ext cx="2012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8710" y="2073028"/>
            <a:ext cx="11683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9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9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3589" y="2103089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u="sng" baseline="1543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350" i="1" u="sng" spc="7" baseline="1543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i="1" spc="337" baseline="15432" dirty="0">
                <a:latin typeface="Arial"/>
                <a:cs typeface="Arial"/>
              </a:rPr>
              <a:t> </a:t>
            </a: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5" dirty="0">
                <a:latin typeface="Arial"/>
                <a:cs typeface="Arial"/>
              </a:rPr>
              <a:t> </a:t>
            </a:r>
            <a:r>
              <a:rPr sz="700" spc="25" dirty="0">
                <a:latin typeface="Apple Symbols"/>
                <a:cs typeface="Apple Symbols"/>
              </a:rPr>
              <a:t>−</a:t>
            </a:r>
            <a:r>
              <a:rPr sz="700" spc="25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8230" y="2100014"/>
            <a:ext cx="3051810" cy="22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967864" algn="l"/>
              </a:tabLst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200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30" baseline="-8547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pple Symbols"/>
                <a:cs typeface="Apple Symbols"/>
              </a:rPr>
              <a:t>·</a:t>
            </a:r>
            <a:r>
              <a:rPr sz="900" spc="-175" dirty="0">
                <a:latin typeface="Apple Symbols"/>
                <a:cs typeface="Apple Symbols"/>
              </a:rPr>
              <a:t> </a:t>
            </a:r>
            <a:r>
              <a:rPr sz="900" spc="-20" dirty="0">
                <a:latin typeface="Arial"/>
                <a:cs typeface="Arial"/>
              </a:rPr>
              <a:t>P[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195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30" baseline="-8547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pple Symbols"/>
                <a:cs typeface="Apple Symbols"/>
              </a:rPr>
              <a:t>·</a:t>
            </a:r>
            <a:r>
              <a:rPr sz="900" spc="-50" dirty="0">
                <a:latin typeface="Apple Symbols"/>
                <a:cs typeface="Apple Symbols"/>
              </a:rPr>
              <a:t> </a:t>
            </a:r>
            <a:r>
              <a:rPr sz="1350" i="1" spc="-15" baseline="-37037" dirty="0">
                <a:latin typeface="Arial"/>
                <a:cs typeface="Arial"/>
              </a:rPr>
              <a:t>N</a:t>
            </a:r>
            <a:r>
              <a:rPr sz="1350" i="1" spc="-89" baseline="-3703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160" dirty="0">
                <a:latin typeface="Apple Symbols"/>
                <a:cs typeface="Apple Symbols"/>
              </a:rPr>
              <a:t>−</a:t>
            </a:r>
            <a:r>
              <a:rPr sz="900" spc="-50" dirty="0">
                <a:latin typeface="Apple Symbols"/>
                <a:cs typeface="Apple Symbols"/>
              </a:rPr>
              <a:t> </a:t>
            </a:r>
            <a:r>
              <a:rPr sz="1350" i="1" spc="-15" baseline="-37037" dirty="0">
                <a:latin typeface="Arial"/>
                <a:cs typeface="Arial"/>
              </a:rPr>
              <a:t>N</a:t>
            </a:r>
            <a:r>
              <a:rPr sz="1350" i="1" spc="-89" baseline="-37037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145" dirty="0">
                <a:latin typeface="Apple Symbols"/>
                <a:cs typeface="Apple Symbols"/>
              </a:rPr>
              <a:t>≈</a:t>
            </a:r>
            <a:r>
              <a:rPr sz="900" spc="-105" dirty="0">
                <a:latin typeface="Apple Symbols"/>
                <a:cs typeface="Apple Symbols"/>
              </a:rPr>
              <a:t> </a:t>
            </a:r>
            <a:r>
              <a:rPr sz="900" i="1" spc="80" dirty="0">
                <a:latin typeface="Arial"/>
                <a:cs typeface="Arial"/>
              </a:rPr>
              <a:t>N/r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229" dirty="0">
                <a:latin typeface="Apple Symbols"/>
                <a:cs typeface="Apple Symbols"/>
              </a:rPr>
              <a:t>≪</a:t>
            </a:r>
            <a:r>
              <a:rPr sz="900" spc="-105" dirty="0">
                <a:latin typeface="Apple Symbols"/>
                <a:cs typeface="Apple Symbols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spc="165" dirty="0">
                <a:latin typeface="Apple Symbols"/>
                <a:cs typeface="Apple Symbols"/>
              </a:rPr>
              <a:t>≤</a:t>
            </a:r>
            <a:r>
              <a:rPr sz="900" spc="-105" dirty="0">
                <a:latin typeface="Apple Symbols"/>
                <a:cs typeface="Apple Symbols"/>
              </a:rPr>
              <a:t> </a:t>
            </a:r>
            <a:r>
              <a:rPr sz="900" i="1" spc="-25" dirty="0">
                <a:latin typeface="Arial"/>
                <a:cs typeface="Arial"/>
              </a:rPr>
              <a:t>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10039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Unstructured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peer-to-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peer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Flooding</a:t>
            </a:r>
            <a:r>
              <a:rPr spc="-65" dirty="0"/>
              <a:t> </a:t>
            </a:r>
            <a:r>
              <a:rPr dirty="0"/>
              <a:t>versus</a:t>
            </a:r>
            <a:r>
              <a:rPr spc="-60" dirty="0"/>
              <a:t> </a:t>
            </a:r>
            <a:r>
              <a:rPr dirty="0"/>
              <a:t>random</a:t>
            </a:r>
            <a:r>
              <a:rPr spc="-60" dirty="0"/>
              <a:t> </a:t>
            </a:r>
            <a:r>
              <a:rPr spc="-20" dirty="0"/>
              <a:t>walk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560445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Flooding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Flood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chosen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neighbors</a:t>
            </a:r>
            <a:endParaRPr sz="900">
              <a:latin typeface="Arial"/>
              <a:cs typeface="Arial"/>
            </a:endParaRPr>
          </a:p>
          <a:p>
            <a:pPr marL="274320" marR="17780" indent="-116839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After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steps, some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pple Symbols"/>
                <a:cs typeface="Apple Symbols"/>
              </a:rPr>
              <a:t>·</a:t>
            </a:r>
            <a:r>
              <a:rPr sz="900" spc="-180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spc="160" dirty="0">
                <a:latin typeface="Apple Symbols"/>
                <a:cs typeface="Apple Symbols"/>
              </a:rPr>
              <a:t>−</a:t>
            </a:r>
            <a:r>
              <a:rPr sz="900" spc="-180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1050" i="1" baseline="27777" dirty="0">
                <a:latin typeface="Arial"/>
                <a:cs typeface="Arial"/>
              </a:rPr>
              <a:t>k</a:t>
            </a:r>
            <a:r>
              <a:rPr sz="1050" i="1" spc="-179" baseline="27777" dirty="0">
                <a:latin typeface="Arial"/>
                <a:cs typeface="Arial"/>
              </a:rPr>
              <a:t> </a:t>
            </a:r>
            <a:r>
              <a:rPr sz="1050" spc="89" baseline="27777" dirty="0">
                <a:latin typeface="Apple Symbols"/>
                <a:cs typeface="Apple Symbols"/>
              </a:rPr>
              <a:t>−</a:t>
            </a:r>
            <a:r>
              <a:rPr sz="1050" spc="89" baseline="27777" dirty="0">
                <a:latin typeface="Arial"/>
                <a:cs typeface="Arial"/>
              </a:rPr>
              <a:t>1</a:t>
            </a:r>
            <a:r>
              <a:rPr sz="1050" spc="165" baseline="2777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dirty="0">
                <a:latin typeface="Arial"/>
                <a:cs typeface="Arial"/>
              </a:rPr>
              <a:t> been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reached </a:t>
            </a:r>
            <a:r>
              <a:rPr sz="900" dirty="0">
                <a:latin typeface="Arial"/>
                <a:cs typeface="Arial"/>
              </a:rPr>
              <a:t>(assuming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small).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4018" y="1283997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748" y="1216337"/>
            <a:ext cx="3763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1493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Apple Symbols"/>
              <a:buChar char="•"/>
              <a:tabLst>
                <a:tab pos="153035" algn="l"/>
              </a:tabLst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fraction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95" dirty="0">
                <a:latin typeface="Arial"/>
                <a:cs typeface="Arial"/>
              </a:rPr>
              <a:t>r/N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1050" u="sng" spc="-89" baseline="2777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50" i="1" u="sng" baseline="2777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</a:t>
            </a:r>
            <a:r>
              <a:rPr sz="1050" i="1" u="sng" spc="7" baseline="2777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50" i="1" spc="60" baseline="27777" dirty="0">
                <a:latin typeface="Arial"/>
                <a:cs typeface="Arial"/>
              </a:rPr>
              <a:t> </a:t>
            </a:r>
            <a:r>
              <a:rPr sz="900" dirty="0">
                <a:latin typeface="Apple Symbols"/>
                <a:cs typeface="Apple Symbols"/>
              </a:rPr>
              <a:t>·</a:t>
            </a:r>
            <a:r>
              <a:rPr sz="900" spc="-180" dirty="0">
                <a:latin typeface="Apple Symbols"/>
                <a:cs typeface="Apple Symbols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114" dirty="0">
                <a:latin typeface="Apple Symbols"/>
                <a:cs typeface="Apple Symbols"/>
              </a:rPr>
              <a:t>≥</a:t>
            </a:r>
            <a:r>
              <a:rPr sz="900" spc="-105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1,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0" dirty="0">
                <a:latin typeface="Arial"/>
                <a:cs typeface="Arial"/>
              </a:rPr>
              <a:t> have found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194" y="1369435"/>
            <a:ext cx="3929379" cy="1256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item.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Comparison</a:t>
            </a:r>
            <a:endParaRPr sz="10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pple Symbols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95" dirty="0">
                <a:latin typeface="Arial"/>
                <a:cs typeface="Arial"/>
              </a:rPr>
              <a:t>r/N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dirty="0">
                <a:latin typeface="Arial"/>
                <a:cs typeface="Arial"/>
              </a:rPr>
              <a:t>001,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spc="145" dirty="0">
                <a:latin typeface="Apple Symbols"/>
                <a:cs typeface="Apple Symbols"/>
              </a:rPr>
              <a:t>≈</a:t>
            </a:r>
            <a:r>
              <a:rPr sz="900" spc="-105" dirty="0">
                <a:latin typeface="Apple Symbols"/>
                <a:cs typeface="Apple Symbols"/>
              </a:rPr>
              <a:t> </a:t>
            </a:r>
            <a:r>
              <a:rPr sz="900" spc="-20" dirty="0">
                <a:latin typeface="Arial"/>
                <a:cs typeface="Arial"/>
              </a:rPr>
              <a:t>1000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Apple Symbols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flooding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10</a:t>
            </a:r>
            <a:r>
              <a:rPr sz="900" i="1" spc="-1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4,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7290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nodes.</a:t>
            </a:r>
            <a:endParaRPr sz="900">
              <a:latin typeface="Arial"/>
              <a:cs typeface="Arial"/>
            </a:endParaRPr>
          </a:p>
          <a:p>
            <a:pPr marL="303530" marR="431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Apple Symbols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Random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walks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efficient,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might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result.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0039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Unstructured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peer-to-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peer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Super-</a:t>
            </a:r>
            <a:r>
              <a:rPr dirty="0"/>
              <a:t>peer</a:t>
            </a:r>
            <a:r>
              <a:rPr spc="-1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12235" cy="10064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sometimes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sensible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break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symmetry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peer-to-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networks:</a:t>
            </a:r>
            <a:endParaRPr sz="900">
              <a:latin typeface="Arial"/>
              <a:cs typeface="Arial"/>
            </a:endParaRPr>
          </a:p>
          <a:p>
            <a:pPr marL="278130" marR="22479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Apple Symbols"/>
              <a:buChar char="•"/>
              <a:tabLst>
                <a:tab pos="2736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unstructured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P2P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index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servers </a:t>
            </a:r>
            <a:r>
              <a:rPr sz="900" spc="-10" dirty="0">
                <a:latin typeface="Arial"/>
                <a:cs typeface="Arial"/>
              </a:rPr>
              <a:t>improves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performance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Deciding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efficiently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brokers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874" y="1645142"/>
            <a:ext cx="2585711" cy="118220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3360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Hierarchically</a:t>
            </a:r>
            <a:r>
              <a:rPr sz="500" spc="6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organized</a:t>
            </a:r>
            <a:r>
              <a:rPr sz="500" spc="6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peer-to-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peer</a:t>
            </a:r>
            <a:r>
              <a:rPr sz="500" spc="7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networks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8643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Symmetrically</a:t>
            </a:r>
            <a:r>
              <a:rPr sz="500" spc="-4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Collaboration:</a:t>
            </a:r>
            <a:r>
              <a:rPr spc="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20" dirty="0"/>
              <a:t>BitTorrent</a:t>
            </a:r>
            <a:r>
              <a:rPr spc="-40" dirty="0"/>
              <a:t> </a:t>
            </a:r>
            <a:r>
              <a:rPr spc="-20" dirty="0"/>
              <a:t>case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32860" cy="101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search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3333B2"/>
                </a:solidFill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Lookup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directory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295" dirty="0">
                <a:latin typeface="Apple Symbols"/>
                <a:cs typeface="Apple Symbols"/>
              </a:rPr>
              <a:t>⇒</a:t>
            </a:r>
            <a:r>
              <a:rPr sz="900" spc="-70" dirty="0">
                <a:latin typeface="Apple Symbols"/>
                <a:cs typeface="Apple Symbols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torrent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274955" algn="l"/>
              </a:tabLst>
            </a:pPr>
            <a:r>
              <a:rPr sz="900" spc="-20" dirty="0">
                <a:latin typeface="Arial"/>
                <a:cs typeface="Arial"/>
              </a:rPr>
              <a:t>Torrent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tracker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accurate </a:t>
            </a:r>
            <a:r>
              <a:rPr sz="900" dirty="0">
                <a:latin typeface="Arial"/>
                <a:cs typeface="Arial"/>
              </a:rPr>
              <a:t>account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active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(chunks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F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25730" indent="-120650">
              <a:lnSpc>
                <a:spcPct val="111600"/>
              </a:lnSpc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swarm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chunk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free,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chunk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swarm.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633" y="1692570"/>
            <a:ext cx="3618332" cy="108105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810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BitTorrent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645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Cloud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415" y="557889"/>
            <a:ext cx="3584783" cy="156291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5003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Cloud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0649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26840" cy="19329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Make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distinction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between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four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layers</a:t>
            </a:r>
            <a:endParaRPr sz="1000">
              <a:latin typeface="Arial"/>
              <a:cs typeface="Arial"/>
            </a:endParaRPr>
          </a:p>
          <a:p>
            <a:pPr marL="278130" marR="40640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Hardware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routers,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Customers </a:t>
            </a:r>
            <a:r>
              <a:rPr sz="900" dirty="0">
                <a:latin typeface="Arial"/>
                <a:cs typeface="Arial"/>
              </a:rPr>
              <a:t>normally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these.</a:t>
            </a:r>
            <a:endParaRPr sz="900">
              <a:latin typeface="Arial"/>
              <a:cs typeface="Arial"/>
            </a:endParaRPr>
          </a:p>
          <a:p>
            <a:pPr marL="278130" marR="24447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Infrastructure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Deploys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virtualization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techniques.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Evolves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around </a:t>
            </a:r>
            <a:r>
              <a:rPr sz="900" dirty="0">
                <a:latin typeface="Arial"/>
                <a:cs typeface="Arial"/>
              </a:rPr>
              <a:t>allocating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virtual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virtual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endParaRPr sz="900">
              <a:latin typeface="Arial"/>
              <a:cs typeface="Arial"/>
            </a:endParaRPr>
          </a:p>
          <a:p>
            <a:pPr marL="278130" marR="5397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Platform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higher-level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abstractions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such. </a:t>
            </a:r>
            <a:r>
              <a:rPr sz="900" dirty="0">
                <a:latin typeface="Arial"/>
                <a:cs typeface="Arial"/>
              </a:rPr>
              <a:t>Example: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Amazon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S3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storage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API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(locally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created)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so-</a:t>
            </a:r>
            <a:r>
              <a:rPr sz="900" dirty="0">
                <a:latin typeface="Arial"/>
                <a:cs typeface="Arial"/>
              </a:rPr>
              <a:t>called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buckets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Application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(text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processors, </a:t>
            </a:r>
            <a:r>
              <a:rPr sz="900" dirty="0">
                <a:latin typeface="Arial"/>
                <a:cs typeface="Arial"/>
              </a:rPr>
              <a:t>spreadsheet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presentation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applications).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Comparable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suite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shipped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OSes.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003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Cloud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0649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Edge-</a:t>
            </a:r>
            <a:r>
              <a:rPr dirty="0"/>
              <a:t>server</a:t>
            </a:r>
            <a:r>
              <a:rPr spc="-2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287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deployed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Internet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edge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network: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boundary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enterprise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Internet.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5050" y="1098341"/>
            <a:ext cx="3438052" cy="168304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The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edge-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cloud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0649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Reasons</a:t>
            </a:r>
            <a:r>
              <a:rPr spc="-5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dirty="0"/>
              <a:t>having</a:t>
            </a:r>
            <a:r>
              <a:rPr spc="-45" dirty="0"/>
              <a:t> </a:t>
            </a:r>
            <a:r>
              <a:rPr dirty="0"/>
              <a:t>an</a:t>
            </a:r>
            <a:r>
              <a:rPr spc="-45" dirty="0"/>
              <a:t> </a:t>
            </a:r>
            <a:r>
              <a:rPr dirty="0"/>
              <a:t>edge</a:t>
            </a:r>
            <a:r>
              <a:rPr spc="-45" dirty="0"/>
              <a:t> </a:t>
            </a:r>
            <a:r>
              <a:rPr spc="-10" dirty="0"/>
              <a:t>infrastructure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61129" cy="1883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Commonly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misconceived)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arguments</a:t>
            </a:r>
            <a:endParaRPr sz="1000">
              <a:latin typeface="Arial"/>
              <a:cs typeface="Arial"/>
            </a:endParaRPr>
          </a:p>
          <a:p>
            <a:pPr marL="278130" marR="39370" indent="-120650">
              <a:lnSpc>
                <a:spcPct val="111600"/>
              </a:lnSpc>
              <a:spcBef>
                <a:spcPts val="580"/>
              </a:spcBef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Latency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bandwidth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Especially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important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real-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spc="-10" dirty="0">
                <a:latin typeface="Arial"/>
                <a:cs typeface="Arial"/>
              </a:rPr>
              <a:t>applications,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0" dirty="0">
                <a:latin typeface="Arial"/>
                <a:cs typeface="Arial"/>
              </a:rPr>
              <a:t> augmented/virtual </a:t>
            </a:r>
            <a:r>
              <a:rPr sz="900" dirty="0">
                <a:latin typeface="Arial"/>
                <a:cs typeface="Arial"/>
              </a:rPr>
              <a:t>reality</a:t>
            </a:r>
            <a:r>
              <a:rPr sz="900" spc="-10" dirty="0">
                <a:latin typeface="Arial"/>
                <a:cs typeface="Arial"/>
              </a:rPr>
              <a:t> applications.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Many people </a:t>
            </a:r>
            <a:r>
              <a:rPr sz="900" dirty="0">
                <a:latin typeface="Arial"/>
                <a:cs typeface="Arial"/>
              </a:rPr>
              <a:t>underestimate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bandwidth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cloud.</a:t>
            </a:r>
            <a:endParaRPr sz="900">
              <a:latin typeface="Arial"/>
              <a:cs typeface="Arial"/>
            </a:endParaRPr>
          </a:p>
          <a:p>
            <a:pPr marL="274320" marR="24130" indent="-116205">
              <a:lnSpc>
                <a:spcPct val="111600"/>
              </a:lnSpc>
              <a:spcBef>
                <a:spcPts val="400"/>
              </a:spcBef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Reliability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connection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cloud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assumed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unreliable,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false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assumption.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critical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situations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extremely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connectivity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needed.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Font typeface="Apple Symbols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privacy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implicit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assumption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assets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nearby,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protected.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Practice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this </a:t>
            </a:r>
            <a:r>
              <a:rPr sz="900" dirty="0">
                <a:latin typeface="Arial"/>
                <a:cs typeface="Arial"/>
              </a:rPr>
              <a:t>assumption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false.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However,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data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cloud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trickier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edge-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cloud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0649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Edge</a:t>
            </a:r>
            <a:r>
              <a:rPr spc="-35" dirty="0"/>
              <a:t> </a:t>
            </a:r>
            <a:r>
              <a:rPr spc="-10" dirty="0"/>
              <a:t>orchestration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4304" cy="2010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Managing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resources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edge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trickier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cloud</a:t>
            </a:r>
            <a:endParaRPr sz="1000">
              <a:latin typeface="Arial"/>
              <a:cs typeface="Arial"/>
            </a:endParaRPr>
          </a:p>
          <a:p>
            <a:pPr marL="290830" marR="43688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Resource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allocation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availability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service.</a:t>
            </a:r>
            <a:endParaRPr sz="900">
              <a:latin typeface="Arial"/>
              <a:cs typeface="Arial"/>
            </a:endParaRPr>
          </a:p>
          <a:p>
            <a:pPr marL="290830" marR="33845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placement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where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service.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notably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Edge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selection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infrastructure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used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offered.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closest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3655" marR="32448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buzz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infrastructures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computing,</a:t>
            </a:r>
            <a:r>
              <a:rPr sz="900" spc="-25" dirty="0">
                <a:latin typeface="Arial"/>
                <a:cs typeface="Arial"/>
              </a:rPr>
              <a:t> yet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buzz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seen.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edge-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cloud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architecture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46350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Blockchains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working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blockchain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872" y="678636"/>
            <a:ext cx="2543330" cy="174909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46350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Blockchains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working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blockchain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872" y="678636"/>
            <a:ext cx="2543330" cy="1749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458632"/>
            <a:ext cx="3566795" cy="8324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Blocks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unforgeable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append-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chain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10" dirty="0">
                <a:latin typeface="Arial"/>
                <a:cs typeface="Arial"/>
              </a:rPr>
              <a:t> block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immutable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295" dirty="0">
                <a:latin typeface="Apple Symbols"/>
                <a:cs typeface="Apple Symbols"/>
              </a:rPr>
              <a:t>⇒</a:t>
            </a:r>
            <a:r>
              <a:rPr sz="900" spc="-60" dirty="0">
                <a:latin typeface="Apple Symbols"/>
                <a:cs typeface="Apple Symbols"/>
              </a:rPr>
              <a:t> </a:t>
            </a:r>
            <a:r>
              <a:rPr sz="900" spc="-10" dirty="0">
                <a:latin typeface="Arial"/>
                <a:cs typeface="Arial"/>
              </a:rPr>
              <a:t>massive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replication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snag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Appending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block: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consensus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1252" y="767685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547" y="2017863"/>
            <a:ext cx="387286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ahead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block.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design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goals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Appending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block: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consensus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(permissioned)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1252" y="791980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985926"/>
            <a:ext cx="3963670" cy="11385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7020" marR="102235" indent="-116205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Apple Symbols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jointly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consensus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0" dirty="0">
                <a:latin typeface="Arial"/>
                <a:cs typeface="Arial"/>
              </a:rPr>
              <a:t> validator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10" dirty="0">
                <a:latin typeface="Arial"/>
                <a:cs typeface="Arial"/>
              </a:rPr>
              <a:t> ahead.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roughly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two-thirds behave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specifications.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practice,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accommodated.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949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47782" y="-1515"/>
            <a:ext cx="8070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Hybrid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308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Appending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block: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consensus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(permisionless)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1252" y="791980"/>
            <a:ext cx="2145483" cy="11263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985926"/>
            <a:ext cx="3964304" cy="9474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0830" marR="19812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Participants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collectively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engage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leader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election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elected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validated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transactions.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Apple Symbols"/>
              <a:buChar char="•"/>
              <a:tabLst>
                <a:tab pos="291465" algn="l"/>
              </a:tabLst>
            </a:pP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robust,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secure,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trivial.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099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Blockchain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architectures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3422</Words>
  <Application>Microsoft Macintosh PowerPoint</Application>
  <PresentationFormat>Custom</PresentationFormat>
  <Paragraphs>483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Apple Symbols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Layering</vt:lpstr>
      <vt:lpstr>Application Layering</vt:lpstr>
      <vt:lpstr>PowerPoint Presentation</vt:lpstr>
      <vt:lpstr>Object-based style</vt:lpstr>
      <vt:lpstr>RESTful architectures</vt:lpstr>
      <vt:lpstr>Example: Amazon’s Simple Storage Service</vt:lpstr>
      <vt:lpstr>On interfaces</vt:lpstr>
      <vt:lpstr>On interfaces</vt:lpstr>
      <vt:lpstr>On interfaces</vt:lpstr>
      <vt:lpstr>On interfaces</vt:lpstr>
      <vt:lpstr>On interfaces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legacy to build middleware</vt:lpstr>
      <vt:lpstr>PowerPoint Presentation</vt:lpstr>
      <vt:lpstr>Developing adaptable middleware</vt:lpstr>
      <vt:lpstr>PowerPoint Presentation</vt:lpstr>
      <vt:lpstr>PowerPoint Presentation</vt:lpstr>
      <vt:lpstr>PowerPoint Presentation</vt:lpstr>
      <vt:lpstr>PowerPoint Presentation</vt:lpstr>
      <vt:lpstr>Example: The Network File System</vt:lpstr>
      <vt:lpstr>PowerPoint Presentation</vt:lpstr>
      <vt:lpstr>PowerPoint Presentation</vt:lpstr>
      <vt:lpstr>PowerPoint Presentation</vt:lpstr>
      <vt:lpstr>Alternative organizations</vt:lpstr>
      <vt:lpstr>Structured P2P</vt:lpstr>
      <vt:lpstr>Example: Chord</vt:lpstr>
      <vt:lpstr>PowerPoint Presentation</vt:lpstr>
      <vt:lpstr>Unstructured P2P</vt:lpstr>
      <vt:lpstr>Flooding versus random walk</vt:lpstr>
      <vt:lpstr>Flooding versus random walk</vt:lpstr>
      <vt:lpstr>Super-peer networks</vt:lpstr>
      <vt:lpstr>Collaboration: The BitTorrent case</vt:lpstr>
      <vt:lpstr>PowerPoint Presentation</vt:lpstr>
      <vt:lpstr>Cloud computing</vt:lpstr>
      <vt:lpstr>Edge-server architecture</vt:lpstr>
      <vt:lpstr>Reasons for having an edge infrastructure</vt:lpstr>
      <vt:lpstr>Edge orchestration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Steen, Maarten van (UT-DSI)</cp:lastModifiedBy>
  <cp:revision>2</cp:revision>
  <dcterms:created xsi:type="dcterms:W3CDTF">2023-04-27T06:02:17Z</dcterms:created>
  <dcterms:modified xsi:type="dcterms:W3CDTF">2025-06-15T19:16:31Z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